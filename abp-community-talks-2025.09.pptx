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5"/>
  </p:notesMasterIdLst>
  <p:sldIdLst>
    <p:sldId id="256" r:id="rId2"/>
    <p:sldId id="303" r:id="rId3"/>
    <p:sldId id="302" r:id="rId4"/>
    <p:sldId id="299" r:id="rId5"/>
    <p:sldId id="290" r:id="rId6"/>
    <p:sldId id="297" r:id="rId7"/>
    <p:sldId id="296" r:id="rId8"/>
    <p:sldId id="295" r:id="rId9"/>
    <p:sldId id="298" r:id="rId10"/>
    <p:sldId id="294" r:id="rId11"/>
    <p:sldId id="293" r:id="rId12"/>
    <p:sldId id="292" r:id="rId13"/>
    <p:sldId id="301" r:id="rId14"/>
    <p:sldId id="257" r:id="rId15"/>
    <p:sldId id="276" r:id="rId16"/>
    <p:sldId id="277" r:id="rId17"/>
    <p:sldId id="282" r:id="rId18"/>
    <p:sldId id="281" r:id="rId19"/>
    <p:sldId id="278" r:id="rId20"/>
    <p:sldId id="280" r:id="rId21"/>
    <p:sldId id="279" r:id="rId22"/>
    <p:sldId id="304" r:id="rId23"/>
    <p:sldId id="305" r:id="rId24"/>
  </p:sldIdLst>
  <p:sldSz cx="12192000" cy="6858000"/>
  <p:notesSz cx="6858000" cy="9144000"/>
  <p:embeddedFontLst>
    <p:embeddedFont>
      <p:font typeface="Consolas" panose="020B0609020204030204" pitchFamily="49" charset="0"/>
      <p:regular r:id="rId26"/>
      <p:bold r:id="rId27"/>
      <p:italic r:id="rId28"/>
      <p:boldItalic r:id="rId29"/>
    </p:embeddedFont>
    <p:embeddedFont>
      <p:font typeface="Lexend" panose="020B0604020202020204" charset="-94"/>
      <p:regular r:id="rId30"/>
      <p:bold r:id="rId31"/>
    </p:embeddedFont>
    <p:embeddedFont>
      <p:font typeface="Play" panose="020B0604020202020204" charset="0"/>
      <p:regular r:id="rId32"/>
      <p:bold r:id="rId33"/>
    </p:embeddedFont>
    <p:embeddedFont>
      <p:font typeface="Poppins" panose="00000500000000000000" pitchFamily="2" charset="-94"/>
      <p:regular r:id="rId34"/>
      <p:bold r:id="rId35"/>
      <p:italic r:id="rId36"/>
      <p:boldItalic r:id="rId37"/>
    </p:embeddedFont>
    <p:embeddedFont>
      <p:font typeface="Poppins Medium" panose="00000600000000000000" pitchFamily="2" charset="-94"/>
      <p:regular r:id="rId38"/>
      <p:bold r:id="rId39"/>
      <p:italic r:id="rId40"/>
      <p:boldItalic r:id="rId4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2"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3" autoAdjust="0"/>
    <p:restoredTop sz="80874" autoAdjust="0"/>
  </p:normalViewPr>
  <p:slideViewPr>
    <p:cSldViewPr snapToGrid="0">
      <p:cViewPr varScale="1">
        <p:scale>
          <a:sx n="92" d="100"/>
          <a:sy n="92" d="100"/>
        </p:scale>
        <p:origin x="1236"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openxmlformats.org/officeDocument/2006/relationships/font" Target="fonts/font14.fntdata"/><Relationship Id="rId21" Type="http://schemas.openxmlformats.org/officeDocument/2006/relationships/slide" Target="slides/slide20.xml"/><Relationship Id="rId34" Type="http://schemas.openxmlformats.org/officeDocument/2006/relationships/font" Target="fonts/font9.fntdata"/><Relationship Id="rId42"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font" Target="fonts/font12.fntdata"/><Relationship Id="rId40" Type="http://schemas.openxmlformats.org/officeDocument/2006/relationships/font" Target="fonts/font15.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font" Target="fonts/font1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font" Target="fonts/font10.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font" Target="fonts/font13.fntdata"/><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font" Target="fonts/font1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learn.microsoft.com/en-us/dotnet/api/system.io.compression.ziparchiveentry" TargetMode="External"/><Relationship Id="rId2" Type="http://schemas.openxmlformats.org/officeDocument/2006/relationships/slide" Target="../slides/slide9.xml"/><Relationship Id="rId1" Type="http://schemas.openxmlformats.org/officeDocument/2006/relationships/notesMaster" Target="../notesMasters/notesMaster1.xml"/><Relationship Id="rId4" Type="http://schemas.openxmlformats.org/officeDocument/2006/relationships/hyperlink" Target="https://learn.microsoft.com/en-us/dotnet/api/system.io.compression.ziparchive" TargetMode="Externa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learn.microsoft.com/en-us/dotnet/api/system.net.security.sslstream"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learn.microsoft.com/en-us/dotnet/api/system.net.http.httpclient"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a:t>
            </a:fld>
            <a:endParaRPr lang="tr-TR"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225775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36353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245167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30931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2700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96441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36193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200" b="0" i="0" u="none" strike="noStrike" cap="none" dirty="0" err="1">
                <a:solidFill>
                  <a:schemeClr val="dk1"/>
                </a:solidFill>
                <a:effectLst/>
                <a:latin typeface="Arial"/>
                <a:ea typeface="Arial"/>
                <a:cs typeface="Arial"/>
                <a:sym typeface="Arial"/>
                <a:hlinkClick r:id="rId3"/>
              </a:rPr>
              <a:t>ZipArchiveEntry</a:t>
            </a:r>
            <a:r>
              <a:rPr lang="en-US" sz="1200" b="0" i="0" u="none" strike="noStrike" cap="none" dirty="0">
                <a:solidFill>
                  <a:schemeClr val="dk1"/>
                </a:solidFill>
                <a:effectLst/>
                <a:latin typeface="Arial"/>
                <a:ea typeface="Arial"/>
                <a:cs typeface="Arial"/>
                <a:sym typeface="Arial"/>
              </a:rPr>
              <a:t> instances were loaded into memory and rewritten, which could lead to high memory usage and performance bottlenecks. The optimization reduces memory usage and improves performance by avoiding the need to load all entries into memory.</a:t>
            </a:r>
          </a:p>
          <a:p>
            <a:pPr marL="0" lvl="0" indent="0" algn="l" rtl="0">
              <a:lnSpc>
                <a:spcPct val="150000"/>
              </a:lnSpc>
              <a:spcBef>
                <a:spcPts val="0"/>
              </a:spcBef>
              <a:spcAft>
                <a:spcPts val="0"/>
              </a:spcAft>
              <a:buClr>
                <a:schemeClr val="dk1"/>
              </a:buClr>
              <a:buSzPts val="1100"/>
              <a:buFont typeface="Arial"/>
              <a:buNone/>
            </a:pPr>
            <a:endParaRPr lang="en-US" sz="1200" b="0" i="0" u="none" strike="noStrike" cap="none" dirty="0">
              <a:solidFill>
                <a:schemeClr val="dk1"/>
              </a:solidFill>
              <a:effectLst/>
              <a:latin typeface="Arial"/>
              <a:ea typeface="Poppins"/>
              <a:cs typeface="Arial"/>
              <a:sym typeface="Arial"/>
            </a:endParaRPr>
          </a:p>
          <a:p>
            <a:pPr marL="0" lvl="0" indent="0" algn="l" rtl="0">
              <a:lnSpc>
                <a:spcPct val="15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Second, the extraction of </a:t>
            </a:r>
            <a:r>
              <a:rPr lang="en-US" sz="1200" b="0" i="0" u="none" strike="noStrike" cap="none" dirty="0" err="1">
                <a:solidFill>
                  <a:schemeClr val="dk1"/>
                </a:solidFill>
                <a:effectLst/>
                <a:latin typeface="Arial"/>
                <a:ea typeface="Arial"/>
                <a:cs typeface="Arial"/>
                <a:sym typeface="Arial"/>
                <a:hlinkClick r:id="rId4"/>
              </a:rPr>
              <a:t>ZipArchive</a:t>
            </a:r>
            <a:r>
              <a:rPr lang="en-US" sz="1200" b="0" i="0" u="none" strike="noStrike" cap="none" dirty="0">
                <a:solidFill>
                  <a:schemeClr val="dk1"/>
                </a:solidFill>
                <a:effectLst/>
                <a:latin typeface="Arial"/>
                <a:ea typeface="Arial"/>
                <a:cs typeface="Arial"/>
                <a:sym typeface="Arial"/>
              </a:rPr>
              <a:t> entries is now parallelized, and internal data structures are optimized for better memory usage. These improvements address issues related to performance bottlenecks and high memory usage, making </a:t>
            </a:r>
            <a:r>
              <a:rPr lang="en-US" sz="1200" b="0" i="0" u="none" strike="noStrike" cap="none" dirty="0" err="1">
                <a:solidFill>
                  <a:schemeClr val="dk1"/>
                </a:solidFill>
                <a:effectLst/>
                <a:latin typeface="Arial"/>
                <a:ea typeface="Arial"/>
                <a:cs typeface="Arial"/>
                <a:sym typeface="Arial"/>
              </a:rPr>
              <a:t>ZipArchive</a:t>
            </a:r>
            <a:r>
              <a:rPr lang="en-US" sz="1200" b="0" i="0" u="none" strike="noStrike" cap="none" dirty="0">
                <a:solidFill>
                  <a:schemeClr val="dk1"/>
                </a:solidFill>
                <a:effectLst/>
                <a:latin typeface="Arial"/>
                <a:ea typeface="Arial"/>
                <a:cs typeface="Arial"/>
                <a:sym typeface="Arial"/>
              </a:rPr>
              <a:t> more efficient and faster, especially when dealing with large archives.</a:t>
            </a: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278143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tr-TR" sz="1200" b="0" i="0" u="none" strike="noStrike" cap="none" dirty="0">
                <a:solidFill>
                  <a:schemeClr val="dk1"/>
                </a:solidFill>
                <a:effectLst/>
                <a:latin typeface="Arial"/>
                <a:ea typeface="Arial"/>
                <a:cs typeface="Arial"/>
                <a:sym typeface="Arial"/>
              </a:rPr>
              <a:t>.NET 10 adds client-side TLS 1.3 support on macOS by integrating Apple's Network.framework into </a:t>
            </a:r>
            <a:r>
              <a:rPr lang="tr-TR" sz="1200" b="0" i="0" u="none" strike="noStrike" cap="none" dirty="0">
                <a:solidFill>
                  <a:schemeClr val="dk1"/>
                </a:solidFill>
                <a:effectLst/>
                <a:latin typeface="Arial"/>
                <a:ea typeface="Arial"/>
                <a:cs typeface="Arial"/>
                <a:sym typeface="Arial"/>
                <a:hlinkClick r:id="rId3"/>
              </a:rPr>
              <a:t>SslStream</a:t>
            </a:r>
            <a:r>
              <a:rPr lang="tr-TR" sz="1200" b="0" i="0" u="none" strike="noStrike" cap="none" dirty="0">
                <a:solidFill>
                  <a:schemeClr val="dk1"/>
                </a:solidFill>
                <a:effectLst/>
                <a:latin typeface="Arial"/>
                <a:ea typeface="Arial"/>
                <a:cs typeface="Arial"/>
                <a:sym typeface="Arial"/>
              </a:rPr>
              <a:t> and </a:t>
            </a:r>
            <a:r>
              <a:rPr lang="tr-TR" sz="1200" b="0" i="0" u="none" strike="noStrike" cap="none" dirty="0">
                <a:solidFill>
                  <a:schemeClr val="dk1"/>
                </a:solidFill>
                <a:effectLst/>
                <a:latin typeface="Arial"/>
                <a:ea typeface="Arial"/>
                <a:cs typeface="Arial"/>
                <a:sym typeface="Arial"/>
                <a:hlinkClick r:id="rId4"/>
              </a:rPr>
              <a:t>HttpClient</a:t>
            </a:r>
            <a:r>
              <a:rPr lang="tr-TR" sz="1200" b="0" i="0" u="none" strike="noStrike" cap="none" dirty="0">
                <a:solidFill>
                  <a:schemeClr val="dk1"/>
                </a:solidFill>
                <a:effectLst/>
                <a:latin typeface="Arial"/>
                <a:ea typeface="Arial"/>
                <a:cs typeface="Arial"/>
                <a:sym typeface="Arial"/>
              </a:rPr>
              <a:t>. Historically, macOS used Secure Transport which doesn't support TLS 1.3; opting into Network.framework enables TLS 1.3.</a:t>
            </a: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686474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52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080832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70990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0952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6308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8701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09968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5869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478035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1880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a:extLst>
            <a:ext uri="{FF2B5EF4-FFF2-40B4-BE49-F238E27FC236}">
              <a16:creationId xmlns:a16="http://schemas.microsoft.com/office/drawing/2014/main" id="{0838268A-BB53-855D-973A-26A4D33EEC9C}"/>
            </a:ext>
          </a:extLst>
        </p:cNvPr>
        <p:cNvGrpSpPr/>
        <p:nvPr/>
      </p:nvGrpSpPr>
      <p:grpSpPr>
        <a:xfrm>
          <a:off x="0" y="0"/>
          <a:ext cx="0" cy="0"/>
          <a:chOff x="0" y="0"/>
          <a:chExt cx="0" cy="0"/>
        </a:xfrm>
      </p:grpSpPr>
      <p:sp>
        <p:nvSpPr>
          <p:cNvPr id="189" name="Google Shape;189;p3:notes">
            <a:extLst>
              <a:ext uri="{FF2B5EF4-FFF2-40B4-BE49-F238E27FC236}">
                <a16:creationId xmlns:a16="http://schemas.microsoft.com/office/drawing/2014/main" id="{53CB0B84-F339-A572-AC32-F948F5BEB0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190" name="Google Shape;190;p3:notes">
            <a:extLst>
              <a:ext uri="{FF2B5EF4-FFF2-40B4-BE49-F238E27FC236}">
                <a16:creationId xmlns:a16="http://schemas.microsoft.com/office/drawing/2014/main" id="{92956906-9BF3-DF73-83D7-7CC9A39D72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39454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a:extLst>
            <a:ext uri="{FF2B5EF4-FFF2-40B4-BE49-F238E27FC236}">
              <a16:creationId xmlns:a16="http://schemas.microsoft.com/office/drawing/2014/main" id="{C30B1AE0-3B6B-B8AD-13A3-64DBFF17D42B}"/>
            </a:ext>
          </a:extLst>
        </p:cNvPr>
        <p:cNvGrpSpPr/>
        <p:nvPr/>
      </p:nvGrpSpPr>
      <p:grpSpPr>
        <a:xfrm>
          <a:off x="0" y="0"/>
          <a:ext cx="0" cy="0"/>
          <a:chOff x="0" y="0"/>
          <a:chExt cx="0" cy="0"/>
        </a:xfrm>
      </p:grpSpPr>
      <p:sp>
        <p:nvSpPr>
          <p:cNvPr id="189" name="Google Shape;189;p3:notes">
            <a:extLst>
              <a:ext uri="{FF2B5EF4-FFF2-40B4-BE49-F238E27FC236}">
                <a16:creationId xmlns:a16="http://schemas.microsoft.com/office/drawing/2014/main" id="{4FB5141B-6998-3DD8-A847-2125188CD2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190" name="Google Shape;190;p3:notes">
            <a:extLst>
              <a:ext uri="{FF2B5EF4-FFF2-40B4-BE49-F238E27FC236}">
                <a16:creationId xmlns:a16="http://schemas.microsoft.com/office/drawing/2014/main" id="{F57F01F6-AC6D-AB1B-5593-DDAF93016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84857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Slaydı" type="title">
  <p:cSld name="TITLE">
    <p:spTree>
      <p:nvGrpSpPr>
        <p:cNvPr id="1" name="Shape 15"/>
        <p:cNvGrpSpPr/>
        <p:nvPr/>
      </p:nvGrpSpPr>
      <p:grpSpPr>
        <a:xfrm>
          <a:off x="0" y="0"/>
          <a:ext cx="0" cy="0"/>
          <a:chOff x="0" y="0"/>
          <a:chExt cx="0" cy="0"/>
        </a:xfrm>
      </p:grpSpPr>
      <p:sp>
        <p:nvSpPr>
          <p:cNvPr id="16" name="Google Shape;16;p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oş" type="blank">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hyperlink" Target="https://abp.io/community/raffles" TargetMode="Externa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7"/>
        <p:cNvGrpSpPr/>
        <p:nvPr/>
      </p:nvGrpSpPr>
      <p:grpSpPr>
        <a:xfrm>
          <a:off x="0" y="0"/>
          <a:ext cx="0" cy="0"/>
          <a:chOff x="0" y="0"/>
          <a:chExt cx="0" cy="0"/>
        </a:xfrm>
      </p:grpSpPr>
      <p:grpSp>
        <p:nvGrpSpPr>
          <p:cNvPr id="6" name="Group 5">
            <a:extLst>
              <a:ext uri="{FF2B5EF4-FFF2-40B4-BE49-F238E27FC236}">
                <a16:creationId xmlns:a16="http://schemas.microsoft.com/office/drawing/2014/main" id="{9FBD3131-6722-4000-BD4E-D79704BF47BE}"/>
              </a:ext>
            </a:extLst>
          </p:cNvPr>
          <p:cNvGrpSpPr/>
          <p:nvPr/>
        </p:nvGrpSpPr>
        <p:grpSpPr>
          <a:xfrm>
            <a:off x="7644907" y="4961954"/>
            <a:ext cx="4023143" cy="1445240"/>
            <a:chOff x="7159194" y="4399338"/>
            <a:chExt cx="4023143" cy="1445240"/>
          </a:xfrm>
        </p:grpSpPr>
        <p:pic>
          <p:nvPicPr>
            <p:cNvPr id="92" name="Google Shape;92;p1"/>
            <p:cNvPicPr preferRelativeResize="0"/>
            <p:nvPr/>
          </p:nvPicPr>
          <p:blipFill rotWithShape="1">
            <a:blip r:embed="rId4">
              <a:alphaModFix/>
            </a:blip>
            <a:srcRect/>
            <a:stretch/>
          </p:blipFill>
          <p:spPr>
            <a:xfrm>
              <a:off x="7159194" y="4527732"/>
              <a:ext cx="252000" cy="252000"/>
            </a:xfrm>
            <a:prstGeom prst="rect">
              <a:avLst/>
            </a:prstGeom>
            <a:noFill/>
            <a:ln>
              <a:noFill/>
            </a:ln>
          </p:spPr>
        </p:pic>
        <p:pic>
          <p:nvPicPr>
            <p:cNvPr id="93" name="Google Shape;93;p1"/>
            <p:cNvPicPr preferRelativeResize="0"/>
            <p:nvPr/>
          </p:nvPicPr>
          <p:blipFill rotWithShape="1">
            <a:blip r:embed="rId5">
              <a:alphaModFix/>
            </a:blip>
            <a:srcRect/>
            <a:stretch/>
          </p:blipFill>
          <p:spPr>
            <a:xfrm>
              <a:off x="7159195" y="4878587"/>
              <a:ext cx="252000" cy="252000"/>
            </a:xfrm>
            <a:prstGeom prst="rect">
              <a:avLst/>
            </a:prstGeom>
            <a:noFill/>
            <a:ln>
              <a:noFill/>
            </a:ln>
          </p:spPr>
        </p:pic>
        <p:sp>
          <p:nvSpPr>
            <p:cNvPr id="94" name="Google Shape;94;p1"/>
            <p:cNvSpPr txBox="1"/>
            <p:nvPr/>
          </p:nvSpPr>
          <p:spPr>
            <a:xfrm>
              <a:off x="7440723" y="4399338"/>
              <a:ext cx="2872935" cy="369299"/>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en-US" sz="2000" b="0" i="0" u="none" strike="noStrike" cap="none" dirty="0">
                  <a:solidFill>
                    <a:srgbClr val="4E5258"/>
                  </a:solidFill>
                  <a:uFill>
                    <a:noFill/>
                  </a:uFill>
                  <a:latin typeface="Poppins"/>
                  <a:ea typeface="Poppins"/>
                  <a:cs typeface="Poppins"/>
                  <a:sym typeface="Poppins"/>
                </a:rPr>
                <a:t>x.com/</a:t>
              </a:r>
              <a:r>
                <a:rPr lang="en-US" sz="2000" i="0" u="none" strike="noStrike" cap="none" dirty="0">
                  <a:solidFill>
                    <a:srgbClr val="4E5258"/>
                  </a:solidFill>
                  <a:uFill>
                    <a:noFill/>
                  </a:uFill>
                  <a:latin typeface="Poppins"/>
                  <a:ea typeface="Poppins"/>
                  <a:cs typeface="Poppins"/>
                  <a:sym typeface="Poppins"/>
                </a:rPr>
                <a:t>alperebicoglu</a:t>
              </a:r>
              <a:r>
                <a:rPr lang="en-US" sz="2000" b="0" i="0" u="none" strike="noStrike" cap="none" dirty="0">
                  <a:solidFill>
                    <a:srgbClr val="4E5258"/>
                  </a:solidFill>
                  <a:uFill>
                    <a:noFill/>
                  </a:uFill>
                  <a:latin typeface="Poppins"/>
                  <a:ea typeface="Poppins"/>
                  <a:cs typeface="Poppins"/>
                  <a:sym typeface="Poppins"/>
                </a:rPr>
                <a:t> </a:t>
              </a:r>
              <a:endParaRPr sz="2000" b="0" i="0" u="none" strike="noStrike" cap="none" dirty="0">
                <a:solidFill>
                  <a:srgbClr val="4E5258"/>
                </a:solidFill>
                <a:latin typeface="Poppins"/>
                <a:ea typeface="Poppins"/>
                <a:cs typeface="Poppins"/>
                <a:sym typeface="Poppins"/>
              </a:endParaRPr>
            </a:p>
          </p:txBody>
        </p:sp>
        <p:sp>
          <p:nvSpPr>
            <p:cNvPr id="95" name="Google Shape;95;p1"/>
            <p:cNvSpPr txBox="1"/>
            <p:nvPr/>
          </p:nvSpPr>
          <p:spPr>
            <a:xfrm>
              <a:off x="7419133" y="4755623"/>
              <a:ext cx="3289493"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github.com/ebicoglu</a:t>
              </a:r>
              <a:endParaRPr sz="2000" b="0" i="0" u="none" strike="noStrike" cap="none" dirty="0">
                <a:solidFill>
                  <a:srgbClr val="4E5258"/>
                </a:solidFill>
                <a:latin typeface="Poppins"/>
                <a:ea typeface="Poppins"/>
                <a:cs typeface="Poppins"/>
                <a:sym typeface="Poppins"/>
              </a:endParaRPr>
            </a:p>
          </p:txBody>
        </p:sp>
        <p:sp>
          <p:nvSpPr>
            <p:cNvPr id="99" name="Google Shape;99;p1"/>
            <p:cNvSpPr txBox="1"/>
            <p:nvPr/>
          </p:nvSpPr>
          <p:spPr>
            <a:xfrm>
              <a:off x="7398018" y="5472877"/>
              <a:ext cx="3756855"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medium.com/@alperonline</a:t>
              </a:r>
              <a:endParaRPr lang="tr-TR" sz="2000" b="0" i="0" u="none" strike="noStrike" cap="none" dirty="0">
                <a:solidFill>
                  <a:srgbClr val="4E5258"/>
                </a:solidFill>
                <a:latin typeface="Poppins"/>
                <a:ea typeface="Poppins"/>
                <a:cs typeface="Poppins"/>
                <a:sym typeface="Poppins"/>
              </a:endParaRPr>
            </a:p>
          </p:txBody>
        </p:sp>
        <p:pic>
          <p:nvPicPr>
            <p:cNvPr id="3" name="Picture 2">
              <a:extLst>
                <a:ext uri="{FF2B5EF4-FFF2-40B4-BE49-F238E27FC236}">
                  <a16:creationId xmlns:a16="http://schemas.microsoft.com/office/drawing/2014/main" id="{61DF1FE2-76E6-4D08-BC9B-C789D1657FC6}"/>
                </a:ext>
              </a:extLst>
            </p:cNvPr>
            <p:cNvPicPr>
              <a:picLocks noChangeAspect="1"/>
            </p:cNvPicPr>
            <p:nvPr/>
          </p:nvPicPr>
          <p:blipFill>
            <a:blip r:embed="rId6"/>
            <a:stretch>
              <a:fillRect/>
            </a:stretch>
          </p:blipFill>
          <p:spPr>
            <a:xfrm>
              <a:off x="7164487" y="5592578"/>
              <a:ext cx="252000" cy="252000"/>
            </a:xfrm>
            <a:prstGeom prst="rect">
              <a:avLst/>
            </a:prstGeom>
          </p:spPr>
        </p:pic>
        <p:pic>
          <p:nvPicPr>
            <p:cNvPr id="5" name="Picture 4">
              <a:extLst>
                <a:ext uri="{FF2B5EF4-FFF2-40B4-BE49-F238E27FC236}">
                  <a16:creationId xmlns:a16="http://schemas.microsoft.com/office/drawing/2014/main" id="{3AE224ED-7066-4AC0-9174-2898BB38DEF5}"/>
                </a:ext>
              </a:extLst>
            </p:cNvPr>
            <p:cNvPicPr>
              <a:picLocks noChangeAspect="1"/>
            </p:cNvPicPr>
            <p:nvPr/>
          </p:nvPicPr>
          <p:blipFill>
            <a:blip r:embed="rId7"/>
            <a:stretch>
              <a:fillRect/>
            </a:stretch>
          </p:blipFill>
          <p:spPr>
            <a:xfrm>
              <a:off x="7168829" y="5223278"/>
              <a:ext cx="252000" cy="252000"/>
            </a:xfrm>
            <a:prstGeom prst="rect">
              <a:avLst/>
            </a:prstGeom>
          </p:spPr>
        </p:pic>
        <p:sp>
          <p:nvSpPr>
            <p:cNvPr id="22" name="Google Shape;99;p1">
              <a:extLst>
                <a:ext uri="{FF2B5EF4-FFF2-40B4-BE49-F238E27FC236}">
                  <a16:creationId xmlns:a16="http://schemas.microsoft.com/office/drawing/2014/main" id="{EB7EE08C-0C95-4D42-9101-734F44DEC6A3}"/>
                </a:ext>
              </a:extLst>
            </p:cNvPr>
            <p:cNvSpPr txBox="1"/>
            <p:nvPr/>
          </p:nvSpPr>
          <p:spPr>
            <a:xfrm>
              <a:off x="7425482" y="5120490"/>
              <a:ext cx="3756855"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linkedin.com/in/ebicoglu</a:t>
              </a:r>
              <a:endParaRPr lang="tr-TR" sz="2000" b="0" i="0" u="none" strike="noStrike" cap="none" dirty="0">
                <a:solidFill>
                  <a:srgbClr val="4E5258"/>
                </a:solidFill>
                <a:latin typeface="Poppins"/>
                <a:ea typeface="Poppins"/>
                <a:cs typeface="Poppins"/>
                <a:sym typeface="Poppins"/>
              </a:endParaRPr>
            </a:p>
          </p:txBody>
        </p:sp>
      </p:grpSp>
      <p:grpSp>
        <p:nvGrpSpPr>
          <p:cNvPr id="8" name="Group 7">
            <a:extLst>
              <a:ext uri="{FF2B5EF4-FFF2-40B4-BE49-F238E27FC236}">
                <a16:creationId xmlns:a16="http://schemas.microsoft.com/office/drawing/2014/main" id="{F5A0AFEC-1156-4E34-973D-28904ADE117A}"/>
              </a:ext>
            </a:extLst>
          </p:cNvPr>
          <p:cNvGrpSpPr/>
          <p:nvPr/>
        </p:nvGrpSpPr>
        <p:grpSpPr>
          <a:xfrm>
            <a:off x="560522" y="5096333"/>
            <a:ext cx="4513940" cy="1254642"/>
            <a:chOff x="738544" y="4645036"/>
            <a:chExt cx="4513940" cy="1254642"/>
          </a:xfrm>
        </p:grpSpPr>
        <p:sp>
          <p:nvSpPr>
            <p:cNvPr id="91" name="Google Shape;91;p1"/>
            <p:cNvSpPr txBox="1"/>
            <p:nvPr/>
          </p:nvSpPr>
          <p:spPr>
            <a:xfrm>
              <a:off x="2090161" y="5295536"/>
              <a:ext cx="2853979" cy="400200"/>
            </a:xfrm>
            <a:prstGeom prst="rect">
              <a:avLst/>
            </a:prstGeom>
            <a:noFill/>
            <a:ln>
              <a:noFill/>
            </a:ln>
          </p:spPr>
          <p:txBody>
            <a:bodyPr spcFirstLastPara="1" wrap="square" lIns="91425" tIns="91425" rIns="91425" bIns="91425" anchor="t" anchorCtr="0">
              <a:normAutofit fontScale="92500" lnSpcReduction="20000"/>
            </a:bodyPr>
            <a:lstStyle/>
            <a:p>
              <a:pPr marL="0" marR="0" lvl="0" indent="0" algn="l" rtl="0">
                <a:lnSpc>
                  <a:spcPct val="100000"/>
                </a:lnSpc>
                <a:spcBef>
                  <a:spcPts val="0"/>
                </a:spcBef>
                <a:spcAft>
                  <a:spcPts val="0"/>
                </a:spcAft>
                <a:buClr>
                  <a:srgbClr val="4E5258"/>
                </a:buClr>
                <a:buSzPct val="100000"/>
                <a:buFont typeface="Poppins"/>
                <a:buNone/>
              </a:pPr>
              <a:r>
                <a:rPr lang="en-US" sz="1800" dirty="0">
                  <a:solidFill>
                    <a:srgbClr val="4E5258"/>
                  </a:solidFill>
                  <a:latin typeface="Poppins"/>
                  <a:ea typeface="Poppins"/>
                  <a:cs typeface="Poppins"/>
                  <a:sym typeface="Poppins"/>
                </a:rPr>
                <a:t>Co-Founder of Volosoft</a:t>
              </a:r>
              <a:endParaRPr sz="1800" b="0" i="0" u="none" strike="noStrike" cap="none" dirty="0">
                <a:solidFill>
                  <a:srgbClr val="545C67"/>
                </a:solidFill>
                <a:latin typeface="Poppins"/>
                <a:ea typeface="Poppins"/>
                <a:cs typeface="Poppins"/>
                <a:sym typeface="Poppins"/>
              </a:endParaRPr>
            </a:p>
          </p:txBody>
        </p:sp>
        <p:grpSp>
          <p:nvGrpSpPr>
            <p:cNvPr id="7" name="Group 6">
              <a:extLst>
                <a:ext uri="{FF2B5EF4-FFF2-40B4-BE49-F238E27FC236}">
                  <a16:creationId xmlns:a16="http://schemas.microsoft.com/office/drawing/2014/main" id="{1D272CC1-748E-4B0C-87F5-83BE1252308C}"/>
                </a:ext>
              </a:extLst>
            </p:cNvPr>
            <p:cNvGrpSpPr/>
            <p:nvPr/>
          </p:nvGrpSpPr>
          <p:grpSpPr>
            <a:xfrm>
              <a:off x="738544" y="4645036"/>
              <a:ext cx="4513940" cy="1254642"/>
              <a:chOff x="738544" y="4645036"/>
              <a:chExt cx="4513940" cy="1254642"/>
            </a:xfrm>
          </p:grpSpPr>
          <p:sp>
            <p:nvSpPr>
              <p:cNvPr id="90" name="Google Shape;90;p1"/>
              <p:cNvSpPr txBox="1"/>
              <p:nvPr/>
            </p:nvSpPr>
            <p:spPr>
              <a:xfrm>
                <a:off x="2090161" y="4775609"/>
                <a:ext cx="3162323" cy="507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2800"/>
                  <a:buFont typeface="Poppins Medium"/>
                  <a:buNone/>
                </a:pPr>
                <a:r>
                  <a:rPr lang="en-US" sz="2800" b="0" i="0" u="none" strike="noStrike" cap="none" dirty="0">
                    <a:solidFill>
                      <a:srgbClr val="292D33"/>
                    </a:solidFill>
                    <a:latin typeface="Poppins Medium"/>
                    <a:ea typeface="Poppins Medium"/>
                    <a:cs typeface="Poppins Medium"/>
                    <a:sym typeface="Poppins Medium"/>
                  </a:rPr>
                  <a:t>Alper EBICOGLU</a:t>
                </a:r>
                <a:endParaRPr sz="2800" b="0" i="0" u="none" strike="noStrike" cap="none" dirty="0">
                  <a:solidFill>
                    <a:srgbClr val="292D33"/>
                  </a:solidFill>
                  <a:latin typeface="Poppins Medium"/>
                  <a:ea typeface="Poppins Medium"/>
                  <a:cs typeface="Poppins Medium"/>
                  <a:sym typeface="Poppins Medium"/>
                </a:endParaRPr>
              </a:p>
            </p:txBody>
          </p:sp>
          <p:pic>
            <p:nvPicPr>
              <p:cNvPr id="4100" name="Picture 4" descr="profile image">
                <a:extLst>
                  <a:ext uri="{FF2B5EF4-FFF2-40B4-BE49-F238E27FC236}">
                    <a16:creationId xmlns:a16="http://schemas.microsoft.com/office/drawing/2014/main" id="{C74479B8-CCFC-4F51-81AE-F238DC666CD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38544" y="4645036"/>
                <a:ext cx="1254642" cy="1254642"/>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grpSp>
      </p:grpSp>
      <p:sp>
        <p:nvSpPr>
          <p:cNvPr id="89" name="Google Shape;89;p1"/>
          <p:cNvSpPr txBox="1"/>
          <p:nvPr/>
        </p:nvSpPr>
        <p:spPr>
          <a:xfrm>
            <a:off x="0" y="1982456"/>
            <a:ext cx="12192000" cy="1966448"/>
          </a:xfrm>
          <a:prstGeom prst="rect">
            <a:avLst/>
          </a:prstGeom>
          <a:noFill/>
          <a:ln>
            <a:noFill/>
          </a:ln>
        </p:spPr>
        <p:txBody>
          <a:bodyPr spcFirstLastPara="1" wrap="square" lIns="91425" tIns="45700" rIns="91425" bIns="45700" anchor="t" anchorCtr="0">
            <a:noAutofit/>
          </a:bodyPr>
          <a:lstStyle/>
          <a:p>
            <a:pPr algn="ctr"/>
            <a:r>
              <a:rPr lang="en-US" sz="6000" b="1" i="0" dirty="0">
                <a:solidFill>
                  <a:schemeClr val="tx1"/>
                </a:solidFill>
                <a:effectLst/>
                <a:latin typeface="Lexend" panose="020B0604020202020204" charset="-94"/>
              </a:rPr>
              <a:t>What's new in the </a:t>
            </a:r>
            <a:br>
              <a:rPr lang="en-US" sz="6000" b="1" i="0" dirty="0">
                <a:solidFill>
                  <a:schemeClr val="tx1"/>
                </a:solidFill>
                <a:effectLst/>
                <a:latin typeface="Lexend" panose="020B0604020202020204" charset="-94"/>
              </a:rPr>
            </a:br>
            <a:r>
              <a:rPr lang="en-US" sz="6000" b="1" i="0" dirty="0">
                <a:solidFill>
                  <a:schemeClr val="tx1"/>
                </a:solidFill>
                <a:effectLst/>
                <a:latin typeface="Lexend" panose="020B0604020202020204" charset="-94"/>
              </a:rPr>
              <a:t>.NET 10 Runtime &amp; Libraries</a:t>
            </a:r>
          </a:p>
        </p:txBody>
      </p:sp>
      <p:pic>
        <p:nvPicPr>
          <p:cNvPr id="4" name="Picture 3">
            <a:extLst>
              <a:ext uri="{FF2B5EF4-FFF2-40B4-BE49-F238E27FC236}">
                <a16:creationId xmlns:a16="http://schemas.microsoft.com/office/drawing/2014/main" id="{BC39954E-3593-E68C-B575-B2362E0D4C64}"/>
              </a:ext>
            </a:extLst>
          </p:cNvPr>
          <p:cNvPicPr>
            <a:picLocks noChangeAspect="1"/>
          </p:cNvPicPr>
          <p:nvPr/>
        </p:nvPicPr>
        <p:blipFill>
          <a:blip r:embed="rId9"/>
          <a:stretch>
            <a:fillRect/>
          </a:stretch>
        </p:blipFill>
        <p:spPr>
          <a:xfrm>
            <a:off x="560522" y="350747"/>
            <a:ext cx="1956338" cy="524747"/>
          </a:xfrm>
          <a:prstGeom prst="rect">
            <a:avLst/>
          </a:prstGeom>
        </p:spPr>
      </p:pic>
      <p:pic>
        <p:nvPicPr>
          <p:cNvPr id="9" name="Picture 8">
            <a:extLst>
              <a:ext uri="{FF2B5EF4-FFF2-40B4-BE49-F238E27FC236}">
                <a16:creationId xmlns:a16="http://schemas.microsoft.com/office/drawing/2014/main" id="{2B8C48C0-015B-72EF-108B-F7FC0670EBF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1041" y="194542"/>
            <a:ext cx="1192449" cy="119244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D754119-32EC-4259-A719-82F82F795B8B}"/>
              </a:ext>
            </a:extLst>
          </p:cNvPr>
          <p:cNvPicPr>
            <a:picLocks noChangeAspect="1"/>
          </p:cNvPicPr>
          <p:nvPr/>
        </p:nvPicPr>
        <p:blipFill rotWithShape="1">
          <a:blip r:embed="rId3"/>
          <a:srcRect b="5932"/>
          <a:stretch/>
        </p:blipFill>
        <p:spPr>
          <a:xfrm>
            <a:off x="352425" y="509388"/>
            <a:ext cx="11353800" cy="2114550"/>
          </a:xfrm>
          <a:prstGeom prst="rect">
            <a:avLst/>
          </a:prstGeom>
          <a:ln>
            <a:noFill/>
          </a:ln>
          <a:effectLst>
            <a:softEdge rad="112500"/>
          </a:effectLst>
        </p:spPr>
      </p:pic>
      <p:pic>
        <p:nvPicPr>
          <p:cNvPr id="7" name="Picture 6">
            <a:extLst>
              <a:ext uri="{FF2B5EF4-FFF2-40B4-BE49-F238E27FC236}">
                <a16:creationId xmlns:a16="http://schemas.microsoft.com/office/drawing/2014/main" id="{0185B5DA-A6BC-4A1F-A6A8-E56F8D420DCB}"/>
              </a:ext>
            </a:extLst>
          </p:cNvPr>
          <p:cNvPicPr>
            <a:picLocks noChangeAspect="1"/>
          </p:cNvPicPr>
          <p:nvPr/>
        </p:nvPicPr>
        <p:blipFill rotWithShape="1">
          <a:blip r:embed="rId4"/>
          <a:srcRect b="8642"/>
          <a:stretch/>
        </p:blipFill>
        <p:spPr>
          <a:xfrm>
            <a:off x="352425" y="2732305"/>
            <a:ext cx="11420475" cy="2114550"/>
          </a:xfrm>
          <a:prstGeom prst="rect">
            <a:avLst/>
          </a:prstGeom>
          <a:ln>
            <a:noFill/>
          </a:ln>
          <a:effectLst>
            <a:softEdge rad="112500"/>
          </a:effectLst>
        </p:spPr>
      </p:pic>
      <p:sp>
        <p:nvSpPr>
          <p:cNvPr id="9" name="TextBox 8">
            <a:extLst>
              <a:ext uri="{FF2B5EF4-FFF2-40B4-BE49-F238E27FC236}">
                <a16:creationId xmlns:a16="http://schemas.microsoft.com/office/drawing/2014/main" id="{809026EB-03CA-4B04-93E9-7EB82AD0D3CD}"/>
              </a:ext>
            </a:extLst>
          </p:cNvPr>
          <p:cNvSpPr txBox="1"/>
          <p:nvPr/>
        </p:nvSpPr>
        <p:spPr>
          <a:xfrm>
            <a:off x="0" y="5388694"/>
            <a:ext cx="9794240" cy="461665"/>
          </a:xfrm>
          <a:prstGeom prst="rect">
            <a:avLst/>
          </a:prstGeom>
          <a:noFill/>
        </p:spPr>
        <p:txBody>
          <a:bodyPr wrap="square">
            <a:spAutoFit/>
          </a:bodyPr>
          <a:lstStyle/>
          <a:p>
            <a:pPr algn="ctr"/>
            <a:r>
              <a:rPr lang="en-US" sz="2400" dirty="0">
                <a:latin typeface="Lexend" panose="020B0604020202020204" charset="-94"/>
              </a:rPr>
              <a:t>Visit </a:t>
            </a:r>
            <a:r>
              <a:rPr lang="en-US" sz="2400" b="1" dirty="0">
                <a:latin typeface="Lexend" panose="020B0604020202020204" charset="-94"/>
                <a:hlinkClick r:id="rId5"/>
              </a:rPr>
              <a:t>abp.io/community/raffles</a:t>
            </a:r>
            <a:r>
              <a:rPr lang="en-US" sz="2400" b="1" dirty="0">
                <a:latin typeface="Lexend" panose="020B0604020202020204" charset="-94"/>
              </a:rPr>
              <a:t> </a:t>
            </a:r>
            <a:r>
              <a:rPr lang="en-US" sz="2400" dirty="0">
                <a:latin typeface="Lexend" panose="020B0604020202020204" charset="-94"/>
              </a:rPr>
              <a:t>and join the raffle for free</a:t>
            </a:r>
          </a:p>
        </p:txBody>
      </p:sp>
      <p:pic>
        <p:nvPicPr>
          <p:cNvPr id="11" name="Picture 10">
            <a:extLst>
              <a:ext uri="{FF2B5EF4-FFF2-40B4-BE49-F238E27FC236}">
                <a16:creationId xmlns:a16="http://schemas.microsoft.com/office/drawing/2014/main" id="{0DD987E7-1A8D-443C-A961-AA1658D88C02}"/>
              </a:ext>
            </a:extLst>
          </p:cNvPr>
          <p:cNvPicPr>
            <a:picLocks noChangeAspect="1"/>
          </p:cNvPicPr>
          <p:nvPr/>
        </p:nvPicPr>
        <p:blipFill>
          <a:blip r:embed="rId6"/>
          <a:stretch>
            <a:fillRect/>
          </a:stretch>
        </p:blipFill>
        <p:spPr>
          <a:xfrm>
            <a:off x="9904902" y="4955223"/>
            <a:ext cx="1801323" cy="1790272"/>
          </a:xfrm>
          <a:prstGeom prst="rect">
            <a:avLst/>
          </a:prstGeom>
        </p:spPr>
      </p:pic>
      <p:cxnSp>
        <p:nvCxnSpPr>
          <p:cNvPr id="13" name="Connector: Elbow 12">
            <a:extLst>
              <a:ext uri="{FF2B5EF4-FFF2-40B4-BE49-F238E27FC236}">
                <a16:creationId xmlns:a16="http://schemas.microsoft.com/office/drawing/2014/main" id="{D1347B6D-3AC9-4A9E-804E-015D6DBE7B41}"/>
              </a:ext>
            </a:extLst>
          </p:cNvPr>
          <p:cNvCxnSpPr>
            <a:cxnSpLocks/>
          </p:cNvCxnSpPr>
          <p:nvPr/>
        </p:nvCxnSpPr>
        <p:spPr>
          <a:xfrm>
            <a:off x="3781736" y="5801092"/>
            <a:ext cx="5577840" cy="499641"/>
          </a:xfrm>
          <a:prstGeom prst="bentConnector3">
            <a:avLst>
              <a:gd name="adj1" fmla="val 91"/>
            </a:avLst>
          </a:prstGeom>
          <a:ln w="76200">
            <a:solidFill>
              <a:srgbClr val="46788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4080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0" y="3537785"/>
            <a:ext cx="12192000" cy="83095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200"/>
              <a:buFont typeface="Arial"/>
              <a:buNone/>
            </a:pPr>
            <a:r>
              <a:rPr lang="en-US" sz="4800" b="1" dirty="0">
                <a:solidFill>
                  <a:srgbClr val="292D33"/>
                </a:solidFill>
                <a:latin typeface="Lexend"/>
                <a:ea typeface="Lexend"/>
                <a:cs typeface="Lexend"/>
                <a:sym typeface="Lexend"/>
              </a:rPr>
              <a:t>Libraries Improvements</a:t>
            </a:r>
          </a:p>
        </p:txBody>
      </p:sp>
      <p:pic>
        <p:nvPicPr>
          <p:cNvPr id="5" name="Picture 4">
            <a:extLst>
              <a:ext uri="{FF2B5EF4-FFF2-40B4-BE49-F238E27FC236}">
                <a16:creationId xmlns:a16="http://schemas.microsoft.com/office/drawing/2014/main" id="{2EA72902-365B-4283-B448-C37470AA8217}"/>
              </a:ext>
            </a:extLst>
          </p:cNvPr>
          <p:cNvPicPr>
            <a:picLocks noChangeAspect="1"/>
          </p:cNvPicPr>
          <p:nvPr/>
        </p:nvPicPr>
        <p:blipFill>
          <a:blip r:embed="rId4"/>
          <a:stretch>
            <a:fillRect/>
          </a:stretch>
        </p:blipFill>
        <p:spPr>
          <a:xfrm>
            <a:off x="4002881" y="1359654"/>
            <a:ext cx="4186238" cy="1585913"/>
          </a:xfrm>
          <a:prstGeom prst="rect">
            <a:avLst/>
          </a:prstGeom>
          <a:ln w="127000" cap="rnd">
            <a:solidFill>
              <a:srgbClr val="FFFFFF"/>
            </a:solidFill>
          </a:ln>
          <a:effectLst>
            <a:outerShdw blurRad="76200" dist="95250" dir="10500000" sx="97000" sy="23000" kx="900000" algn="br" rotWithShape="0">
              <a:srgbClr val="000000">
                <a:alpha val="20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846769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Post-Quantum Cryptography</a:t>
            </a:r>
          </a:p>
        </p:txBody>
      </p:sp>
      <p:sp>
        <p:nvSpPr>
          <p:cNvPr id="2" name="Rectangle 1">
            <a:extLst>
              <a:ext uri="{FF2B5EF4-FFF2-40B4-BE49-F238E27FC236}">
                <a16:creationId xmlns:a16="http://schemas.microsoft.com/office/drawing/2014/main" id="{A47DB823-8A26-4243-A776-96B4D426DFB8}"/>
              </a:ext>
            </a:extLst>
          </p:cNvPr>
          <p:cNvSpPr>
            <a:spLocks noChangeArrowheads="1"/>
          </p:cNvSpPr>
          <p:nvPr/>
        </p:nvSpPr>
        <p:spPr bwMode="auto">
          <a:xfrm>
            <a:off x="451488" y="2347014"/>
            <a:ext cx="10720064"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.NET 10 adds support for new quantum-resistant algorithms: </a:t>
            </a:r>
            <a:r>
              <a:rPr kumimoji="0" lang="en-US" altLang="en-US" sz="1600" b="1" i="0" u="none" strike="noStrike" cap="none" normalizeH="0" baseline="0" dirty="0">
                <a:ln>
                  <a:noFill/>
                </a:ln>
                <a:solidFill>
                  <a:schemeClr val="tx1"/>
                </a:solidFill>
                <a:effectLst/>
                <a:latin typeface="Poppins" panose="00000500000000000000" pitchFamily="2" charset="-94"/>
                <a:cs typeface="Poppins" panose="00000500000000000000" pitchFamily="2" charset="-94"/>
              </a:rPr>
              <a:t>ML-KEM, ML-DSA, SLH-DSA</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dirty="0">
                <a:solidFill>
                  <a:schemeClr val="tx1"/>
                </a:solidFill>
                <a:latin typeface="Poppins" panose="00000500000000000000" pitchFamily="2" charset="-94"/>
                <a:cs typeface="Poppins" panose="00000500000000000000" pitchFamily="2" charset="-94"/>
              </a:rPr>
              <a:t>preparing .NET apps for the next generation of cryptography.</a:t>
            </a:r>
          </a:p>
          <a:p>
            <a:pPr marL="0" marR="0" lvl="0" indent="0" algn="l" defTabSz="914400" rtl="0" eaLnBrk="0" fontAlgn="base" latinLnBrk="0" hangingPunct="0">
              <a:lnSpc>
                <a:spcPct val="100000"/>
              </a:lnSpc>
              <a:spcBef>
                <a:spcPct val="0"/>
              </a:spcBef>
              <a:spcAft>
                <a:spcPct val="0"/>
              </a:spcAft>
              <a:buClrTx/>
              <a:buSzTx/>
              <a:buFontTx/>
              <a:buNone/>
              <a:tabLst/>
            </a:pPr>
            <a:br>
              <a:rPr lang="en-US" altLang="en-US" sz="1600" dirty="0">
                <a:solidFill>
                  <a:schemeClr val="tx1"/>
                </a:solidFill>
                <a:latin typeface="Poppins" panose="00000500000000000000" pitchFamily="2" charset="-94"/>
                <a:cs typeface="Poppins" panose="00000500000000000000" pitchFamily="2" charset="-94"/>
              </a:rPr>
            </a:br>
            <a:r>
              <a:rPr lang="en-US" altLang="en-US" sz="1600" dirty="0">
                <a:solidFill>
                  <a:schemeClr val="tx1"/>
                </a:solidFill>
                <a:latin typeface="Poppins" panose="00000500000000000000" pitchFamily="2" charset="-94"/>
                <a:cs typeface="Poppins" panose="00000500000000000000" pitchFamily="2" charset="-94"/>
              </a:rPr>
              <a:t>These can be used via new </a:t>
            </a:r>
            <a:r>
              <a:rPr lang="en-US" altLang="en-US" sz="1600" i="1" dirty="0" err="1">
                <a:solidFill>
                  <a:schemeClr val="tx1"/>
                </a:solidFill>
                <a:latin typeface="Poppins" panose="00000500000000000000" pitchFamily="2" charset="-94"/>
                <a:cs typeface="Poppins" panose="00000500000000000000" pitchFamily="2" charset="-94"/>
              </a:rPr>
              <a:t>System.Security.Cryptography</a:t>
            </a:r>
            <a:r>
              <a:rPr lang="en-US" altLang="en-US" sz="1600" dirty="0">
                <a:solidFill>
                  <a:schemeClr val="tx1"/>
                </a:solidFill>
                <a:latin typeface="Poppins" panose="00000500000000000000" pitchFamily="2" charset="-94"/>
                <a:cs typeface="Poppins" panose="00000500000000000000" pitchFamily="2" charset="-94"/>
              </a:rPr>
              <a:t> types.</a:t>
            </a:r>
            <a:br>
              <a:rPr lang="en-US" altLang="en-US" sz="1600" dirty="0">
                <a:solidFill>
                  <a:schemeClr val="tx1"/>
                </a:solidFill>
                <a:latin typeface="Poppins" panose="00000500000000000000" pitchFamily="2" charset="-94"/>
                <a:cs typeface="Poppins" panose="00000500000000000000" pitchFamily="2" charset="-94"/>
              </a:rPr>
            </a:br>
            <a:r>
              <a:rPr lang="en-US" altLang="en-US" sz="1600" dirty="0">
                <a:solidFill>
                  <a:schemeClr val="tx1"/>
                </a:solidFill>
                <a:latin typeface="Poppins" panose="00000500000000000000" pitchFamily="2" charset="-94"/>
                <a:cs typeface="Poppins" panose="00000500000000000000" pitchFamily="2" charset="-94"/>
              </a:rPr>
              <a:t>These are available when the OS supports PQC (OpenSSL 3.5+ or Windows CNG).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B19F4668-4F61-4CBE-AB39-265B74442340}"/>
              </a:ext>
            </a:extLst>
          </p:cNvPr>
          <p:cNvSpPr txBox="1"/>
          <p:nvPr/>
        </p:nvSpPr>
        <p:spPr>
          <a:xfrm>
            <a:off x="638816" y="4800527"/>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Future-proof cryptography support for modern security needs.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Developers can start testing and validating PQC readiness.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Keeps .NET aligned with emerging FIPS standards.</a:t>
            </a:r>
          </a:p>
        </p:txBody>
      </p:sp>
      <p:sp>
        <p:nvSpPr>
          <p:cNvPr id="3" name="Rectangle: Rounded Corners 2">
            <a:extLst>
              <a:ext uri="{FF2B5EF4-FFF2-40B4-BE49-F238E27FC236}">
                <a16:creationId xmlns:a16="http://schemas.microsoft.com/office/drawing/2014/main" id="{A89A345E-25FC-041B-3A57-DE8B6082E4D0}"/>
              </a:ext>
            </a:extLst>
          </p:cNvPr>
          <p:cNvSpPr/>
          <p:nvPr/>
        </p:nvSpPr>
        <p:spPr>
          <a:xfrm>
            <a:off x="451488"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11892704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Numeric Ordering for String Comparison</a:t>
            </a:r>
          </a:p>
        </p:txBody>
      </p:sp>
      <p:sp>
        <p:nvSpPr>
          <p:cNvPr id="5" name="TextBox 4">
            <a:extLst>
              <a:ext uri="{FF2B5EF4-FFF2-40B4-BE49-F238E27FC236}">
                <a16:creationId xmlns:a16="http://schemas.microsoft.com/office/drawing/2014/main" id="{B19F4668-4F61-4CBE-AB39-265B74442340}"/>
              </a:ext>
            </a:extLst>
          </p:cNvPr>
          <p:cNvSpPr txBox="1"/>
          <p:nvPr/>
        </p:nvSpPr>
        <p:spPr>
          <a:xfrm>
            <a:off x="687392"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Natural ordering for strings containing numbers (e.g., version names, product codes).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Works seamlessly with </a:t>
            </a:r>
            <a:r>
              <a:rPr lang="en-US" altLang="en-US" sz="1600" i="1" dirty="0" err="1">
                <a:solidFill>
                  <a:schemeClr val="tx1"/>
                </a:solidFill>
                <a:latin typeface="Consolas" panose="020B0609020204030204" pitchFamily="49" charset="0"/>
                <a:cs typeface="Poppins" panose="00000500000000000000" pitchFamily="2" charset="-94"/>
              </a:rPr>
              <a:t>StringComparer</a:t>
            </a:r>
            <a:r>
              <a:rPr lang="en-US" altLang="en-US" sz="1600" dirty="0">
                <a:solidFill>
                  <a:schemeClr val="tx1"/>
                </a:solidFill>
                <a:latin typeface="Poppins" panose="00000500000000000000" pitchFamily="2" charset="-94"/>
                <a:cs typeface="Poppins" panose="00000500000000000000" pitchFamily="2" charset="-94"/>
              </a:rPr>
              <a:t> and </a:t>
            </a:r>
            <a:r>
              <a:rPr lang="en-US" altLang="en-US" sz="1600" i="1" dirty="0">
                <a:solidFill>
                  <a:schemeClr val="tx1"/>
                </a:solidFill>
                <a:latin typeface="Consolas" panose="020B0609020204030204" pitchFamily="49" charset="0"/>
                <a:cs typeface="Poppins" panose="00000500000000000000" pitchFamily="2" charset="-94"/>
              </a:rPr>
              <a:t>HashSet</a:t>
            </a:r>
            <a:r>
              <a:rPr lang="en-US" altLang="en-US" sz="1600" dirty="0">
                <a:solidFill>
                  <a:schemeClr val="tx1"/>
                </a:solidFill>
                <a:latin typeface="Poppins" panose="00000500000000000000" pitchFamily="2" charset="-94"/>
                <a:cs typeface="Poppins" panose="00000500000000000000" pitchFamily="2" charset="-94"/>
              </a:rPr>
              <a:t> using </a:t>
            </a:r>
            <a:r>
              <a:rPr lang="en-US" altLang="en-US" sz="1600" i="1" dirty="0" err="1">
                <a:solidFill>
                  <a:schemeClr val="tx1"/>
                </a:solidFill>
                <a:latin typeface="Consolas" panose="020B0609020204030204" pitchFamily="49" charset="0"/>
                <a:cs typeface="Poppins" panose="00000500000000000000" pitchFamily="2" charset="-94"/>
              </a:rPr>
              <a:t>CompareOptions.NumericOrdering</a:t>
            </a:r>
            <a:r>
              <a:rPr lang="en-US" altLang="en-US" sz="1600" dirty="0">
                <a:solidFill>
                  <a:schemeClr val="tx1"/>
                </a:solidFill>
                <a:latin typeface="Poppins" panose="00000500000000000000" pitchFamily="2" charset="-94"/>
                <a:cs typeface="Poppins" panose="00000500000000000000" pitchFamily="2" charset="-94"/>
              </a:rPr>
              <a:t>.</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Cleaner data sorting and filtering in apps.</a:t>
            </a:r>
          </a:p>
        </p:txBody>
      </p:sp>
      <p:sp>
        <p:nvSpPr>
          <p:cNvPr id="6" name="TextBox 5">
            <a:extLst>
              <a:ext uri="{FF2B5EF4-FFF2-40B4-BE49-F238E27FC236}">
                <a16:creationId xmlns:a16="http://schemas.microsoft.com/office/drawing/2014/main" id="{6CC06FC4-3AB5-4DF6-B2BB-9FBC739F58E5}"/>
              </a:ext>
            </a:extLst>
          </p:cNvPr>
          <p:cNvSpPr txBox="1"/>
          <p:nvPr/>
        </p:nvSpPr>
        <p:spPr>
          <a:xfrm>
            <a:off x="500064" y="2320740"/>
            <a:ext cx="11191872" cy="338554"/>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.NET 10 introduces numeric-aware string comparison.</a:t>
            </a:r>
          </a:p>
        </p:txBody>
      </p:sp>
      <p:sp>
        <p:nvSpPr>
          <p:cNvPr id="2" name="Rectangle: Rounded Corners 1">
            <a:extLst>
              <a:ext uri="{FF2B5EF4-FFF2-40B4-BE49-F238E27FC236}">
                <a16:creationId xmlns:a16="http://schemas.microsoft.com/office/drawing/2014/main" id="{1FED13F7-DB0F-0162-6A5E-CCAF2F891EDD}"/>
              </a:ext>
            </a:extLst>
          </p:cNvPr>
          <p:cNvSpPr/>
          <p:nvPr/>
        </p:nvSpPr>
        <p:spPr>
          <a:xfrm>
            <a:off x="451488"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11" name="Picture 10">
            <a:extLst>
              <a:ext uri="{FF2B5EF4-FFF2-40B4-BE49-F238E27FC236}">
                <a16:creationId xmlns:a16="http://schemas.microsoft.com/office/drawing/2014/main" id="{0A2459F2-D18C-C6EE-86E0-7F557BFA107A}"/>
              </a:ext>
            </a:extLst>
          </p:cNvPr>
          <p:cNvPicPr>
            <a:picLocks noChangeAspect="1"/>
          </p:cNvPicPr>
          <p:nvPr/>
        </p:nvPicPr>
        <p:blipFill>
          <a:blip r:embed="rId4"/>
          <a:stretch>
            <a:fillRect/>
          </a:stretch>
        </p:blipFill>
        <p:spPr>
          <a:xfrm>
            <a:off x="568963" y="2943225"/>
            <a:ext cx="9772650" cy="971550"/>
          </a:xfrm>
          <a:prstGeom prst="rect">
            <a:avLst/>
          </a:prstGeom>
        </p:spPr>
      </p:pic>
    </p:spTree>
    <p:extLst>
      <p:ext uri="{BB962C8B-B14F-4D97-AF65-F5344CB8AC3E}">
        <p14:creationId xmlns:p14="http://schemas.microsoft.com/office/powerpoint/2010/main" val="12873477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String Normalization APIs for Spans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Less memory allocation in text-heavy code.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Easier and faster normalization for streams and buffers.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Great for libraries, parsers, and Unicode handling.</a:t>
            </a:r>
          </a:p>
        </p:txBody>
      </p:sp>
      <p:sp>
        <p:nvSpPr>
          <p:cNvPr id="6" name="TextBox 5">
            <a:extLst>
              <a:ext uri="{FF2B5EF4-FFF2-40B4-BE49-F238E27FC236}">
                <a16:creationId xmlns:a16="http://schemas.microsoft.com/office/drawing/2014/main" id="{4ECEFFF8-3A99-4D32-AF29-DB828AB5DABB}"/>
              </a:ext>
            </a:extLst>
          </p:cNvPr>
          <p:cNvSpPr txBox="1"/>
          <p:nvPr/>
        </p:nvSpPr>
        <p:spPr>
          <a:xfrm>
            <a:off x="452752" y="1960752"/>
            <a:ext cx="11003280"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String normalization now works with </a:t>
            </a:r>
            <a:r>
              <a:rPr lang="en-US" sz="1600" i="1" dirty="0" err="1">
                <a:latin typeface="Consolas" panose="020B0609020204030204" pitchFamily="49" charset="0"/>
                <a:cs typeface="Poppins" panose="00000500000000000000" pitchFamily="2" charset="-94"/>
              </a:rPr>
              <a:t>ReadOnlySpan</a:t>
            </a:r>
            <a:r>
              <a:rPr lang="en-US" sz="1600" i="1" dirty="0">
                <a:latin typeface="Consolas" panose="020B0609020204030204" pitchFamily="49" charset="0"/>
                <a:cs typeface="Poppins" panose="00000500000000000000" pitchFamily="2" charset="-94"/>
              </a:rPr>
              <a:t>&lt;char&gt;</a:t>
            </a:r>
            <a:r>
              <a:rPr lang="en-US" sz="1600" dirty="0">
                <a:latin typeface="Poppins" panose="00000500000000000000" pitchFamily="2" charset="-94"/>
                <a:cs typeface="Poppins" panose="00000500000000000000" pitchFamily="2" charset="-94"/>
              </a:rPr>
              <a:t> and </a:t>
            </a:r>
            <a:r>
              <a:rPr lang="en-US" sz="1600" i="1" dirty="0">
                <a:latin typeface="Consolas" panose="020B0609020204030204" pitchFamily="49" charset="0"/>
                <a:cs typeface="Poppins" panose="00000500000000000000" pitchFamily="2" charset="-94"/>
              </a:rPr>
              <a:t>Span&lt;char&gt;. </a:t>
            </a:r>
            <a:br>
              <a:rPr lang="en-US" sz="1600" i="1" dirty="0">
                <a:latin typeface="Consolas" panose="020B0609020204030204" pitchFamily="49" charset="0"/>
                <a:cs typeface="Poppins" panose="00000500000000000000" pitchFamily="2" charset="-94"/>
              </a:rPr>
            </a:br>
            <a:r>
              <a:rPr lang="en-US" sz="1600" dirty="0">
                <a:latin typeface="Poppins" panose="00000500000000000000" pitchFamily="2" charset="-94"/>
                <a:cs typeface="Poppins" panose="00000500000000000000" pitchFamily="2" charset="-94"/>
              </a:rPr>
              <a:t>No need to create new string objects.</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This allows normalization without allocations, ideal for performance-critical or low-level text processing.</a:t>
            </a:r>
          </a:p>
        </p:txBody>
      </p:sp>
      <p:sp>
        <p:nvSpPr>
          <p:cNvPr id="2" name="Rectangle: Rounded Corners 1">
            <a:extLst>
              <a:ext uri="{FF2B5EF4-FFF2-40B4-BE49-F238E27FC236}">
                <a16:creationId xmlns:a16="http://schemas.microsoft.com/office/drawing/2014/main" id="{D8A94BAE-2732-9606-6EFB-ADC665AF3B7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1175A08B-D9E6-058E-EFD7-52733DE5DEF6}"/>
              </a:ext>
            </a:extLst>
          </p:cNvPr>
          <p:cNvPicPr>
            <a:picLocks noChangeAspect="1"/>
          </p:cNvPicPr>
          <p:nvPr/>
        </p:nvPicPr>
        <p:blipFill>
          <a:blip r:embed="rId4"/>
          <a:stretch>
            <a:fillRect/>
          </a:stretch>
        </p:blipFill>
        <p:spPr>
          <a:xfrm>
            <a:off x="548640" y="3022744"/>
            <a:ext cx="6762750" cy="1409700"/>
          </a:xfrm>
          <a:prstGeom prst="rect">
            <a:avLst/>
          </a:prstGeom>
        </p:spPr>
      </p:pic>
    </p:spTree>
    <p:extLst>
      <p:ext uri="{BB962C8B-B14F-4D97-AF65-F5344CB8AC3E}">
        <p14:creationId xmlns:p14="http://schemas.microsoft.com/office/powerpoint/2010/main" val="5561042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UTF-8 Support for Hex String Conversion</a:t>
            </a:r>
          </a:p>
        </p:txBody>
      </p:sp>
      <p:sp>
        <p:nvSpPr>
          <p:cNvPr id="5" name="TextBox 4">
            <a:extLst>
              <a:ext uri="{FF2B5EF4-FFF2-40B4-BE49-F238E27FC236}">
                <a16:creationId xmlns:a16="http://schemas.microsoft.com/office/drawing/2014/main" id="{B19F4668-4F61-4CBE-AB39-265B74442340}"/>
              </a:ext>
            </a:extLst>
          </p:cNvPr>
          <p:cNvSpPr txBox="1"/>
          <p:nvPr/>
        </p:nvSpPr>
        <p:spPr>
          <a:xfrm>
            <a:off x="744864"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Direct UTF-8 → hex conversions.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Faster serialization/deserialization.</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Useful for cryptography, networking, and binary protocols.</a:t>
            </a:r>
          </a:p>
        </p:txBody>
      </p:sp>
      <p:sp>
        <p:nvSpPr>
          <p:cNvPr id="6" name="TextBox 5">
            <a:extLst>
              <a:ext uri="{FF2B5EF4-FFF2-40B4-BE49-F238E27FC236}">
                <a16:creationId xmlns:a16="http://schemas.microsoft.com/office/drawing/2014/main" id="{1E62DBDA-DE85-42E8-B2C6-C8C5C4450EC5}"/>
              </a:ext>
            </a:extLst>
          </p:cNvPr>
          <p:cNvSpPr txBox="1"/>
          <p:nvPr/>
        </p:nvSpPr>
        <p:spPr>
          <a:xfrm>
            <a:off x="451488" y="2123276"/>
            <a:ext cx="11013440"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Convert class now supports </a:t>
            </a:r>
            <a:r>
              <a:rPr lang="en-US" sz="1600" i="1" dirty="0">
                <a:latin typeface="Consolas" panose="020B0609020204030204" pitchFamily="49" charset="0"/>
                <a:cs typeface="Poppins" panose="00000500000000000000" pitchFamily="2" charset="-94"/>
              </a:rPr>
              <a:t>UTF-8</a:t>
            </a:r>
            <a:r>
              <a:rPr lang="en-US" sz="1600" dirty="0">
                <a:latin typeface="Poppins" panose="00000500000000000000" pitchFamily="2" charset="-94"/>
                <a:cs typeface="Poppins" panose="00000500000000000000" pitchFamily="2" charset="-94"/>
              </a:rPr>
              <a:t> spans for hex conversions, eliminating intermediate string allocations when converting between </a:t>
            </a:r>
            <a:r>
              <a:rPr lang="en-US" sz="1600" i="1" dirty="0">
                <a:latin typeface="Consolas" panose="020B0609020204030204" pitchFamily="49" charset="0"/>
                <a:cs typeface="Poppins" panose="00000500000000000000" pitchFamily="2" charset="-94"/>
              </a:rPr>
              <a:t>bytes</a:t>
            </a:r>
            <a:r>
              <a:rPr lang="en-US" sz="1600" dirty="0">
                <a:latin typeface="Poppins" panose="00000500000000000000" pitchFamily="2" charset="-94"/>
                <a:cs typeface="Poppins" panose="00000500000000000000" pitchFamily="2" charset="-94"/>
              </a:rPr>
              <a:t> and </a:t>
            </a:r>
            <a:r>
              <a:rPr lang="en-US" sz="1600" i="1" dirty="0">
                <a:latin typeface="Consolas" panose="020B0609020204030204" pitchFamily="49" charset="0"/>
                <a:cs typeface="Poppins" panose="00000500000000000000" pitchFamily="2" charset="-94"/>
              </a:rPr>
              <a:t>hex</a:t>
            </a:r>
            <a:r>
              <a:rPr lang="en-US" sz="1600" dirty="0">
                <a:latin typeface="Poppins" panose="00000500000000000000" pitchFamily="2" charset="-94"/>
                <a:cs typeface="Poppins" panose="00000500000000000000" pitchFamily="2" charset="-94"/>
              </a:rPr>
              <a:t>.</a:t>
            </a:r>
          </a:p>
        </p:txBody>
      </p:sp>
      <p:sp>
        <p:nvSpPr>
          <p:cNvPr id="2" name="Rectangle: Rounded Corners 1">
            <a:extLst>
              <a:ext uri="{FF2B5EF4-FFF2-40B4-BE49-F238E27FC236}">
                <a16:creationId xmlns:a16="http://schemas.microsoft.com/office/drawing/2014/main" id="{D914435E-2931-338D-3781-6053B54A100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59D6A7B4-499F-5FD8-C629-82D08FC314A8}"/>
              </a:ext>
            </a:extLst>
          </p:cNvPr>
          <p:cNvPicPr>
            <a:picLocks noChangeAspect="1"/>
          </p:cNvPicPr>
          <p:nvPr/>
        </p:nvPicPr>
        <p:blipFill>
          <a:blip r:embed="rId4"/>
          <a:stretch>
            <a:fillRect/>
          </a:stretch>
        </p:blipFill>
        <p:spPr>
          <a:xfrm>
            <a:off x="548640" y="2941861"/>
            <a:ext cx="5686425" cy="1295400"/>
          </a:xfrm>
          <a:prstGeom prst="rect">
            <a:avLst/>
          </a:prstGeom>
        </p:spPr>
      </p:pic>
    </p:spTree>
    <p:extLst>
      <p:ext uri="{BB962C8B-B14F-4D97-AF65-F5344CB8AC3E}">
        <p14:creationId xmlns:p14="http://schemas.microsoft.com/office/powerpoint/2010/main" val="1270760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Async ZIP APIs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906692"/>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Simpler, high-level APIs for WebSocket I/O.</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Easy integration with </a:t>
            </a:r>
            <a:r>
              <a:rPr lang="en-US" altLang="en-US" sz="1600" i="1" dirty="0" err="1">
                <a:solidFill>
                  <a:schemeClr val="tx1"/>
                </a:solidFill>
                <a:latin typeface="Consolas" panose="020B0609020204030204" pitchFamily="49" charset="0"/>
                <a:cs typeface="Poppins" panose="00000500000000000000" pitchFamily="2" charset="-94"/>
              </a:rPr>
              <a:t>StreamReader</a:t>
            </a:r>
            <a:r>
              <a:rPr lang="en-US" altLang="en-US" sz="1600" dirty="0">
                <a:solidFill>
                  <a:schemeClr val="tx1"/>
                </a:solidFill>
                <a:latin typeface="Poppins" panose="00000500000000000000" pitchFamily="2" charset="-94"/>
                <a:cs typeface="Poppins" panose="00000500000000000000" pitchFamily="2" charset="-94"/>
              </a:rPr>
              <a:t>, </a:t>
            </a:r>
            <a:r>
              <a:rPr lang="en-US" altLang="en-US" sz="1600" i="1" dirty="0" err="1">
                <a:solidFill>
                  <a:schemeClr val="tx1"/>
                </a:solidFill>
                <a:latin typeface="Consolas" panose="020B0609020204030204" pitchFamily="49" charset="0"/>
                <a:cs typeface="Poppins" panose="00000500000000000000" pitchFamily="2" charset="-94"/>
              </a:rPr>
              <a:t>JsonSerializer</a:t>
            </a:r>
            <a:r>
              <a:rPr lang="en-US" altLang="en-US" sz="1600" dirty="0">
                <a:solidFill>
                  <a:schemeClr val="tx1"/>
                </a:solidFill>
                <a:latin typeface="Poppins" panose="00000500000000000000" pitchFamily="2" charset="-94"/>
                <a:cs typeface="Poppins" panose="00000500000000000000" pitchFamily="2" charset="-94"/>
              </a:rPr>
              <a:t>, and binary serializers.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Great for real-time apps, event-driven APIs, and microservices.</a:t>
            </a:r>
          </a:p>
        </p:txBody>
      </p:sp>
      <p:sp>
        <p:nvSpPr>
          <p:cNvPr id="6" name="TextBox 5">
            <a:extLst>
              <a:ext uri="{FF2B5EF4-FFF2-40B4-BE49-F238E27FC236}">
                <a16:creationId xmlns:a16="http://schemas.microsoft.com/office/drawing/2014/main" id="{D69F160A-D03E-429C-8224-5D01BBE5AB88}"/>
              </a:ext>
            </a:extLst>
          </p:cNvPr>
          <p:cNvSpPr txBox="1"/>
          <p:nvPr/>
        </p:nvSpPr>
        <p:spPr>
          <a:xfrm>
            <a:off x="451488" y="1684024"/>
            <a:ext cx="1164907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ZIP file handling now supports full </a:t>
            </a:r>
            <a:r>
              <a:rPr lang="en-US" sz="1600" i="1" dirty="0">
                <a:latin typeface="Consolas" panose="020B0609020204030204" pitchFamily="49" charset="0"/>
                <a:cs typeface="Poppins" panose="00000500000000000000" pitchFamily="2" charset="-94"/>
              </a:rPr>
              <a:t>async</a:t>
            </a:r>
            <a:r>
              <a:rPr lang="en-US" sz="1600" dirty="0">
                <a:latin typeface="Poppins" panose="00000500000000000000" pitchFamily="2" charset="-94"/>
                <a:cs typeface="Poppins" panose="00000500000000000000" pitchFamily="2" charset="-94"/>
              </a:rPr>
              <a:t> including create, extract, open and update operations.</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All new APIs follow </a:t>
            </a:r>
            <a:r>
              <a:rPr lang="en-US" sz="1600" i="1" dirty="0">
                <a:latin typeface="Consolas" panose="020B0609020204030204" pitchFamily="49" charset="0"/>
                <a:cs typeface="Poppins" panose="00000500000000000000" pitchFamily="2" charset="-94"/>
              </a:rPr>
              <a:t>async</a:t>
            </a:r>
            <a:r>
              <a:rPr lang="en-US" sz="1600" dirty="0">
                <a:latin typeface="Poppins" panose="00000500000000000000" pitchFamily="2" charset="-94"/>
                <a:cs typeface="Poppins" panose="00000500000000000000" pitchFamily="2" charset="-94"/>
              </a:rPr>
              <a:t> patterns and support </a:t>
            </a:r>
            <a:r>
              <a:rPr lang="en-US" sz="1600" i="1" dirty="0" err="1">
                <a:latin typeface="Consolas" panose="020B0609020204030204" pitchFamily="49" charset="0"/>
                <a:cs typeface="Poppins" panose="00000500000000000000" pitchFamily="2" charset="-94"/>
              </a:rPr>
              <a:t>CancellationToken</a:t>
            </a:r>
            <a:r>
              <a:rPr lang="en-US" sz="1600" dirty="0">
                <a:latin typeface="Poppins" panose="00000500000000000000" pitchFamily="2" charset="-94"/>
                <a:cs typeface="Poppins" panose="00000500000000000000" pitchFamily="2" charset="-94"/>
              </a:rPr>
              <a:t>.</a:t>
            </a:r>
          </a:p>
        </p:txBody>
      </p:sp>
      <p:sp>
        <p:nvSpPr>
          <p:cNvPr id="2" name="Rectangle: Rounded Corners 1">
            <a:extLst>
              <a:ext uri="{FF2B5EF4-FFF2-40B4-BE49-F238E27FC236}">
                <a16:creationId xmlns:a16="http://schemas.microsoft.com/office/drawing/2014/main" id="{51EE5417-8099-2C50-102C-CF3C8540D9C2}"/>
              </a:ext>
            </a:extLst>
          </p:cNvPr>
          <p:cNvSpPr/>
          <p:nvPr/>
        </p:nvSpPr>
        <p:spPr>
          <a:xfrm>
            <a:off x="548640" y="4668518"/>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F28AFC3B-1876-56E3-711F-DD52DAA27822}"/>
              </a:ext>
            </a:extLst>
          </p:cNvPr>
          <p:cNvPicPr>
            <a:picLocks noChangeAspect="1"/>
          </p:cNvPicPr>
          <p:nvPr/>
        </p:nvPicPr>
        <p:blipFill>
          <a:blip r:embed="rId4"/>
          <a:stretch>
            <a:fillRect/>
          </a:stretch>
        </p:blipFill>
        <p:spPr>
          <a:xfrm>
            <a:off x="548640" y="2316888"/>
            <a:ext cx="6299200" cy="2224223"/>
          </a:xfrm>
          <a:prstGeom prst="rect">
            <a:avLst/>
          </a:prstGeom>
        </p:spPr>
      </p:pic>
    </p:spTree>
    <p:extLst>
      <p:ext uri="{BB962C8B-B14F-4D97-AF65-F5344CB8AC3E}">
        <p14:creationId xmlns:p14="http://schemas.microsoft.com/office/powerpoint/2010/main" val="3971018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err="1">
                <a:solidFill>
                  <a:srgbClr val="292D33"/>
                </a:solidFill>
                <a:latin typeface="Lexend"/>
                <a:ea typeface="Lexend"/>
                <a:cs typeface="Lexend"/>
                <a:sym typeface="Lexend"/>
              </a:rPr>
              <a:t>ZipArchive</a:t>
            </a:r>
            <a:r>
              <a:rPr lang="en-US" sz="3400" dirty="0">
                <a:solidFill>
                  <a:srgbClr val="292D33"/>
                </a:solidFill>
                <a:latin typeface="Lexend"/>
                <a:ea typeface="Lexend"/>
                <a:cs typeface="Lexend"/>
                <a:sym typeface="Lexend"/>
              </a:rPr>
              <a:t> Performance Improvements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Better performance in file-heavy workloads.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Lower memory usage when updating or extracting archives.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Ideal for tools, installers, and packaging systems</a:t>
            </a:r>
            <a:r>
              <a:rPr lang="en-US" altLang="en-US" sz="1600" b="1" dirty="0">
                <a:solidFill>
                  <a:schemeClr val="tx1"/>
                </a:solidFill>
                <a:latin typeface="Poppins" panose="00000500000000000000" pitchFamily="2" charset="-94"/>
                <a:cs typeface="Poppins" panose="00000500000000000000" pitchFamily="2" charset="-94"/>
              </a:rPr>
              <a:t>.</a:t>
            </a:r>
          </a:p>
        </p:txBody>
      </p:sp>
      <p:sp>
        <p:nvSpPr>
          <p:cNvPr id="6" name="TextBox 5">
            <a:extLst>
              <a:ext uri="{FF2B5EF4-FFF2-40B4-BE49-F238E27FC236}">
                <a16:creationId xmlns:a16="http://schemas.microsoft.com/office/drawing/2014/main" id="{990DCCDD-AF4F-4DBB-962B-F750857838F3}"/>
              </a:ext>
            </a:extLst>
          </p:cNvPr>
          <p:cNvSpPr txBox="1"/>
          <p:nvPr/>
        </p:nvSpPr>
        <p:spPr>
          <a:xfrm>
            <a:off x="451488" y="2690336"/>
            <a:ext cx="1083627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Reading, writing and extracting </a:t>
            </a:r>
            <a:r>
              <a:rPr lang="en-US" sz="1600" b="1" dirty="0">
                <a:latin typeface="Poppins" panose="00000500000000000000" pitchFamily="2" charset="-94"/>
                <a:cs typeface="Poppins" panose="00000500000000000000" pitchFamily="2" charset="-94"/>
              </a:rPr>
              <a:t>ZIP files</a:t>
            </a:r>
            <a:r>
              <a:rPr lang="en-US" sz="1600" dirty="0">
                <a:latin typeface="Poppins" panose="00000500000000000000" pitchFamily="2" charset="-94"/>
                <a:cs typeface="Poppins" panose="00000500000000000000" pitchFamily="2" charset="-94"/>
              </a:rPr>
              <a:t> is now </a:t>
            </a:r>
            <a:r>
              <a:rPr lang="en-US" sz="1600" b="1" dirty="0">
                <a:latin typeface="Poppins" panose="00000500000000000000" pitchFamily="2" charset="-94"/>
                <a:cs typeface="Poppins" panose="00000500000000000000" pitchFamily="2" charset="-94"/>
              </a:rPr>
              <a:t>faster and more memory-efficient</a:t>
            </a:r>
            <a:r>
              <a:rPr lang="en-US" sz="1600" dirty="0">
                <a:latin typeface="Poppins" panose="00000500000000000000" pitchFamily="2" charset="-94"/>
                <a:cs typeface="Poppins" panose="00000500000000000000" pitchFamily="2" charset="-94"/>
              </a:rPr>
              <a:t>.</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Parallel extraction and reduced memory pressure significantly speed up large archive operations.</a:t>
            </a:r>
          </a:p>
        </p:txBody>
      </p:sp>
      <p:sp>
        <p:nvSpPr>
          <p:cNvPr id="2" name="Rectangle: Rounded Corners 1">
            <a:extLst>
              <a:ext uri="{FF2B5EF4-FFF2-40B4-BE49-F238E27FC236}">
                <a16:creationId xmlns:a16="http://schemas.microsoft.com/office/drawing/2014/main" id="{A1CE128D-7BC2-5BC5-8ABC-2E846AF6C71F}"/>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5544982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TLS 1.3 Support on macOS (Client)</a:t>
            </a:r>
          </a:p>
        </p:txBody>
      </p:sp>
      <p:sp>
        <p:nvSpPr>
          <p:cNvPr id="5" name="TextBox 4">
            <a:extLst>
              <a:ext uri="{FF2B5EF4-FFF2-40B4-BE49-F238E27FC236}">
                <a16:creationId xmlns:a16="http://schemas.microsoft.com/office/drawing/2014/main" id="{B19F4668-4F61-4CBE-AB39-265B74442340}"/>
              </a:ext>
            </a:extLst>
          </p:cNvPr>
          <p:cNvSpPr txBox="1"/>
          <p:nvPr/>
        </p:nvSpPr>
        <p:spPr>
          <a:xfrm>
            <a:off x="702632"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Stronger security on macOS clients.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Faster and more efficient TLS handshakes.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Aligns macOS networking with Windows and Linux TLS 1.3 support.</a:t>
            </a:r>
          </a:p>
        </p:txBody>
      </p:sp>
      <p:sp>
        <p:nvSpPr>
          <p:cNvPr id="6" name="TextBox 5">
            <a:extLst>
              <a:ext uri="{FF2B5EF4-FFF2-40B4-BE49-F238E27FC236}">
                <a16:creationId xmlns:a16="http://schemas.microsoft.com/office/drawing/2014/main" id="{E032EC61-DA49-45BB-A1C4-A1532A1CA8F9}"/>
              </a:ext>
            </a:extLst>
          </p:cNvPr>
          <p:cNvSpPr txBox="1"/>
          <p:nvPr/>
        </p:nvSpPr>
        <p:spPr>
          <a:xfrm>
            <a:off x="451488" y="2021712"/>
            <a:ext cx="11222352"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.NET 10 adds </a:t>
            </a:r>
            <a:r>
              <a:rPr lang="en-US" sz="1600" i="1" dirty="0">
                <a:latin typeface="Consolas" panose="020B0609020204030204" pitchFamily="49" charset="0"/>
                <a:cs typeface="Poppins" panose="00000500000000000000" pitchFamily="2" charset="-94"/>
              </a:rPr>
              <a:t>TLS 1.3</a:t>
            </a:r>
            <a:r>
              <a:rPr lang="en-US" sz="1600" dirty="0">
                <a:latin typeface="Poppins" panose="00000500000000000000" pitchFamily="2" charset="-94"/>
                <a:cs typeface="Poppins" panose="00000500000000000000" pitchFamily="2" charset="-94"/>
              </a:rPr>
              <a:t> for client-side networking on macOS by integrating Apple’s </a:t>
            </a:r>
            <a:r>
              <a:rPr lang="en-US" sz="1600" i="1" dirty="0" err="1">
                <a:latin typeface="Consolas" panose="020B0609020204030204" pitchFamily="49" charset="0"/>
                <a:cs typeface="Poppins" panose="00000500000000000000" pitchFamily="2" charset="-94"/>
              </a:rPr>
              <a:t>Network.framework</a:t>
            </a:r>
            <a:r>
              <a:rPr lang="en-US" sz="1600" i="1" dirty="0">
                <a:latin typeface="Consolas" panose="020B0609020204030204" pitchFamily="49" charset="0"/>
                <a:cs typeface="Poppins" panose="00000500000000000000" pitchFamily="2" charset="-94"/>
              </a:rPr>
              <a:t> </a:t>
            </a:r>
            <a:r>
              <a:rPr lang="en-US" sz="1600" dirty="0">
                <a:latin typeface="Poppins" panose="00000500000000000000" pitchFamily="2" charset="-94"/>
                <a:cs typeface="Poppins" panose="00000500000000000000" pitchFamily="2" charset="-94"/>
              </a:rPr>
              <a:t>into</a:t>
            </a:r>
            <a:r>
              <a:rPr lang="en-US" sz="1600" i="1" dirty="0">
                <a:latin typeface="Consolas" panose="020B0609020204030204" pitchFamily="49" charset="0"/>
                <a:cs typeface="Poppins" panose="00000500000000000000" pitchFamily="2" charset="-94"/>
              </a:rPr>
              <a:t> </a:t>
            </a:r>
            <a:r>
              <a:rPr lang="en-US" sz="1600" i="1" dirty="0" err="1">
                <a:latin typeface="Consolas" panose="020B0609020204030204" pitchFamily="49" charset="0"/>
                <a:cs typeface="Poppins" panose="00000500000000000000" pitchFamily="2" charset="-94"/>
              </a:rPr>
              <a:t>SslStream</a:t>
            </a:r>
            <a:r>
              <a:rPr lang="en-US" sz="1600" i="1" dirty="0">
                <a:latin typeface="Consolas" panose="020B0609020204030204" pitchFamily="49" charset="0"/>
                <a:cs typeface="Poppins" panose="00000500000000000000" pitchFamily="2" charset="-94"/>
              </a:rPr>
              <a:t> and </a:t>
            </a:r>
            <a:r>
              <a:rPr lang="en-US" sz="1600" i="1" dirty="0" err="1">
                <a:latin typeface="Consolas" panose="020B0609020204030204" pitchFamily="49" charset="0"/>
                <a:cs typeface="Poppins" panose="00000500000000000000" pitchFamily="2" charset="-94"/>
              </a:rPr>
              <a:t>HttpClient</a:t>
            </a:r>
            <a:r>
              <a:rPr lang="en-US" sz="1600" i="1" dirty="0">
                <a:latin typeface="Consolas" panose="020B0609020204030204" pitchFamily="49" charset="0"/>
                <a:cs typeface="Poppins" panose="00000500000000000000" pitchFamily="2" charset="-94"/>
              </a:rPr>
              <a:t>.</a:t>
            </a:r>
            <a:r>
              <a:rPr lang="en-US" sz="1600" dirty="0">
                <a:latin typeface="Poppins" panose="00000500000000000000" pitchFamily="2" charset="-94"/>
                <a:cs typeface="Poppins" panose="00000500000000000000" pitchFamily="2" charset="-94"/>
              </a:rPr>
              <a:t> </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Apps must opt in via code or environment variable.</a:t>
            </a:r>
          </a:p>
        </p:txBody>
      </p:sp>
      <p:sp>
        <p:nvSpPr>
          <p:cNvPr id="2" name="Rectangle: Rounded Corners 1">
            <a:extLst>
              <a:ext uri="{FF2B5EF4-FFF2-40B4-BE49-F238E27FC236}">
                <a16:creationId xmlns:a16="http://schemas.microsoft.com/office/drawing/2014/main" id="{577E6AC5-A3C7-C633-4ADB-2185950666C5}"/>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grpSp>
        <p:nvGrpSpPr>
          <p:cNvPr id="15" name="Group 14">
            <a:extLst>
              <a:ext uri="{FF2B5EF4-FFF2-40B4-BE49-F238E27FC236}">
                <a16:creationId xmlns:a16="http://schemas.microsoft.com/office/drawing/2014/main" id="{C410BB0C-ED3D-F6F0-72E3-E79A4EDEFA0C}"/>
              </a:ext>
            </a:extLst>
          </p:cNvPr>
          <p:cNvGrpSpPr/>
          <p:nvPr/>
        </p:nvGrpSpPr>
        <p:grpSpPr>
          <a:xfrm>
            <a:off x="548640" y="3162047"/>
            <a:ext cx="10788666" cy="1038225"/>
            <a:chOff x="548640" y="3034469"/>
            <a:chExt cx="10788666" cy="1038225"/>
          </a:xfrm>
        </p:grpSpPr>
        <p:pic>
          <p:nvPicPr>
            <p:cNvPr id="12" name="Picture 11">
              <a:extLst>
                <a:ext uri="{FF2B5EF4-FFF2-40B4-BE49-F238E27FC236}">
                  <a16:creationId xmlns:a16="http://schemas.microsoft.com/office/drawing/2014/main" id="{F3BF53A3-C5BF-EF63-6908-30A9E557A02A}"/>
                </a:ext>
              </a:extLst>
            </p:cNvPr>
            <p:cNvPicPr>
              <a:picLocks noChangeAspect="1"/>
            </p:cNvPicPr>
            <p:nvPr/>
          </p:nvPicPr>
          <p:blipFill>
            <a:blip r:embed="rId4"/>
            <a:stretch>
              <a:fillRect/>
            </a:stretch>
          </p:blipFill>
          <p:spPr>
            <a:xfrm>
              <a:off x="548640" y="3034469"/>
              <a:ext cx="5724525" cy="1038225"/>
            </a:xfrm>
            <a:prstGeom prst="rect">
              <a:avLst/>
            </a:prstGeom>
          </p:spPr>
        </p:pic>
        <p:pic>
          <p:nvPicPr>
            <p:cNvPr id="14" name="Picture 13">
              <a:extLst>
                <a:ext uri="{FF2B5EF4-FFF2-40B4-BE49-F238E27FC236}">
                  <a16:creationId xmlns:a16="http://schemas.microsoft.com/office/drawing/2014/main" id="{D56A6B50-1A13-0D4D-1C38-F388E1291D1A}"/>
                </a:ext>
              </a:extLst>
            </p:cNvPr>
            <p:cNvPicPr>
              <a:picLocks noChangeAspect="1"/>
            </p:cNvPicPr>
            <p:nvPr/>
          </p:nvPicPr>
          <p:blipFill>
            <a:blip r:embed="rId5"/>
            <a:stretch>
              <a:fillRect/>
            </a:stretch>
          </p:blipFill>
          <p:spPr>
            <a:xfrm>
              <a:off x="6364759" y="3034469"/>
              <a:ext cx="4972547" cy="1038224"/>
            </a:xfrm>
            <a:prstGeom prst="rect">
              <a:avLst/>
            </a:prstGeom>
          </p:spPr>
        </p:pic>
      </p:grpSp>
    </p:spTree>
    <p:extLst>
      <p:ext uri="{BB962C8B-B14F-4D97-AF65-F5344CB8AC3E}">
        <p14:creationId xmlns:p14="http://schemas.microsoft.com/office/powerpoint/2010/main" val="34163938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Diagnostics: Telemetry Schema URLs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Easier integration with </a:t>
            </a:r>
            <a:r>
              <a:rPr lang="en-US" sz="1600" i="1" dirty="0" err="1">
                <a:latin typeface="Consolas" panose="020B0609020204030204" pitchFamily="49" charset="0"/>
                <a:cs typeface="Poppins" panose="00000500000000000000" pitchFamily="2" charset="-94"/>
              </a:rPr>
              <a:t>OpenTelemetry</a:t>
            </a:r>
            <a:r>
              <a:rPr lang="en-US" altLang="en-US" sz="1600" dirty="0">
                <a:solidFill>
                  <a:schemeClr val="tx1"/>
                </a:solidFill>
                <a:latin typeface="Poppins" panose="00000500000000000000" pitchFamily="2" charset="-94"/>
                <a:cs typeface="Poppins" panose="00000500000000000000" pitchFamily="2" charset="-94"/>
              </a:rPr>
              <a:t> pipelines.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Better interoperability with observability tools (Grafana, Prometheus, etc.).</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Cleaner, schema-aware tracing in distributed systems.</a:t>
            </a:r>
          </a:p>
        </p:txBody>
      </p:sp>
      <p:sp>
        <p:nvSpPr>
          <p:cNvPr id="6" name="TextBox 5">
            <a:extLst>
              <a:ext uri="{FF2B5EF4-FFF2-40B4-BE49-F238E27FC236}">
                <a16:creationId xmlns:a16="http://schemas.microsoft.com/office/drawing/2014/main" id="{B0E6FD36-0064-4D90-B973-EF8C386FFED1}"/>
              </a:ext>
            </a:extLst>
          </p:cNvPr>
          <p:cNvSpPr txBox="1"/>
          <p:nvPr/>
        </p:nvSpPr>
        <p:spPr>
          <a:xfrm>
            <a:off x="451488" y="1963132"/>
            <a:ext cx="11090272" cy="584775"/>
          </a:xfrm>
          <a:prstGeom prst="rect">
            <a:avLst/>
          </a:prstGeom>
          <a:noFill/>
        </p:spPr>
        <p:txBody>
          <a:bodyPr wrap="square">
            <a:spAutoFit/>
          </a:bodyPr>
          <a:lstStyle/>
          <a:p>
            <a:r>
              <a:rPr lang="en-US" sz="1600" i="1" dirty="0" err="1">
                <a:latin typeface="Consolas" panose="020B0609020204030204" pitchFamily="49" charset="0"/>
                <a:cs typeface="Poppins" panose="00000500000000000000" pitchFamily="2" charset="-94"/>
              </a:rPr>
              <a:t>ActivitySource</a:t>
            </a:r>
            <a:r>
              <a:rPr lang="en-US" sz="1600" dirty="0">
                <a:latin typeface="Poppins" panose="00000500000000000000" pitchFamily="2" charset="-94"/>
                <a:cs typeface="Poppins" panose="00000500000000000000" pitchFamily="2" charset="-94"/>
              </a:rPr>
              <a:t> and </a:t>
            </a:r>
            <a:r>
              <a:rPr lang="en-US" sz="1600" i="1" dirty="0">
                <a:latin typeface="Consolas" panose="020B0609020204030204" pitchFamily="49" charset="0"/>
                <a:cs typeface="Poppins" panose="00000500000000000000" pitchFamily="2" charset="-94"/>
              </a:rPr>
              <a:t>Meter</a:t>
            </a:r>
            <a:r>
              <a:rPr lang="en-US" sz="1600" dirty="0">
                <a:latin typeface="Poppins" panose="00000500000000000000" pitchFamily="2" charset="-94"/>
                <a:cs typeface="Poppins" panose="00000500000000000000" pitchFamily="2" charset="-94"/>
              </a:rPr>
              <a:t> now support </a:t>
            </a:r>
            <a:r>
              <a:rPr lang="en-US" sz="1600" b="1" dirty="0">
                <a:latin typeface="Poppins" panose="00000500000000000000" pitchFamily="2" charset="-94"/>
                <a:cs typeface="Poppins" panose="00000500000000000000" pitchFamily="2" charset="-94"/>
              </a:rPr>
              <a:t>telemetry schema URLs</a:t>
            </a:r>
            <a:r>
              <a:rPr lang="en-US" sz="1600" dirty="0">
                <a:latin typeface="Poppins" panose="00000500000000000000" pitchFamily="2" charset="-94"/>
                <a:cs typeface="Poppins" panose="00000500000000000000" pitchFamily="2" charset="-94"/>
              </a:rPr>
              <a:t>, aligning .NET with </a:t>
            </a:r>
            <a:r>
              <a:rPr lang="en-US" sz="1600" i="1" dirty="0" err="1">
                <a:latin typeface="Consolas" panose="020B0609020204030204" pitchFamily="49" charset="0"/>
                <a:cs typeface="Poppins" panose="00000500000000000000" pitchFamily="2" charset="-94"/>
              </a:rPr>
              <a:t>OpenTelemetry</a:t>
            </a:r>
            <a:r>
              <a:rPr lang="en-US" sz="1600" dirty="0">
                <a:latin typeface="Poppins" panose="00000500000000000000" pitchFamily="2" charset="-94"/>
                <a:cs typeface="Poppins" panose="00000500000000000000" pitchFamily="2" charset="-94"/>
              </a:rPr>
              <a:t> standards for consistent metric and trace data.</a:t>
            </a:r>
          </a:p>
        </p:txBody>
      </p:sp>
      <p:sp>
        <p:nvSpPr>
          <p:cNvPr id="2" name="Rectangle: Rounded Corners 1">
            <a:extLst>
              <a:ext uri="{FF2B5EF4-FFF2-40B4-BE49-F238E27FC236}">
                <a16:creationId xmlns:a16="http://schemas.microsoft.com/office/drawing/2014/main" id="{CB6CDF9A-2803-DDCF-37D0-7C7660FC24B4}"/>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5A604520-8F5A-50C3-C4F2-86A7099CA226}"/>
              </a:ext>
            </a:extLst>
          </p:cNvPr>
          <p:cNvPicPr>
            <a:picLocks noChangeAspect="1"/>
          </p:cNvPicPr>
          <p:nvPr/>
        </p:nvPicPr>
        <p:blipFill>
          <a:blip r:embed="rId4"/>
          <a:stretch>
            <a:fillRect/>
          </a:stretch>
        </p:blipFill>
        <p:spPr>
          <a:xfrm>
            <a:off x="548640" y="2832164"/>
            <a:ext cx="3630411" cy="1414716"/>
          </a:xfrm>
          <a:prstGeom prst="rect">
            <a:avLst/>
          </a:prstGeom>
        </p:spPr>
      </p:pic>
    </p:spTree>
    <p:extLst>
      <p:ext uri="{BB962C8B-B14F-4D97-AF65-F5344CB8AC3E}">
        <p14:creationId xmlns:p14="http://schemas.microsoft.com/office/powerpoint/2010/main" val="2438013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err="1">
                <a:solidFill>
                  <a:srgbClr val="292D33"/>
                </a:solidFill>
                <a:latin typeface="Lexend"/>
                <a:ea typeface="Lexend"/>
                <a:cs typeface="Lexend"/>
                <a:sym typeface="Lexend"/>
              </a:rPr>
              <a:t>OrderedDictionary</a:t>
            </a:r>
            <a:r>
              <a:rPr lang="en-US" sz="3400" dirty="0">
                <a:solidFill>
                  <a:srgbClr val="292D33"/>
                </a:solidFill>
                <a:latin typeface="Lexend"/>
                <a:ea typeface="Lexend"/>
                <a:cs typeface="Lexend"/>
                <a:sym typeface="Lexend"/>
              </a:rPr>
              <a:t> Performance Boost</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Up to 10–20% faster JSON property updates.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More efficient dictionary operations for developers using </a:t>
            </a:r>
            <a:r>
              <a:rPr lang="en-US" altLang="en-US" sz="1600" i="1" dirty="0" err="1">
                <a:solidFill>
                  <a:schemeClr val="tx1"/>
                </a:solidFill>
                <a:latin typeface="Consolas" panose="020B0609020204030204" pitchFamily="49" charset="0"/>
                <a:cs typeface="Poppins" panose="00000500000000000000" pitchFamily="2" charset="-94"/>
              </a:rPr>
              <a:t>OrderedDictionary</a:t>
            </a:r>
            <a:r>
              <a:rPr lang="en-US" altLang="en-US" sz="1600" dirty="0">
                <a:solidFill>
                  <a:schemeClr val="tx1"/>
                </a:solidFill>
                <a:latin typeface="Poppins" panose="00000500000000000000" pitchFamily="2" charset="-94"/>
                <a:cs typeface="Poppins" panose="00000500000000000000" pitchFamily="2" charset="-94"/>
              </a:rPr>
              <a:t>.</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p:txBody>
      </p:sp>
      <p:sp>
        <p:nvSpPr>
          <p:cNvPr id="6" name="TextBox 5">
            <a:extLst>
              <a:ext uri="{FF2B5EF4-FFF2-40B4-BE49-F238E27FC236}">
                <a16:creationId xmlns:a16="http://schemas.microsoft.com/office/drawing/2014/main" id="{C76F483F-8943-4C06-997B-F490EB807F41}"/>
              </a:ext>
            </a:extLst>
          </p:cNvPr>
          <p:cNvSpPr txBox="1"/>
          <p:nvPr/>
        </p:nvSpPr>
        <p:spPr>
          <a:xfrm>
            <a:off x="451488" y="1837004"/>
            <a:ext cx="1093787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New overloads for </a:t>
            </a:r>
            <a:r>
              <a:rPr lang="en-US" sz="1600" i="1" dirty="0" err="1">
                <a:latin typeface="Consolas" panose="020B0609020204030204" pitchFamily="49" charset="0"/>
                <a:cs typeface="Poppins" panose="00000500000000000000" pitchFamily="2" charset="-94"/>
              </a:rPr>
              <a:t>TryAdd</a:t>
            </a:r>
            <a:r>
              <a:rPr lang="en-US" sz="1600" dirty="0">
                <a:latin typeface="Poppins" panose="00000500000000000000" pitchFamily="2" charset="-94"/>
                <a:cs typeface="Poppins" panose="00000500000000000000" pitchFamily="2" charset="-94"/>
              </a:rPr>
              <a:t> and </a:t>
            </a:r>
            <a:r>
              <a:rPr lang="en-US" sz="1600" i="1" dirty="0" err="1">
                <a:latin typeface="Consolas" panose="020B0609020204030204" pitchFamily="49" charset="0"/>
                <a:cs typeface="Poppins" panose="00000500000000000000" pitchFamily="2" charset="-94"/>
              </a:rPr>
              <a:t>TryGetValue</a:t>
            </a:r>
            <a:r>
              <a:rPr lang="en-US" sz="1600" dirty="0">
                <a:latin typeface="Poppins" panose="00000500000000000000" pitchFamily="2" charset="-94"/>
                <a:cs typeface="Poppins" panose="00000500000000000000" pitchFamily="2" charset="-94"/>
              </a:rPr>
              <a:t> return entry indexes, improving updates and lookups </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(also used internally by </a:t>
            </a:r>
            <a:r>
              <a:rPr lang="en-US" sz="1600" i="1" dirty="0" err="1">
                <a:latin typeface="Consolas" panose="020B0609020204030204" pitchFamily="49" charset="0"/>
                <a:cs typeface="Poppins" panose="00000500000000000000" pitchFamily="2" charset="-94"/>
              </a:rPr>
              <a:t>JsonObject</a:t>
            </a:r>
            <a:r>
              <a:rPr lang="en-US" sz="1600" dirty="0">
                <a:latin typeface="Poppins" panose="00000500000000000000" pitchFamily="2" charset="-94"/>
                <a:cs typeface="Poppins" panose="00000500000000000000" pitchFamily="2" charset="-94"/>
              </a:rPr>
              <a:t>).</a:t>
            </a:r>
          </a:p>
        </p:txBody>
      </p:sp>
      <p:sp>
        <p:nvSpPr>
          <p:cNvPr id="2" name="Rectangle: Rounded Corners 1">
            <a:extLst>
              <a:ext uri="{FF2B5EF4-FFF2-40B4-BE49-F238E27FC236}">
                <a16:creationId xmlns:a16="http://schemas.microsoft.com/office/drawing/2014/main" id="{D3413CCE-991C-4D74-A03B-1213CD7993B9}"/>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DC56676D-F52A-5B43-CDB5-27C573F6AD7D}"/>
              </a:ext>
            </a:extLst>
          </p:cNvPr>
          <p:cNvPicPr>
            <a:picLocks noChangeAspect="1"/>
          </p:cNvPicPr>
          <p:nvPr/>
        </p:nvPicPr>
        <p:blipFill>
          <a:blip r:embed="rId4"/>
          <a:stretch>
            <a:fillRect/>
          </a:stretch>
        </p:blipFill>
        <p:spPr>
          <a:xfrm>
            <a:off x="548640" y="2615327"/>
            <a:ext cx="5261862" cy="1791057"/>
          </a:xfrm>
          <a:prstGeom prst="rect">
            <a:avLst/>
          </a:prstGeom>
        </p:spPr>
      </p:pic>
    </p:spTree>
    <p:extLst>
      <p:ext uri="{BB962C8B-B14F-4D97-AF65-F5344CB8AC3E}">
        <p14:creationId xmlns:p14="http://schemas.microsoft.com/office/powerpoint/2010/main" val="457548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0" y="3429000"/>
            <a:ext cx="12192000" cy="83095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200"/>
              <a:buFont typeface="Arial"/>
              <a:buNone/>
            </a:pPr>
            <a:r>
              <a:rPr lang="en-US" sz="4800" b="1" dirty="0">
                <a:solidFill>
                  <a:srgbClr val="292D33"/>
                </a:solidFill>
                <a:latin typeface="Lexend"/>
                <a:ea typeface="Lexend"/>
                <a:cs typeface="Lexend"/>
                <a:sym typeface="Lexend"/>
              </a:rPr>
              <a:t>Runtime Improvements</a:t>
            </a:r>
          </a:p>
        </p:txBody>
      </p:sp>
      <p:pic>
        <p:nvPicPr>
          <p:cNvPr id="5" name="Picture 4">
            <a:extLst>
              <a:ext uri="{FF2B5EF4-FFF2-40B4-BE49-F238E27FC236}">
                <a16:creationId xmlns:a16="http://schemas.microsoft.com/office/drawing/2014/main" id="{2EA72902-365B-4283-B448-C37470AA8217}"/>
              </a:ext>
            </a:extLst>
          </p:cNvPr>
          <p:cNvPicPr>
            <a:picLocks noChangeAspect="1"/>
          </p:cNvPicPr>
          <p:nvPr/>
        </p:nvPicPr>
        <p:blipFill>
          <a:blip r:embed="rId4"/>
          <a:stretch>
            <a:fillRect/>
          </a:stretch>
        </p:blipFill>
        <p:spPr>
          <a:xfrm>
            <a:off x="4002881" y="1250869"/>
            <a:ext cx="4186238" cy="1585913"/>
          </a:xfrm>
          <a:prstGeom prst="rect">
            <a:avLst/>
          </a:prstGeom>
          <a:ln w="127000" cap="rnd">
            <a:solidFill>
              <a:srgbClr val="FFFFFF"/>
            </a:solidFill>
          </a:ln>
          <a:effectLst>
            <a:outerShdw blurRad="76200" dist="95250" dir="10500000" sx="97000" sy="23000" kx="900000" algn="br" rotWithShape="0">
              <a:srgbClr val="000000">
                <a:alpha val="20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346391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Faster Structs</a:t>
            </a:r>
          </a:p>
        </p:txBody>
      </p:sp>
      <p:sp>
        <p:nvSpPr>
          <p:cNvPr id="8" name="TextBox 7">
            <a:extLst>
              <a:ext uri="{FF2B5EF4-FFF2-40B4-BE49-F238E27FC236}">
                <a16:creationId xmlns:a16="http://schemas.microsoft.com/office/drawing/2014/main" id="{9A683CEC-64DF-4F44-B633-39E3FF72DFC3}"/>
              </a:ext>
            </a:extLst>
          </p:cNvPr>
          <p:cNvSpPr txBox="1"/>
          <p:nvPr/>
        </p:nvSpPr>
        <p:spPr>
          <a:xfrm>
            <a:off x="469584" y="1779398"/>
            <a:ext cx="112528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In .NET 10, the JIT compiler got smarter about how it handles structs, especially when passing them to methods. Previously, when you passed a struct, the JIT sometimes had to store the values in memory first, then load them into a CPU register before calling the method… Unnecessary memory operations!</a:t>
            </a:r>
          </a:p>
          <a:p>
            <a:r>
              <a:rPr lang="en-US" sz="1600" dirty="0">
                <a:latin typeface="Poppins" panose="00000500000000000000" pitchFamily="2" charset="-94"/>
                <a:cs typeface="Poppins" panose="00000500000000000000" pitchFamily="2" charset="-94"/>
              </a:rPr>
              <a:t>Now, the JIT can put those struct members directly into CPU registers and no temporary memory steps!</a:t>
            </a:r>
          </a:p>
          <a:p>
            <a:endParaRPr lang="en-US" sz="1600" dirty="0">
              <a:latin typeface="Poppins" panose="00000500000000000000" pitchFamily="2" charset="-94"/>
              <a:cs typeface="Poppins" panose="00000500000000000000" pitchFamily="2" charset="-94"/>
            </a:endParaRPr>
          </a:p>
        </p:txBody>
      </p:sp>
      <p:sp>
        <p:nvSpPr>
          <p:cNvPr id="10" name="TextBox 9">
            <a:extLst>
              <a:ext uri="{FF2B5EF4-FFF2-40B4-BE49-F238E27FC236}">
                <a16:creationId xmlns:a16="http://schemas.microsoft.com/office/drawing/2014/main" id="{49C804A8-E41B-47CB-BE9F-C3495B839346}"/>
              </a:ext>
            </a:extLst>
          </p:cNvPr>
          <p:cNvSpPr txBox="1"/>
          <p:nvPr/>
        </p:nvSpPr>
        <p:spPr>
          <a:xfrm>
            <a:off x="675008" y="4836288"/>
            <a:ext cx="112528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it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Less memory access → faster execution.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More efficient generated assembly.</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Small but meaningful performance gain in tight loops or high-frequency method calls.</a:t>
            </a:r>
          </a:p>
        </p:txBody>
      </p:sp>
      <p:sp>
        <p:nvSpPr>
          <p:cNvPr id="2" name="Rectangle: Rounded Corners 1">
            <a:extLst>
              <a:ext uri="{FF2B5EF4-FFF2-40B4-BE49-F238E27FC236}">
                <a16:creationId xmlns:a16="http://schemas.microsoft.com/office/drawing/2014/main" id="{81C6AD7F-C4D5-AA0F-5295-5F2F32951A79}"/>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77840DA7-4F17-1032-E8D5-F48D7A39268E}"/>
              </a:ext>
            </a:extLst>
          </p:cNvPr>
          <p:cNvPicPr>
            <a:picLocks noChangeAspect="1"/>
          </p:cNvPicPr>
          <p:nvPr/>
        </p:nvPicPr>
        <p:blipFill>
          <a:blip r:embed="rId4"/>
          <a:stretch>
            <a:fillRect/>
          </a:stretch>
        </p:blipFill>
        <p:spPr>
          <a:xfrm>
            <a:off x="548640" y="2921555"/>
            <a:ext cx="4695825" cy="15049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1684000"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Array Interface Method </a:t>
            </a:r>
            <a:r>
              <a:rPr lang="en-US" sz="3400" dirty="0" err="1">
                <a:solidFill>
                  <a:srgbClr val="292D33"/>
                </a:solidFill>
                <a:latin typeface="Lexend"/>
                <a:ea typeface="Lexend"/>
                <a:cs typeface="Lexend"/>
                <a:sym typeface="Lexend"/>
              </a:rPr>
              <a:t>Devirtualization</a:t>
            </a:r>
            <a:endParaRPr lang="en-US" sz="3400" dirty="0">
              <a:solidFill>
                <a:srgbClr val="292D33"/>
              </a:solidFill>
              <a:latin typeface="Lexend"/>
              <a:ea typeface="Lexend"/>
              <a:cs typeface="Lexend"/>
              <a:sym typeface="Lexend"/>
            </a:endParaRPr>
          </a:p>
        </p:txBody>
      </p:sp>
      <p:sp>
        <p:nvSpPr>
          <p:cNvPr id="10" name="TextBox 9">
            <a:extLst>
              <a:ext uri="{FF2B5EF4-FFF2-40B4-BE49-F238E27FC236}">
                <a16:creationId xmlns:a16="http://schemas.microsoft.com/office/drawing/2014/main" id="{49C804A8-E41B-47CB-BE9F-C3495B839346}"/>
              </a:ext>
            </a:extLst>
          </p:cNvPr>
          <p:cNvSpPr txBox="1"/>
          <p:nvPr/>
        </p:nvSpPr>
        <p:spPr>
          <a:xfrm>
            <a:off x="667072" y="4836288"/>
            <a:ext cx="7349168"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it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foreach loops on arrays are now almost as fast as for loops.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Better </a:t>
            </a:r>
            <a:r>
              <a:rPr lang="en-US" sz="1600" dirty="0" err="1">
                <a:latin typeface="Poppins" panose="00000500000000000000" pitchFamily="2" charset="-94"/>
                <a:cs typeface="Poppins" panose="00000500000000000000" pitchFamily="2" charset="-94"/>
              </a:rPr>
              <a:t>inlining</a:t>
            </a:r>
            <a:r>
              <a:rPr lang="en-US" sz="1600" dirty="0">
                <a:latin typeface="Poppins" panose="00000500000000000000" pitchFamily="2" charset="-94"/>
                <a:cs typeface="Poppins" panose="00000500000000000000" pitchFamily="2" charset="-94"/>
              </a:rPr>
              <a:t> and stack allocation.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Step toward eliminating unnecessary abstraction costs in .NET.</a:t>
            </a:r>
            <a:endParaRPr lang="en-US" sz="1600" b="1" dirty="0">
              <a:latin typeface="Poppins" panose="00000500000000000000" pitchFamily="2" charset="-94"/>
              <a:cs typeface="Poppins" panose="00000500000000000000" pitchFamily="2" charset="-94"/>
            </a:endParaRPr>
          </a:p>
        </p:txBody>
      </p:sp>
      <p:sp>
        <p:nvSpPr>
          <p:cNvPr id="13" name="TextBox 12">
            <a:extLst>
              <a:ext uri="{FF2B5EF4-FFF2-40B4-BE49-F238E27FC236}">
                <a16:creationId xmlns:a16="http://schemas.microsoft.com/office/drawing/2014/main" id="{88EE0DC0-0059-4D4F-83E0-6880B721DEA4}"/>
              </a:ext>
            </a:extLst>
          </p:cNvPr>
          <p:cNvSpPr txBox="1"/>
          <p:nvPr/>
        </p:nvSpPr>
        <p:spPr>
          <a:xfrm>
            <a:off x="451488" y="1948676"/>
            <a:ext cx="11684000" cy="2308324"/>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JIT compiler got better at removing unnecessary abstraction overhead, especially for arrays used through interfaces like </a:t>
            </a:r>
            <a:r>
              <a:rPr lang="en-US" sz="1600" i="1" dirty="0" err="1">
                <a:latin typeface="Consolas" panose="020B0609020204030204" pitchFamily="49" charset="0"/>
                <a:cs typeface="Poppins" panose="00000500000000000000" pitchFamily="2" charset="-94"/>
              </a:rPr>
              <a:t>IEnumerable</a:t>
            </a:r>
            <a:r>
              <a:rPr lang="en-US" sz="1600" i="1" dirty="0">
                <a:latin typeface="Consolas" panose="020B0609020204030204" pitchFamily="49" charset="0"/>
                <a:cs typeface="Poppins" panose="00000500000000000000" pitchFamily="2" charset="-94"/>
              </a:rPr>
              <a:t>&lt;T&gt;</a:t>
            </a:r>
            <a:r>
              <a:rPr lang="en-US" sz="1600" i="1" dirty="0">
                <a:latin typeface="Poppins" panose="00000500000000000000" pitchFamily="2" charset="-94"/>
                <a:cs typeface="Poppins" panose="00000500000000000000" pitchFamily="2" charset="-94"/>
              </a:rPr>
              <a:t>.</a:t>
            </a:r>
          </a:p>
          <a:p>
            <a:endParaRPr lang="en-US" sz="1600" dirty="0">
              <a:latin typeface="Poppins" panose="00000500000000000000" pitchFamily="2" charset="-94"/>
              <a:cs typeface="Poppins" panose="00000500000000000000" pitchFamily="2" charset="-94"/>
            </a:endParaRPr>
          </a:p>
          <a:p>
            <a:r>
              <a:rPr lang="en-US" sz="1600" dirty="0">
                <a:latin typeface="Poppins" panose="00000500000000000000" pitchFamily="2" charset="-94"/>
                <a:cs typeface="Poppins" panose="00000500000000000000" pitchFamily="2" charset="-94"/>
              </a:rPr>
              <a:t>Normally, when you loop over an array directly like </a:t>
            </a:r>
            <a:r>
              <a:rPr lang="en-US" sz="1600" i="1" dirty="0">
                <a:latin typeface="Consolas" panose="020B0609020204030204" pitchFamily="49" charset="0"/>
                <a:cs typeface="Poppins" panose="00000500000000000000" pitchFamily="2" charset="-94"/>
              </a:rPr>
              <a:t>for</a:t>
            </a:r>
            <a:r>
              <a:rPr lang="en-US" sz="1600" dirty="0">
                <a:latin typeface="Poppins" panose="00000500000000000000" pitchFamily="2" charset="-94"/>
                <a:cs typeface="Poppins" panose="00000500000000000000" pitchFamily="2" charset="-94"/>
              </a:rPr>
              <a:t>, the JIT can fully optimize it.</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But when you loop through an interface </a:t>
            </a:r>
            <a:r>
              <a:rPr lang="en-US" sz="1600" i="1" dirty="0">
                <a:latin typeface="Consolas" panose="020B0609020204030204" pitchFamily="49" charset="0"/>
                <a:cs typeface="Poppins" panose="00000500000000000000" pitchFamily="2" charset="-94"/>
              </a:rPr>
              <a:t>foreach (var x in (</a:t>
            </a:r>
            <a:r>
              <a:rPr lang="en-US" sz="1600" i="1" dirty="0" err="1">
                <a:latin typeface="Consolas" panose="020B0609020204030204" pitchFamily="49" charset="0"/>
                <a:cs typeface="Poppins" panose="00000500000000000000" pitchFamily="2" charset="-94"/>
              </a:rPr>
              <a:t>IEnumerable</a:t>
            </a:r>
            <a:r>
              <a:rPr lang="en-US" sz="1600" i="1" dirty="0">
                <a:latin typeface="Consolas" panose="020B0609020204030204" pitchFamily="49" charset="0"/>
                <a:cs typeface="Poppins" panose="00000500000000000000" pitchFamily="2" charset="-94"/>
              </a:rPr>
              <a:t>&lt;int&gt;)array)</a:t>
            </a:r>
            <a:r>
              <a:rPr lang="en-US" sz="1600" dirty="0">
                <a:latin typeface="Poppins" panose="00000500000000000000" pitchFamily="2" charset="-94"/>
                <a:cs typeface="Poppins" panose="00000500000000000000" pitchFamily="2" charset="-94"/>
              </a:rPr>
              <a:t>, those interface calls are virtual, which slows things down and blocks other optimizations like </a:t>
            </a:r>
            <a:r>
              <a:rPr lang="en-US" sz="1600" b="1" dirty="0" err="1">
                <a:latin typeface="Poppins" panose="00000500000000000000" pitchFamily="2" charset="-94"/>
                <a:cs typeface="Poppins" panose="00000500000000000000" pitchFamily="2" charset="-94"/>
              </a:rPr>
              <a:t>inlining</a:t>
            </a:r>
            <a:r>
              <a:rPr lang="en-US" sz="1600" dirty="0">
                <a:latin typeface="Poppins" panose="00000500000000000000" pitchFamily="2" charset="-94"/>
                <a:cs typeface="Poppins" panose="00000500000000000000" pitchFamily="2" charset="-94"/>
              </a:rPr>
              <a:t>.</a:t>
            </a:r>
          </a:p>
          <a:p>
            <a:endParaRPr lang="en-US" sz="1600" dirty="0">
              <a:latin typeface="Poppins" panose="00000500000000000000" pitchFamily="2" charset="-94"/>
              <a:cs typeface="Poppins" panose="00000500000000000000" pitchFamily="2" charset="-94"/>
            </a:endParaRPr>
          </a:p>
          <a:p>
            <a:r>
              <a:rPr lang="en-US" sz="1600" dirty="0">
                <a:latin typeface="Poppins" panose="00000500000000000000" pitchFamily="2" charset="-94"/>
                <a:cs typeface="Poppins" panose="00000500000000000000" pitchFamily="2" charset="-94"/>
              </a:rPr>
              <a:t>With .NET 10, the JIT can now </a:t>
            </a:r>
            <a:r>
              <a:rPr lang="en-US" sz="1600" b="1" dirty="0" err="1">
                <a:latin typeface="Poppins" panose="00000500000000000000" pitchFamily="2" charset="-94"/>
                <a:cs typeface="Poppins" panose="00000500000000000000" pitchFamily="2" charset="-94"/>
              </a:rPr>
              <a:t>devirtualize</a:t>
            </a:r>
            <a:r>
              <a:rPr lang="en-US" sz="1600" dirty="0">
                <a:latin typeface="Poppins" panose="00000500000000000000" pitchFamily="2" charset="-94"/>
                <a:cs typeface="Poppins" panose="00000500000000000000" pitchFamily="2" charset="-94"/>
              </a:rPr>
              <a:t> these array interface method calls — meaning it recognizes that it’s actually dealing with a real array and skips the virtual call overhead.</a:t>
            </a:r>
          </a:p>
        </p:txBody>
      </p:sp>
      <p:sp>
        <p:nvSpPr>
          <p:cNvPr id="2" name="Rectangle: Rounded Corners 1">
            <a:extLst>
              <a:ext uri="{FF2B5EF4-FFF2-40B4-BE49-F238E27FC236}">
                <a16:creationId xmlns:a16="http://schemas.microsoft.com/office/drawing/2014/main" id="{2C3A5AF8-BFBF-4C1C-11CF-57BDBEA43528}"/>
              </a:ext>
            </a:extLst>
          </p:cNvPr>
          <p:cNvSpPr/>
          <p:nvPr/>
        </p:nvSpPr>
        <p:spPr>
          <a:xfrm>
            <a:off x="548640" y="4602480"/>
            <a:ext cx="70104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860143A0-A8DF-2288-7ACB-85F141CFC138}"/>
              </a:ext>
            </a:extLst>
          </p:cNvPr>
          <p:cNvPicPr>
            <a:picLocks noChangeAspect="1"/>
          </p:cNvPicPr>
          <p:nvPr/>
        </p:nvPicPr>
        <p:blipFill>
          <a:blip r:embed="rId4"/>
          <a:stretch>
            <a:fillRect/>
          </a:stretch>
        </p:blipFill>
        <p:spPr>
          <a:xfrm>
            <a:off x="7842885" y="4069437"/>
            <a:ext cx="3800475" cy="2324100"/>
          </a:xfrm>
          <a:prstGeom prst="rect">
            <a:avLst/>
          </a:prstGeom>
        </p:spPr>
      </p:pic>
    </p:spTree>
    <p:extLst>
      <p:ext uri="{BB962C8B-B14F-4D97-AF65-F5344CB8AC3E}">
        <p14:creationId xmlns:p14="http://schemas.microsoft.com/office/powerpoint/2010/main" val="677971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66195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Array Enumeration De-abstraction</a:t>
            </a:r>
          </a:p>
          <a:p>
            <a:pPr marR="0" lvl="0" algn="l" rtl="0">
              <a:lnSpc>
                <a:spcPct val="100000"/>
              </a:lnSpc>
              <a:spcBef>
                <a:spcPts val="0"/>
              </a:spcBef>
              <a:spcAft>
                <a:spcPts val="0"/>
              </a:spcAft>
              <a:buClr>
                <a:srgbClr val="000000"/>
              </a:buClr>
              <a:buSzPts val="3200"/>
            </a:pPr>
            <a:endParaRPr lang="en-US" sz="3400" dirty="0">
              <a:solidFill>
                <a:srgbClr val="292D33"/>
              </a:solidFill>
              <a:latin typeface="Lexend"/>
              <a:ea typeface="Lexend"/>
              <a:cs typeface="Lexend"/>
              <a:sym typeface="Lexend"/>
            </a:endParaRPr>
          </a:p>
        </p:txBody>
      </p:sp>
      <p:sp>
        <p:nvSpPr>
          <p:cNvPr id="2" name="Rectangle 1">
            <a:extLst>
              <a:ext uri="{FF2B5EF4-FFF2-40B4-BE49-F238E27FC236}">
                <a16:creationId xmlns:a16="http://schemas.microsoft.com/office/drawing/2014/main" id="{EB5EFF4A-70B0-4984-9E05-0EDA83B74914}"/>
              </a:ext>
            </a:extLst>
          </p:cNvPr>
          <p:cNvSpPr>
            <a:spLocks noChangeArrowheads="1"/>
          </p:cNvSpPr>
          <p:nvPr/>
        </p:nvSpPr>
        <p:spPr bwMode="auto">
          <a:xfrm>
            <a:off x="701040" y="4731585"/>
            <a:ext cx="10470512" cy="1569660"/>
          </a:xfrm>
          <a:prstGeom prst="rect">
            <a:avLst/>
          </a:prstGeom>
          <a:noFill/>
        </p:spPr>
        <p:txBody>
          <a:bodyPr wrap="square">
            <a:spAutoFit/>
          </a:bodyPr>
          <a:lstStyle/>
          <a:p>
            <a:r>
              <a:rPr lang="en-US" altLang="en-US" sz="1600" b="1" dirty="0">
                <a:latin typeface="Poppins" panose="00000500000000000000" pitchFamily="2" charset="-94"/>
                <a:cs typeface="Poppins" panose="00000500000000000000" pitchFamily="2" charset="-94"/>
              </a:rPr>
              <a:t>✅ What this means:</a:t>
            </a:r>
          </a:p>
          <a:p>
            <a:endParaRPr lang="en-US" altLang="en-US" sz="1600" b="1"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foreach over arrays is now closer in performance to for loops.</a:t>
            </a: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Fewer heap allocations → less GC pressure.</a:t>
            </a: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Smoother iteration for collections and LINQ operations</a:t>
            </a:r>
          </a:p>
          <a:p>
            <a:endParaRPr lang="en-US" altLang="en-US" sz="1600" dirty="0">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E17D29F5-8023-44AF-9243-089F0653A3B2}"/>
              </a:ext>
            </a:extLst>
          </p:cNvPr>
          <p:cNvSpPr txBox="1"/>
          <p:nvPr/>
        </p:nvSpPr>
        <p:spPr>
          <a:xfrm>
            <a:off x="451488" y="2780882"/>
            <a:ext cx="10551792" cy="830997"/>
          </a:xfrm>
          <a:prstGeom prst="rect">
            <a:avLst/>
          </a:prstGeom>
          <a:noFill/>
        </p:spPr>
        <p:txBody>
          <a:bodyPr wrap="square">
            <a:spAutoFit/>
          </a:bodyPr>
          <a:lstStyle>
            <a:defPPr marR="0" lvl="0" algn="l" rtl="0">
              <a:lnSpc>
                <a:spcPct val="100000"/>
              </a:lnSpc>
              <a:spcBef>
                <a:spcPts val="0"/>
              </a:spcBef>
              <a:spcAft>
                <a:spcPts val="0"/>
              </a:spcAft>
            </a:defPPr>
            <a:lvl1pPr>
              <a:defRPr sz="1600">
                <a:latin typeface="Poppins" panose="00000500000000000000" pitchFamily="2" charset="-94"/>
                <a:cs typeface="Poppins" panose="00000500000000000000" pitchFamily="2" charset="-94"/>
              </a:defRPr>
            </a:lvl1pPr>
          </a:lstStyle>
          <a:p>
            <a:r>
              <a:rPr lang="en-US" altLang="en-US" dirty="0"/>
              <a:t>Reducing the hidden overhead in foreach loops over arrays and </a:t>
            </a:r>
            <a:r>
              <a:rPr lang="en-US" altLang="en-US" i="1" dirty="0" err="1">
                <a:latin typeface="Consolas" panose="020B0609020204030204" pitchFamily="49" charset="0"/>
              </a:rPr>
              <a:t>IEnumerable</a:t>
            </a:r>
            <a:r>
              <a:rPr lang="en-US" altLang="en-US" dirty="0"/>
              <a:t> types.</a:t>
            </a:r>
            <a:br>
              <a:rPr lang="en-US" altLang="en-US" dirty="0"/>
            </a:br>
            <a:r>
              <a:rPr lang="en-US" altLang="en-US" dirty="0"/>
              <a:t>The JIT can now inline and stack-allocate array enumerators more effectively, minimizing allocations and improving loop speed.</a:t>
            </a:r>
          </a:p>
        </p:txBody>
      </p:sp>
      <p:sp>
        <p:nvSpPr>
          <p:cNvPr id="3" name="Rectangle: Rounded Corners 2">
            <a:extLst>
              <a:ext uri="{FF2B5EF4-FFF2-40B4-BE49-F238E27FC236}">
                <a16:creationId xmlns:a16="http://schemas.microsoft.com/office/drawing/2014/main" id="{5DD5C365-6C4A-2737-2571-C784C0E580A3}"/>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39948982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Improved Code Layout</a:t>
            </a:r>
          </a:p>
        </p:txBody>
      </p:sp>
      <p:sp>
        <p:nvSpPr>
          <p:cNvPr id="4" name="TextBox 3">
            <a:extLst>
              <a:ext uri="{FF2B5EF4-FFF2-40B4-BE49-F238E27FC236}">
                <a16:creationId xmlns:a16="http://schemas.microsoft.com/office/drawing/2014/main" id="{31566947-2DFA-49A8-912D-89C58B64CD3F}"/>
              </a:ext>
            </a:extLst>
          </p:cNvPr>
          <p:cNvSpPr txBox="1"/>
          <p:nvPr/>
        </p:nvSpPr>
        <p:spPr>
          <a:xfrm>
            <a:off x="502288" y="2758778"/>
            <a:ext cx="11267440"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JIT now uses a </a:t>
            </a:r>
            <a:r>
              <a:rPr lang="en-US" sz="1600" b="1" dirty="0">
                <a:latin typeface="Poppins" panose="00000500000000000000" pitchFamily="2" charset="-94"/>
                <a:cs typeface="Poppins" panose="00000500000000000000" pitchFamily="2" charset="-94"/>
              </a:rPr>
              <a:t>smarter algorithm</a:t>
            </a:r>
            <a:r>
              <a:rPr lang="en-US" sz="1600" dirty="0">
                <a:latin typeface="Poppins" panose="00000500000000000000" pitchFamily="2" charset="-94"/>
                <a:cs typeface="Poppins" panose="00000500000000000000" pitchFamily="2" charset="-94"/>
              </a:rPr>
              <a:t> (</a:t>
            </a:r>
            <a:r>
              <a:rPr lang="en-US" sz="1600" i="1" dirty="0">
                <a:latin typeface="Poppins" panose="00000500000000000000" pitchFamily="2" charset="-94"/>
                <a:cs typeface="Poppins" panose="00000500000000000000" pitchFamily="2" charset="-94"/>
              </a:rPr>
              <a:t>based on a 3-opt Traveling Salesman heuristic</a:t>
            </a:r>
            <a:r>
              <a:rPr lang="en-US" sz="1600" dirty="0">
                <a:latin typeface="Poppins" panose="00000500000000000000" pitchFamily="2" charset="-94"/>
                <a:cs typeface="Poppins" panose="00000500000000000000" pitchFamily="2" charset="-94"/>
              </a:rPr>
              <a:t>) to organize compiled code. This ensures that “</a:t>
            </a:r>
            <a:r>
              <a:rPr lang="en-US" sz="1600" i="1" dirty="0">
                <a:latin typeface="Poppins" panose="00000500000000000000" pitchFamily="2" charset="-94"/>
                <a:cs typeface="Poppins" panose="00000500000000000000" pitchFamily="2" charset="-94"/>
              </a:rPr>
              <a:t>hot</a:t>
            </a:r>
            <a:r>
              <a:rPr lang="en-US" sz="1600" dirty="0">
                <a:latin typeface="Poppins" panose="00000500000000000000" pitchFamily="2" charset="-94"/>
                <a:cs typeface="Poppins" panose="00000500000000000000" pitchFamily="2" charset="-94"/>
              </a:rPr>
              <a:t>” execution paths are placed close together in memory, improving branch prediction and cache efficiency.</a:t>
            </a:r>
          </a:p>
        </p:txBody>
      </p:sp>
      <p:sp>
        <p:nvSpPr>
          <p:cNvPr id="5" name="TextBox 4">
            <a:extLst>
              <a:ext uri="{FF2B5EF4-FFF2-40B4-BE49-F238E27FC236}">
                <a16:creationId xmlns:a16="http://schemas.microsoft.com/office/drawing/2014/main" id="{F0367421-1CA9-466F-A8B4-09E09370CD28}"/>
              </a:ext>
            </a:extLst>
          </p:cNvPr>
          <p:cNvSpPr txBox="1"/>
          <p:nvPr/>
        </p:nvSpPr>
        <p:spPr>
          <a:xfrm>
            <a:off x="676272" y="4836288"/>
            <a:ext cx="10678160"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Faster method execution due to better CPU instruction locality.</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Light performance gains for apps with complex branching logic.</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Automatically optimized code layout — no developer action needed.</a:t>
            </a:r>
          </a:p>
        </p:txBody>
      </p:sp>
      <p:sp>
        <p:nvSpPr>
          <p:cNvPr id="2" name="Rectangle: Rounded Corners 1">
            <a:extLst>
              <a:ext uri="{FF2B5EF4-FFF2-40B4-BE49-F238E27FC236}">
                <a16:creationId xmlns:a16="http://schemas.microsoft.com/office/drawing/2014/main" id="{CDF7547B-C817-31F6-5063-CF208FADF1ED}"/>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2700009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t>
            </a:r>
            <a:r>
              <a:rPr lang="en-US" sz="3400" dirty="0" err="1">
                <a:solidFill>
                  <a:srgbClr val="292D33"/>
                </a:solidFill>
                <a:latin typeface="Lexend"/>
                <a:ea typeface="Lexend"/>
                <a:cs typeface="Lexend"/>
                <a:sym typeface="Lexend"/>
              </a:rPr>
              <a:t>Inlining</a:t>
            </a:r>
            <a:r>
              <a:rPr lang="en-US" sz="3400" dirty="0">
                <a:solidFill>
                  <a:srgbClr val="292D33"/>
                </a:solidFill>
                <a:latin typeface="Lexend"/>
                <a:ea typeface="Lexend"/>
                <a:cs typeface="Lexend"/>
                <a:sym typeface="Lexend"/>
              </a:rPr>
              <a:t> Improvements</a:t>
            </a:r>
          </a:p>
        </p:txBody>
      </p:sp>
      <p:sp>
        <p:nvSpPr>
          <p:cNvPr id="2" name="Rectangle 1">
            <a:extLst>
              <a:ext uri="{FF2B5EF4-FFF2-40B4-BE49-F238E27FC236}">
                <a16:creationId xmlns:a16="http://schemas.microsoft.com/office/drawing/2014/main" id="{A1AC3717-CC29-43C0-8A18-CECA140D65B4}"/>
              </a:ext>
            </a:extLst>
          </p:cNvPr>
          <p:cNvSpPr>
            <a:spLocks noChangeArrowheads="1"/>
          </p:cNvSpPr>
          <p:nvPr/>
        </p:nvSpPr>
        <p:spPr bwMode="auto">
          <a:xfrm>
            <a:off x="614048" y="4762363"/>
            <a:ext cx="11191872"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a:ln>
                  <a:noFill/>
                </a:ln>
                <a:solidFill>
                  <a:schemeClr val="tx1"/>
                </a:solidFill>
                <a:effectLst/>
                <a:latin typeface="Arial" panose="020B0604020202020204" pitchFamily="34" charset="0"/>
              </a:rPr>
              <a:t>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More aggressive and intelligent </a:t>
            </a:r>
            <a:r>
              <a:rPr kumimoji="0" lang="en-US" altLang="en-US" sz="1800" b="0" i="0" u="none" strike="noStrike" cap="none" normalizeH="0" baseline="0" dirty="0" err="1">
                <a:ln>
                  <a:noFill/>
                </a:ln>
                <a:solidFill>
                  <a:schemeClr val="tx1"/>
                </a:solidFill>
                <a:effectLst/>
                <a:latin typeface="Arial" panose="020B0604020202020204" pitchFamily="34" charset="0"/>
              </a:rPr>
              <a:t>inlining</a:t>
            </a:r>
            <a:r>
              <a:rPr kumimoji="0" lang="en-US" altLang="en-US" sz="1800" b="0" i="0" u="none" strike="noStrike" cap="none" normalizeH="0" baseline="0" dirty="0">
                <a:ln>
                  <a:noFill/>
                </a:ln>
                <a:solidFill>
                  <a:schemeClr val="tx1"/>
                </a:solidFill>
                <a:effectLst/>
                <a:latin typeface="Arial" panose="020B0604020202020204" pitchFamily="34" charset="0"/>
              </a:rPr>
              <a:t> = faster method calls.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Better optimization in real-world (hot-path) code.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Reduced overhead for frequently executed helper methods.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TextBox 4">
            <a:extLst>
              <a:ext uri="{FF2B5EF4-FFF2-40B4-BE49-F238E27FC236}">
                <a16:creationId xmlns:a16="http://schemas.microsoft.com/office/drawing/2014/main" id="{9018F229-5733-46F3-953E-01CEC2EBD28F}"/>
              </a:ext>
            </a:extLst>
          </p:cNvPr>
          <p:cNvSpPr txBox="1"/>
          <p:nvPr/>
        </p:nvSpPr>
        <p:spPr>
          <a:xfrm>
            <a:off x="451488" y="2767281"/>
            <a:ext cx="11354432"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NET 10 extends what the JIT can inline, including methods with </a:t>
            </a:r>
            <a:r>
              <a:rPr kumimoji="0" lang="en-US" altLang="en-US" sz="1600" b="0" i="1" u="none" strike="noStrike" cap="none" normalizeH="0" baseline="0" dirty="0">
                <a:ln>
                  <a:noFill/>
                </a:ln>
                <a:solidFill>
                  <a:schemeClr val="tx1"/>
                </a:solidFill>
                <a:effectLst/>
                <a:latin typeface="Consolas" panose="020B0609020204030204" pitchFamily="49" charset="0"/>
                <a:cs typeface="Poppins" panose="00000500000000000000" pitchFamily="2" charset="-94"/>
              </a:rPr>
              <a:t>try-finally</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those discovered after </a:t>
            </a:r>
            <a:r>
              <a:rPr kumimoji="0" lang="en-US" altLang="en-US" sz="1600" b="0" i="0" u="none" strike="noStrike" cap="none" normalizeH="0" baseline="0" dirty="0" err="1">
                <a:ln>
                  <a:noFill/>
                </a:ln>
                <a:solidFill>
                  <a:schemeClr val="tx1"/>
                </a:solidFill>
                <a:effectLst/>
                <a:latin typeface="Poppins" panose="00000500000000000000" pitchFamily="2" charset="-94"/>
                <a:cs typeface="Poppins" panose="00000500000000000000" pitchFamily="2" charset="-94"/>
              </a:rPr>
              <a:t>devirtualization</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and small array-returning methods.</a:t>
            </a:r>
            <a:b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b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It also uses </a:t>
            </a:r>
            <a:r>
              <a:rPr kumimoji="0" lang="en-US" altLang="en-US" sz="1600" b="1" i="0" u="none" strike="noStrike" cap="none" normalizeH="0" baseline="0" dirty="0">
                <a:ln>
                  <a:noFill/>
                </a:ln>
                <a:solidFill>
                  <a:schemeClr val="tx1"/>
                </a:solidFill>
                <a:effectLst/>
                <a:latin typeface="Poppins" panose="00000500000000000000" pitchFamily="2" charset="-94"/>
                <a:cs typeface="Poppins" panose="00000500000000000000" pitchFamily="2" charset="-94"/>
              </a:rPr>
              <a:t>runtime profile data</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to decide more intelligently when </a:t>
            </a:r>
            <a:r>
              <a:rPr kumimoji="0" lang="en-US" altLang="en-US" sz="1600" b="0" i="0" u="none" strike="noStrike" cap="none" normalizeH="0" baseline="0" dirty="0" err="1">
                <a:ln>
                  <a:noFill/>
                </a:ln>
                <a:solidFill>
                  <a:schemeClr val="tx1"/>
                </a:solidFill>
                <a:effectLst/>
                <a:latin typeface="Poppins" panose="00000500000000000000" pitchFamily="2" charset="-94"/>
                <a:cs typeface="Poppins" panose="00000500000000000000" pitchFamily="2" charset="-94"/>
              </a:rPr>
              <a:t>inlining</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is worthwhile.</a:t>
            </a:r>
          </a:p>
        </p:txBody>
      </p:sp>
      <p:sp>
        <p:nvSpPr>
          <p:cNvPr id="3" name="Rectangle: Rounded Corners 2">
            <a:extLst>
              <a:ext uri="{FF2B5EF4-FFF2-40B4-BE49-F238E27FC236}">
                <a16:creationId xmlns:a16="http://schemas.microsoft.com/office/drawing/2014/main" id="{72CC9338-5995-AE80-CBF4-5D519018238C}"/>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4454384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Stack allocation</a:t>
            </a:r>
          </a:p>
        </p:txBody>
      </p:sp>
      <p:sp>
        <p:nvSpPr>
          <p:cNvPr id="4" name="TextBox 3">
            <a:extLst>
              <a:ext uri="{FF2B5EF4-FFF2-40B4-BE49-F238E27FC236}">
                <a16:creationId xmlns:a16="http://schemas.microsoft.com/office/drawing/2014/main" id="{A104402E-E46E-4C6E-8AD2-6A75AB04CCDB}"/>
              </a:ext>
            </a:extLst>
          </p:cNvPr>
          <p:cNvSpPr txBox="1"/>
          <p:nvPr/>
        </p:nvSpPr>
        <p:spPr>
          <a:xfrm>
            <a:off x="375920" y="2428706"/>
            <a:ext cx="11216640"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Stack allocation is now smarter and more widely applied.</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.NET 10 introduces stack allocation for </a:t>
            </a:r>
            <a:r>
              <a:rPr lang="en-US" sz="1600" b="1" dirty="0">
                <a:latin typeface="Poppins" panose="00000500000000000000" pitchFamily="2" charset="-94"/>
                <a:cs typeface="Poppins" panose="00000500000000000000" pitchFamily="2" charset="-94"/>
              </a:rPr>
              <a:t>small arrays of both value and reference types</a:t>
            </a:r>
            <a:r>
              <a:rPr lang="en-US" sz="1600" dirty="0">
                <a:latin typeface="Poppins" panose="00000500000000000000" pitchFamily="2" charset="-94"/>
                <a:cs typeface="Poppins" panose="00000500000000000000" pitchFamily="2" charset="-94"/>
              </a:rPr>
              <a:t>, and adds </a:t>
            </a:r>
            <a:r>
              <a:rPr lang="en-US" sz="1600" b="1" dirty="0">
                <a:latin typeface="Poppins" panose="00000500000000000000" pitchFamily="2" charset="-94"/>
                <a:cs typeface="Poppins" panose="00000500000000000000" pitchFamily="2" charset="-94"/>
              </a:rPr>
              <a:t>escape analysis</a:t>
            </a:r>
            <a:r>
              <a:rPr lang="en-US" sz="1600" dirty="0">
                <a:latin typeface="Poppins" panose="00000500000000000000" pitchFamily="2" charset="-94"/>
                <a:cs typeface="Poppins" panose="00000500000000000000" pitchFamily="2" charset="-94"/>
              </a:rPr>
              <a:t> for local struct fields and delegates — letting more short-lived objects live on the stack instead of the heap.</a:t>
            </a:r>
          </a:p>
          <a:p>
            <a:endParaRPr lang="en-US" sz="1600" dirty="0">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B92143E3-9173-4564-AC4F-4A032677E69C}"/>
              </a:ext>
            </a:extLst>
          </p:cNvPr>
          <p:cNvSpPr txBox="1"/>
          <p:nvPr/>
        </p:nvSpPr>
        <p:spPr>
          <a:xfrm>
            <a:off x="698184" y="4836288"/>
            <a:ext cx="107956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Fewer heap allocations → less GC work and faster execution.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Temporary arrays and delegates are now cheaper to create.</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Significant performance boost in tight loops and short-lived operations.</a:t>
            </a:r>
          </a:p>
        </p:txBody>
      </p:sp>
      <p:sp>
        <p:nvSpPr>
          <p:cNvPr id="2" name="Rectangle: Rounded Corners 1">
            <a:extLst>
              <a:ext uri="{FF2B5EF4-FFF2-40B4-BE49-F238E27FC236}">
                <a16:creationId xmlns:a16="http://schemas.microsoft.com/office/drawing/2014/main" id="{B362FBBD-6767-F73D-4D47-550DD0878C7A}"/>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8621978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Stack allocation: Escape Analysis </a:t>
            </a:r>
          </a:p>
        </p:txBody>
      </p:sp>
      <p:sp>
        <p:nvSpPr>
          <p:cNvPr id="4" name="TextBox 3">
            <a:extLst>
              <a:ext uri="{FF2B5EF4-FFF2-40B4-BE49-F238E27FC236}">
                <a16:creationId xmlns:a16="http://schemas.microsoft.com/office/drawing/2014/main" id="{B31C5C58-3121-4F59-A9BF-C5B28AE6298B}"/>
              </a:ext>
            </a:extLst>
          </p:cNvPr>
          <p:cNvSpPr txBox="1"/>
          <p:nvPr/>
        </p:nvSpPr>
        <p:spPr>
          <a:xfrm>
            <a:off x="451488" y="2844225"/>
            <a:ext cx="1108011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JIT can now track whether objects stored inside structs or delegates “escape” their method scope.</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If they don’t, those objects can be </a:t>
            </a:r>
            <a:r>
              <a:rPr lang="en-US" sz="1600" b="1" dirty="0">
                <a:latin typeface="Poppins" panose="00000500000000000000" pitchFamily="2" charset="-94"/>
                <a:cs typeface="Poppins" panose="00000500000000000000" pitchFamily="2" charset="-94"/>
              </a:rPr>
              <a:t>stack-allocated</a:t>
            </a:r>
            <a:r>
              <a:rPr lang="en-US" sz="1600" dirty="0">
                <a:latin typeface="Poppins" panose="00000500000000000000" pitchFamily="2" charset="-94"/>
                <a:cs typeface="Poppins" panose="00000500000000000000" pitchFamily="2" charset="-94"/>
              </a:rPr>
              <a:t> safely.</a:t>
            </a:r>
          </a:p>
        </p:txBody>
      </p:sp>
      <p:sp>
        <p:nvSpPr>
          <p:cNvPr id="5" name="TextBox 4">
            <a:extLst>
              <a:ext uri="{FF2B5EF4-FFF2-40B4-BE49-F238E27FC236}">
                <a16:creationId xmlns:a16="http://schemas.microsoft.com/office/drawing/2014/main" id="{7A4D0A6E-B94E-4E30-8A2B-F40B7F6F692A}"/>
              </a:ext>
            </a:extLst>
          </p:cNvPr>
          <p:cNvSpPr txBox="1"/>
          <p:nvPr/>
        </p:nvSpPr>
        <p:spPr>
          <a:xfrm>
            <a:off x="735968" y="4836288"/>
            <a:ext cx="10720064"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Less heap allocation for structs and lambda expressions.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Reduced GC activity and lower memory churn.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Cleaner, faster execution of methods using local structs or small lambdas.</a:t>
            </a:r>
          </a:p>
        </p:txBody>
      </p:sp>
      <p:sp>
        <p:nvSpPr>
          <p:cNvPr id="2" name="Rectangle: Rounded Corners 1">
            <a:extLst>
              <a:ext uri="{FF2B5EF4-FFF2-40B4-BE49-F238E27FC236}">
                <a16:creationId xmlns:a16="http://schemas.microsoft.com/office/drawing/2014/main" id="{9D2494D4-C856-45E3-4665-D7DB82F6DE1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1864555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Arm64 write-barrier improvements</a:t>
            </a:r>
          </a:p>
        </p:txBody>
      </p:sp>
      <p:sp>
        <p:nvSpPr>
          <p:cNvPr id="4" name="TextBox 3">
            <a:extLst>
              <a:ext uri="{FF2B5EF4-FFF2-40B4-BE49-F238E27FC236}">
                <a16:creationId xmlns:a16="http://schemas.microsoft.com/office/drawing/2014/main" id="{D3095CC8-9F6F-4415-97F1-23407E3B8F48}"/>
              </a:ext>
            </a:extLst>
          </p:cNvPr>
          <p:cNvSpPr txBox="1"/>
          <p:nvPr/>
        </p:nvSpPr>
        <p:spPr>
          <a:xfrm>
            <a:off x="451488" y="2856339"/>
            <a:ext cx="11080112"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garbage collector’s </a:t>
            </a:r>
            <a:r>
              <a:rPr lang="en-US" sz="1600" b="1" dirty="0">
                <a:latin typeface="Poppins" panose="00000500000000000000" pitchFamily="2" charset="-94"/>
                <a:cs typeface="Poppins" panose="00000500000000000000" pitchFamily="2" charset="-94"/>
              </a:rPr>
              <a:t>write-barrier logic,</a:t>
            </a:r>
            <a:r>
              <a:rPr lang="en-US" sz="1600" dirty="0">
                <a:latin typeface="Poppins" panose="00000500000000000000" pitchFamily="2" charset="-94"/>
                <a:cs typeface="Poppins" panose="00000500000000000000" pitchFamily="2" charset="-94"/>
              </a:rPr>
              <a:t> which tracks references between generations, </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is now smarter on Arm64 processors.</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It reduces unnecessary scanning of memory regions during GC cycles.</a:t>
            </a:r>
          </a:p>
        </p:txBody>
      </p:sp>
      <p:sp>
        <p:nvSpPr>
          <p:cNvPr id="5" name="TextBox 4">
            <a:extLst>
              <a:ext uri="{FF2B5EF4-FFF2-40B4-BE49-F238E27FC236}">
                <a16:creationId xmlns:a16="http://schemas.microsoft.com/office/drawing/2014/main" id="{4B30E1EA-C7BC-4506-9FA5-01EBD7CB9467}"/>
              </a:ext>
            </a:extLst>
          </p:cNvPr>
          <p:cNvSpPr txBox="1"/>
          <p:nvPr/>
        </p:nvSpPr>
        <p:spPr>
          <a:xfrm>
            <a:off x="695328" y="4836288"/>
            <a:ext cx="109480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Faster and smoother garbage collection on Arm64 devices.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Up to </a:t>
            </a:r>
            <a:r>
              <a:rPr lang="en-US" sz="1600" b="1" dirty="0">
                <a:latin typeface="Poppins" panose="00000500000000000000" pitchFamily="2" charset="-94"/>
                <a:cs typeface="Poppins" panose="00000500000000000000" pitchFamily="2" charset="-94"/>
              </a:rPr>
              <a:t>8–20% shorter GC pauses</a:t>
            </a:r>
            <a:r>
              <a:rPr lang="en-US" sz="1600" dirty="0">
                <a:latin typeface="Poppins" panose="00000500000000000000" pitchFamily="2" charset="-94"/>
                <a:cs typeface="Poppins" panose="00000500000000000000" pitchFamily="2" charset="-94"/>
              </a:rPr>
              <a:t> in some workloads.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Better .NET performance on ARM-based servers and devices</a:t>
            </a:r>
          </a:p>
        </p:txBody>
      </p:sp>
      <p:sp>
        <p:nvSpPr>
          <p:cNvPr id="2" name="Rectangle: Rounded Corners 1">
            <a:extLst>
              <a:ext uri="{FF2B5EF4-FFF2-40B4-BE49-F238E27FC236}">
                <a16:creationId xmlns:a16="http://schemas.microsoft.com/office/drawing/2014/main" id="{2C73F17B-313F-E683-C594-A416F7407AB3}"/>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6267064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1">
          <a:extLst>
            <a:ext uri="{FF2B5EF4-FFF2-40B4-BE49-F238E27FC236}">
              <a16:creationId xmlns:a16="http://schemas.microsoft.com/office/drawing/2014/main" id="{26A494BC-757C-503C-E601-7F23573797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B14B31-CA9A-BC15-3D14-13AFCBBC304E}"/>
              </a:ext>
            </a:extLst>
          </p:cNvPr>
          <p:cNvSpPr txBox="1"/>
          <p:nvPr/>
        </p:nvSpPr>
        <p:spPr>
          <a:xfrm>
            <a:off x="0" y="867737"/>
            <a:ext cx="12192000" cy="4770537"/>
          </a:xfrm>
          <a:prstGeom prst="rect">
            <a:avLst/>
          </a:prstGeom>
          <a:noFill/>
        </p:spPr>
        <p:txBody>
          <a:bodyPr wrap="square">
            <a:spAutoFit/>
          </a:bodyPr>
          <a:lstStyle/>
          <a:p>
            <a:pPr algn="ctr"/>
            <a:r>
              <a:rPr lang="en-US" sz="40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Lexend"/>
                <a:ea typeface="Lexend"/>
                <a:cs typeface="Lexend"/>
                <a:sym typeface="Lexend"/>
              </a:rPr>
              <a:t>BLACK FRIDAY DISCOUNT</a:t>
            </a:r>
            <a:endParaRPr lang="tr-TR" sz="40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endParaRPr>
          </a:p>
          <a:p>
            <a:pPr algn="ctr"/>
            <a:br>
              <a:rPr lang="en-US" sz="4000" b="1" dirty="0">
                <a:solidFill>
                  <a:srgbClr val="292D33"/>
                </a:solidFill>
                <a:latin typeface="Lexend"/>
                <a:ea typeface="Lexend"/>
                <a:cs typeface="Lexend"/>
                <a:sym typeface="Lexend"/>
              </a:rPr>
            </a:br>
            <a:r>
              <a:rPr lang="en-US" sz="3200" b="1" dirty="0">
                <a:solidFill>
                  <a:srgbClr val="292D33"/>
                </a:solidFill>
                <a:latin typeface="Lexend"/>
                <a:ea typeface="Lexend"/>
                <a:cs typeface="Lexend"/>
                <a:sym typeface="Lexend"/>
              </a:rPr>
              <a:t>When?</a:t>
            </a:r>
          </a:p>
          <a:p>
            <a:pPr algn="ctr"/>
            <a:r>
              <a:rPr lang="en-US" sz="3200" dirty="0">
                <a:solidFill>
                  <a:srgbClr val="292D33"/>
                </a:solidFill>
                <a:latin typeface="Lexend"/>
                <a:ea typeface="Lexend"/>
                <a:cs typeface="Lexend"/>
                <a:sym typeface="Lexend"/>
              </a:rPr>
              <a:t>Starts: 2025-11-24 Ends: 2025-12-01</a:t>
            </a:r>
            <a:br>
              <a:rPr lang="en-US" sz="3200" dirty="0">
                <a:solidFill>
                  <a:srgbClr val="292D33"/>
                </a:solidFill>
                <a:latin typeface="Lexend"/>
                <a:ea typeface="Lexend"/>
                <a:cs typeface="Lexend"/>
                <a:sym typeface="Lexend"/>
              </a:rPr>
            </a:br>
            <a:endParaRPr lang="en-US" sz="3200" dirty="0">
              <a:solidFill>
                <a:srgbClr val="292D33"/>
              </a:solidFill>
              <a:latin typeface="Lexend"/>
              <a:ea typeface="Lexend"/>
              <a:cs typeface="Lexend"/>
              <a:sym typeface="Lexend"/>
            </a:endParaRPr>
          </a:p>
          <a:p>
            <a:pPr algn="ctr"/>
            <a:r>
              <a:rPr lang="en-US" sz="3200" b="1" dirty="0">
                <a:solidFill>
                  <a:srgbClr val="292D33"/>
                </a:solidFill>
                <a:latin typeface="Lexend"/>
                <a:ea typeface="Lexend"/>
                <a:cs typeface="Lexend"/>
                <a:sym typeface="Lexend"/>
              </a:rPr>
              <a:t>What’s Included?</a:t>
            </a:r>
            <a:endParaRPr lang="en-US" sz="3200" dirty="0">
              <a:solidFill>
                <a:srgbClr val="292D33"/>
              </a:solidFill>
              <a:latin typeface="Lexend"/>
              <a:ea typeface="Lexend"/>
              <a:cs typeface="Lexend"/>
              <a:sym typeface="Lexend"/>
            </a:endParaRPr>
          </a:p>
          <a:p>
            <a:pPr algn="ctr"/>
            <a:r>
              <a:rPr lang="en-US" sz="3200" dirty="0">
                <a:solidFill>
                  <a:srgbClr val="292D33"/>
                </a:solidFill>
                <a:latin typeface="Lexend"/>
                <a:sym typeface="Lexend"/>
              </a:rPr>
              <a:t>New license purchase </a:t>
            </a:r>
            <a:br>
              <a:rPr lang="en-US" sz="3200" dirty="0">
                <a:solidFill>
                  <a:srgbClr val="292D33"/>
                </a:solidFill>
                <a:latin typeface="Lexend"/>
                <a:sym typeface="Lexend"/>
              </a:rPr>
            </a:br>
            <a:r>
              <a:rPr lang="en-US" sz="3200" dirty="0">
                <a:solidFill>
                  <a:srgbClr val="292D33"/>
                </a:solidFill>
                <a:latin typeface="Lexend"/>
                <a:sym typeface="Lexend"/>
              </a:rPr>
              <a:t>Existing license renewals </a:t>
            </a:r>
            <a:br>
              <a:rPr lang="en-US" sz="3200" dirty="0">
                <a:solidFill>
                  <a:srgbClr val="292D33"/>
                </a:solidFill>
                <a:latin typeface="Lexend"/>
                <a:sym typeface="Lexend"/>
              </a:rPr>
            </a:br>
            <a:r>
              <a:rPr lang="en-US" sz="3200" dirty="0">
                <a:solidFill>
                  <a:srgbClr val="292D33"/>
                </a:solidFill>
                <a:latin typeface="Lexend"/>
                <a:sym typeface="Lexend"/>
              </a:rPr>
              <a:t>Extra developer seats</a:t>
            </a:r>
            <a:endParaRPr lang="en-US" sz="3200" dirty="0"/>
          </a:p>
        </p:txBody>
      </p:sp>
      <p:cxnSp>
        <p:nvCxnSpPr>
          <p:cNvPr id="4" name="Straight Connector 3">
            <a:extLst>
              <a:ext uri="{FF2B5EF4-FFF2-40B4-BE49-F238E27FC236}">
                <a16:creationId xmlns:a16="http://schemas.microsoft.com/office/drawing/2014/main" id="{2E38C070-9ADD-CF04-592D-692907A97149}"/>
              </a:ext>
            </a:extLst>
          </p:cNvPr>
          <p:cNvCxnSpPr/>
          <p:nvPr/>
        </p:nvCxnSpPr>
        <p:spPr>
          <a:xfrm>
            <a:off x="426720" y="3327400"/>
            <a:ext cx="11338560"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594825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1">
          <a:extLst>
            <a:ext uri="{FF2B5EF4-FFF2-40B4-BE49-F238E27FC236}">
              <a16:creationId xmlns:a16="http://schemas.microsoft.com/office/drawing/2014/main" id="{FA00270C-27EC-81C9-CBC8-99AD487C38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F349CC6-E0FF-E902-E054-5DC2A1FDECB1}"/>
              </a:ext>
            </a:extLst>
          </p:cNvPr>
          <p:cNvSpPr txBox="1"/>
          <p:nvPr/>
        </p:nvSpPr>
        <p:spPr>
          <a:xfrm>
            <a:off x="172720" y="227657"/>
            <a:ext cx="11938000" cy="5755422"/>
          </a:xfrm>
          <a:prstGeom prst="rect">
            <a:avLst/>
          </a:prstGeom>
          <a:noFill/>
        </p:spPr>
        <p:txBody>
          <a:bodyPr wrap="square">
            <a:spAutoFit/>
          </a:bodyPr>
          <a:lstStyle/>
          <a:p>
            <a:pPr algn="ctr"/>
            <a:r>
              <a:rPr lang="en-US" sz="40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Lexend"/>
                <a:ea typeface="Lexend"/>
                <a:cs typeface="Lexend"/>
                <a:sym typeface="Lexend"/>
              </a:rPr>
              <a:t>ABP REFERRAL PROGRAM</a:t>
            </a:r>
          </a:p>
          <a:p>
            <a:pPr algn="ctr"/>
            <a:br>
              <a:rPr lang="en-US" sz="4000" b="1" dirty="0">
                <a:solidFill>
                  <a:srgbClr val="292D33"/>
                </a:solidFill>
                <a:latin typeface="Lexend"/>
                <a:ea typeface="Lexend"/>
                <a:cs typeface="Lexend"/>
                <a:sym typeface="Lexend"/>
              </a:rPr>
            </a:br>
            <a:r>
              <a:rPr lang="en-US" sz="3200" b="1" dirty="0">
                <a:solidFill>
                  <a:srgbClr val="292D33"/>
                </a:solidFill>
                <a:latin typeface="Lexend"/>
                <a:ea typeface="Lexend"/>
                <a:cs typeface="Lexend"/>
                <a:sym typeface="Lexend"/>
              </a:rPr>
              <a:t>Who can apply? </a:t>
            </a:r>
          </a:p>
          <a:p>
            <a:pPr algn="ctr"/>
            <a:r>
              <a:rPr lang="en-US" sz="3200" dirty="0">
                <a:solidFill>
                  <a:srgbClr val="292D33"/>
                </a:solidFill>
                <a:latin typeface="Lexend"/>
                <a:ea typeface="Lexend"/>
                <a:cs typeface="Lexend"/>
                <a:sym typeface="Lexend"/>
              </a:rPr>
              <a:t>ABP customers with past or active license holders</a:t>
            </a:r>
            <a:br>
              <a:rPr lang="en-US" sz="3200" dirty="0">
                <a:solidFill>
                  <a:srgbClr val="292D33"/>
                </a:solidFill>
                <a:latin typeface="Lexend"/>
                <a:ea typeface="Lexend"/>
                <a:cs typeface="Lexend"/>
                <a:sym typeface="Lexend"/>
              </a:rPr>
            </a:br>
            <a:endParaRPr lang="en-US" sz="3200" dirty="0">
              <a:solidFill>
                <a:srgbClr val="292D33"/>
              </a:solidFill>
              <a:latin typeface="Lexend"/>
              <a:ea typeface="Lexend"/>
              <a:cs typeface="Lexend"/>
              <a:sym typeface="Lexend"/>
            </a:endParaRPr>
          </a:p>
          <a:p>
            <a:pPr algn="ctr"/>
            <a:r>
              <a:rPr lang="en-US" sz="3200" b="1" dirty="0">
                <a:solidFill>
                  <a:srgbClr val="292D33"/>
                </a:solidFill>
                <a:latin typeface="Lexend"/>
                <a:ea typeface="Lexend"/>
                <a:cs typeface="Lexend"/>
                <a:sym typeface="Lexend"/>
              </a:rPr>
              <a:t>Reward</a:t>
            </a:r>
            <a:endParaRPr lang="en-US" sz="3200" dirty="0">
              <a:solidFill>
                <a:srgbClr val="292D33"/>
              </a:solidFill>
              <a:latin typeface="Lexend"/>
              <a:ea typeface="Lexend"/>
              <a:cs typeface="Lexend"/>
              <a:sym typeface="Lexend"/>
            </a:endParaRPr>
          </a:p>
          <a:p>
            <a:pPr algn="ctr"/>
            <a:r>
              <a:rPr lang="en-US" sz="3200" dirty="0">
                <a:solidFill>
                  <a:srgbClr val="292D33"/>
                </a:solidFill>
                <a:latin typeface="Lexend"/>
                <a:ea typeface="Lexend"/>
                <a:cs typeface="Lexend"/>
                <a:sym typeface="Lexend"/>
              </a:rPr>
              <a:t>5% commission from total amount of purchase</a:t>
            </a:r>
            <a:br>
              <a:rPr lang="en-US" sz="3200" dirty="0">
                <a:solidFill>
                  <a:srgbClr val="292D33"/>
                </a:solidFill>
                <a:latin typeface="Lexend"/>
                <a:ea typeface="Lexend"/>
                <a:cs typeface="Lexend"/>
                <a:sym typeface="Lexend"/>
              </a:rPr>
            </a:br>
            <a:endParaRPr lang="en-US" sz="3200" dirty="0">
              <a:solidFill>
                <a:srgbClr val="292D33"/>
              </a:solidFill>
              <a:latin typeface="Lexend"/>
              <a:ea typeface="Lexend"/>
              <a:cs typeface="Lexend"/>
              <a:sym typeface="Lexend"/>
            </a:endParaRPr>
          </a:p>
          <a:p>
            <a:pPr algn="ctr"/>
            <a:r>
              <a:rPr lang="en-US" sz="3200" b="1" dirty="0">
                <a:solidFill>
                  <a:srgbClr val="292D33"/>
                </a:solidFill>
                <a:latin typeface="Lexend"/>
                <a:ea typeface="Lexend"/>
                <a:cs typeface="Lexend"/>
                <a:sym typeface="Lexend"/>
              </a:rPr>
              <a:t>Limitations (2)</a:t>
            </a:r>
          </a:p>
          <a:p>
            <a:pPr algn="ctr"/>
            <a:r>
              <a:rPr lang="en-US" sz="3200" b="1" dirty="0">
                <a:solidFill>
                  <a:srgbClr val="292D33"/>
                </a:solidFill>
                <a:latin typeface="Lexend"/>
                <a:ea typeface="Lexend"/>
                <a:cs typeface="Lexend"/>
                <a:sym typeface="Lexend"/>
              </a:rPr>
              <a:t>1.</a:t>
            </a:r>
            <a:r>
              <a:rPr lang="en-US" sz="3200" dirty="0">
                <a:solidFill>
                  <a:srgbClr val="292D33"/>
                </a:solidFill>
                <a:latin typeface="Lexend"/>
                <a:ea typeface="Lexend"/>
                <a:cs typeface="Lexend"/>
                <a:sym typeface="Lexend"/>
              </a:rPr>
              <a:t> Cannot refer your own company</a:t>
            </a:r>
          </a:p>
          <a:p>
            <a:pPr algn="ctr"/>
            <a:r>
              <a:rPr lang="en-US" sz="3200" b="1" dirty="0">
                <a:solidFill>
                  <a:srgbClr val="292D33"/>
                </a:solidFill>
                <a:latin typeface="Lexend"/>
                <a:ea typeface="Lexend"/>
                <a:cs typeface="Lexend"/>
                <a:sym typeface="Lexend"/>
              </a:rPr>
              <a:t>2. </a:t>
            </a:r>
            <a:r>
              <a:rPr lang="en-US" sz="3200" dirty="0">
                <a:solidFill>
                  <a:srgbClr val="292D33"/>
                </a:solidFill>
                <a:latin typeface="Lexend"/>
                <a:ea typeface="Lexend"/>
                <a:cs typeface="Lexend"/>
                <a:sym typeface="Lexend"/>
              </a:rPr>
              <a:t>Applies only to new purchases (not renewals)</a:t>
            </a:r>
            <a:endParaRPr lang="en-US" sz="3200" dirty="0"/>
          </a:p>
        </p:txBody>
      </p:sp>
      <p:cxnSp>
        <p:nvCxnSpPr>
          <p:cNvPr id="4" name="Straight Connector 3">
            <a:extLst>
              <a:ext uri="{FF2B5EF4-FFF2-40B4-BE49-F238E27FC236}">
                <a16:creationId xmlns:a16="http://schemas.microsoft.com/office/drawing/2014/main" id="{5248C4F6-0B0D-957F-1E4B-A9104ACD4CBC}"/>
              </a:ext>
            </a:extLst>
          </p:cNvPr>
          <p:cNvCxnSpPr/>
          <p:nvPr/>
        </p:nvCxnSpPr>
        <p:spPr>
          <a:xfrm>
            <a:off x="406400" y="2763520"/>
            <a:ext cx="11338560" cy="0"/>
          </a:xfrm>
          <a:prstGeom prst="line">
            <a:avLst/>
          </a:prstGeom>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783CCD6C-392A-F6BC-C8E8-0592E0366184}"/>
              </a:ext>
            </a:extLst>
          </p:cNvPr>
          <p:cNvCxnSpPr/>
          <p:nvPr/>
        </p:nvCxnSpPr>
        <p:spPr>
          <a:xfrm>
            <a:off x="426720" y="4277360"/>
            <a:ext cx="11338560"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923955890"/>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558</TotalTime>
  <Words>1636</Words>
  <Application>Microsoft Office PowerPoint</Application>
  <PresentationFormat>Widescreen</PresentationFormat>
  <Paragraphs>170</Paragraphs>
  <Slides>23</Slides>
  <Notes>23</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Play</vt:lpstr>
      <vt:lpstr>Consolas</vt:lpstr>
      <vt:lpstr>Poppins Medium</vt:lpstr>
      <vt:lpstr>Arial</vt:lpstr>
      <vt:lpstr>Poppins</vt:lpstr>
      <vt:lpstr>Lexend</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118</cp:revision>
  <dcterms:created xsi:type="dcterms:W3CDTF">2024-10-07T11:11:00Z</dcterms:created>
  <dcterms:modified xsi:type="dcterms:W3CDTF">2025-11-12T13:50:52Z</dcterms:modified>
</cp:coreProperties>
</file>