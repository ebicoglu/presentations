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02" r:id="rId3"/>
    <p:sldId id="299" r:id="rId4"/>
    <p:sldId id="290" r:id="rId5"/>
    <p:sldId id="297" r:id="rId6"/>
    <p:sldId id="296" r:id="rId7"/>
    <p:sldId id="295" r:id="rId8"/>
    <p:sldId id="298" r:id="rId9"/>
    <p:sldId id="294" r:id="rId10"/>
    <p:sldId id="293" r:id="rId11"/>
    <p:sldId id="292" r:id="rId12"/>
    <p:sldId id="301" r:id="rId13"/>
    <p:sldId id="257" r:id="rId14"/>
    <p:sldId id="276" r:id="rId15"/>
    <p:sldId id="277" r:id="rId16"/>
    <p:sldId id="282" r:id="rId17"/>
    <p:sldId id="281" r:id="rId18"/>
    <p:sldId id="278" r:id="rId19"/>
    <p:sldId id="280" r:id="rId20"/>
    <p:sldId id="279" r:id="rId21"/>
    <p:sldId id="268" r:id="rId22"/>
  </p:sldIdLst>
  <p:sldSz cx="12192000" cy="6858000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Lexend" pitchFamily="2" charset="-94"/>
      <p:regular r:id="rId28"/>
      <p:bold r:id="rId29"/>
    </p:embeddedFont>
    <p:embeddedFont>
      <p:font typeface="Play" panose="020B0604020202020204" charset="0"/>
      <p:regular r:id="rId30"/>
      <p:bold r:id="rId31"/>
    </p:embeddedFont>
    <p:embeddedFont>
      <p:font typeface="Poppins" panose="00000500000000000000" pitchFamily="2" charset="-94"/>
      <p:regular r:id="rId32"/>
      <p:bold r:id="rId33"/>
      <p:italic r:id="rId34"/>
      <p:boldItalic r:id="rId35"/>
    </p:embeddedFont>
    <p:embeddedFont>
      <p:font typeface="Poppins Medium" panose="00000600000000000000" pitchFamily="2" charset="-94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ihNSh0nE7P5bmNZynwZ07PSv3T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D33"/>
    <a:srgbClr val="2128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645" autoAdjust="0"/>
  </p:normalViewPr>
  <p:slideViewPr>
    <p:cSldViewPr snapToGrid="0">
      <p:cViewPr varScale="1">
        <p:scale>
          <a:sx n="94" d="100"/>
          <a:sy n="94" d="100"/>
        </p:scale>
        <p:origin x="11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3635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4516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3093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2700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9644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3619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7814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8647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1052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80832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7099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4095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2630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87015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09968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8586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7803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11880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0" name="Google Shape;1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Slaydı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İçerik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ölüm Üst Bilgisi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İki İçerik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şılaştırma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alnızca Başlık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ş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İçerik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Resim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Dikey Metin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key Başlık ve Metin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FBD3131-6722-4000-BD4E-D79704BF47BE}"/>
              </a:ext>
            </a:extLst>
          </p:cNvPr>
          <p:cNvGrpSpPr/>
          <p:nvPr/>
        </p:nvGrpSpPr>
        <p:grpSpPr>
          <a:xfrm>
            <a:off x="7644907" y="4961954"/>
            <a:ext cx="4023143" cy="1445240"/>
            <a:chOff x="7159194" y="4399338"/>
            <a:chExt cx="4023143" cy="1445240"/>
          </a:xfrm>
        </p:grpSpPr>
        <p:pic>
          <p:nvPicPr>
            <p:cNvPr id="92" name="Google Shape;92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59194" y="4527732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159195" y="4878587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"/>
            <p:cNvSpPr txBox="1"/>
            <p:nvPr/>
          </p:nvSpPr>
          <p:spPr>
            <a:xfrm>
              <a:off x="7440723" y="4399338"/>
              <a:ext cx="2872935" cy="369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D33"/>
                </a:buClr>
                <a:buSzPts val="1500"/>
                <a:buFont typeface="Poppins"/>
                <a:buNone/>
              </a:pPr>
              <a:r>
                <a:rPr lang="en-US" sz="2000" b="0" i="0" u="none" strike="noStrike" cap="none" dirty="0">
                  <a:solidFill>
                    <a:srgbClr val="4E5258"/>
                  </a:solidFill>
                  <a:uFill>
                    <a:noFill/>
                  </a:uFill>
                  <a:latin typeface="Poppins"/>
                  <a:ea typeface="Poppins"/>
                  <a:cs typeface="Poppins"/>
                  <a:sym typeface="Poppins"/>
                </a:rPr>
                <a:t>x.com/</a:t>
              </a:r>
              <a:r>
                <a:rPr lang="en-US" sz="2000" i="0" u="none" strike="noStrike" cap="none" dirty="0">
                  <a:solidFill>
                    <a:srgbClr val="4E5258"/>
                  </a:solidFill>
                  <a:uFill>
                    <a:noFill/>
                  </a:uFill>
                  <a:latin typeface="Poppins"/>
                  <a:ea typeface="Poppins"/>
                  <a:cs typeface="Poppins"/>
                  <a:sym typeface="Poppins"/>
                </a:rPr>
                <a:t>alperebicoglu</a:t>
              </a:r>
              <a:r>
                <a:rPr lang="en-US" sz="2000" b="0" i="0" u="none" strike="noStrike" cap="none" dirty="0">
                  <a:solidFill>
                    <a:srgbClr val="4E5258"/>
                  </a:solidFill>
                  <a:uFill>
                    <a:noFill/>
                  </a:u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 sz="2000" b="0" i="0" u="none" strike="noStrike" cap="none" dirty="0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7419133" y="4755623"/>
              <a:ext cx="3289493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D33"/>
                </a:buClr>
                <a:buSzPts val="1500"/>
                <a:buFont typeface="Poppins"/>
                <a:buNone/>
              </a:pPr>
              <a:r>
                <a:rPr lang="tr-TR" sz="2000" b="0" i="0" u="none" strike="noStrike" cap="none" dirty="0">
                  <a:solidFill>
                    <a:srgbClr val="4E5258"/>
                  </a:solidFill>
                  <a:uFill>
                    <a:noFill/>
                  </a:uFill>
                  <a:latin typeface="Poppins"/>
                  <a:ea typeface="Poppins"/>
                  <a:cs typeface="Poppins"/>
                  <a:sym typeface="Poppins"/>
                </a:rPr>
                <a:t>github.com/ebicoglu</a:t>
              </a:r>
              <a:endParaRPr sz="2000" b="0" i="0" u="none" strike="noStrike" cap="none" dirty="0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98018" y="5472877"/>
              <a:ext cx="3756855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D33"/>
                </a:buClr>
                <a:buSzPts val="1500"/>
                <a:buFont typeface="Poppins"/>
                <a:buNone/>
              </a:pPr>
              <a:r>
                <a:rPr lang="tr-TR" sz="2000" b="0" i="0" u="none" strike="noStrike" cap="none" dirty="0">
                  <a:solidFill>
                    <a:srgbClr val="4E5258"/>
                  </a:solidFill>
                  <a:uFill>
                    <a:noFill/>
                  </a:uFill>
                  <a:latin typeface="Poppins"/>
                  <a:ea typeface="Poppins"/>
                  <a:cs typeface="Poppins"/>
                  <a:sym typeface="Poppins"/>
                </a:rPr>
                <a:t>medium.com/@alperonline</a:t>
              </a:r>
              <a:endParaRPr lang="tr-TR" sz="2000" b="0" i="0" u="none" strike="noStrike" cap="none" dirty="0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1DF1FE2-76E6-4D08-BC9B-C789D1657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64487" y="5592578"/>
              <a:ext cx="252000" cy="252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AE224ED-7066-4AC0-9174-2898BB38D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68829" y="5223278"/>
              <a:ext cx="252000" cy="252000"/>
            </a:xfrm>
            <a:prstGeom prst="rect">
              <a:avLst/>
            </a:prstGeom>
          </p:spPr>
        </p:pic>
        <p:sp>
          <p:nvSpPr>
            <p:cNvPr id="22" name="Google Shape;99;p1">
              <a:extLst>
                <a:ext uri="{FF2B5EF4-FFF2-40B4-BE49-F238E27FC236}">
                  <a16:creationId xmlns:a16="http://schemas.microsoft.com/office/drawing/2014/main" id="{EB7EE08C-0C95-4D42-9101-734F44DEC6A3}"/>
                </a:ext>
              </a:extLst>
            </p:cNvPr>
            <p:cNvSpPr txBox="1"/>
            <p:nvPr/>
          </p:nvSpPr>
          <p:spPr>
            <a:xfrm>
              <a:off x="7425482" y="5120490"/>
              <a:ext cx="3756855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D33"/>
                </a:buClr>
                <a:buSzPts val="1500"/>
                <a:buFont typeface="Poppins"/>
                <a:buNone/>
              </a:pPr>
              <a:r>
                <a:rPr lang="tr-TR" sz="2000" b="0" i="0" u="none" strike="noStrike" cap="none" dirty="0">
                  <a:solidFill>
                    <a:srgbClr val="4E5258"/>
                  </a:solidFill>
                  <a:uFill>
                    <a:noFill/>
                  </a:uFill>
                  <a:latin typeface="Poppins"/>
                  <a:ea typeface="Poppins"/>
                  <a:cs typeface="Poppins"/>
                  <a:sym typeface="Poppins"/>
                </a:rPr>
                <a:t>linkedin.com/in/ebicoglu</a:t>
              </a:r>
              <a:endParaRPr lang="tr-TR" sz="2000" b="0" i="0" u="none" strike="noStrike" cap="none" dirty="0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A0AFEC-1156-4E34-973D-28904ADE117A}"/>
              </a:ext>
            </a:extLst>
          </p:cNvPr>
          <p:cNvGrpSpPr/>
          <p:nvPr/>
        </p:nvGrpSpPr>
        <p:grpSpPr>
          <a:xfrm>
            <a:off x="560522" y="5096333"/>
            <a:ext cx="4513940" cy="1254642"/>
            <a:chOff x="738544" y="4645036"/>
            <a:chExt cx="4513940" cy="1254642"/>
          </a:xfrm>
        </p:grpSpPr>
        <p:sp>
          <p:nvSpPr>
            <p:cNvPr id="91" name="Google Shape;91;p1"/>
            <p:cNvSpPr txBox="1"/>
            <p:nvPr/>
          </p:nvSpPr>
          <p:spPr>
            <a:xfrm>
              <a:off x="2090161" y="5295536"/>
              <a:ext cx="2853979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5258"/>
                </a:buClr>
                <a:buSzPct val="100000"/>
                <a:buFont typeface="Poppins"/>
                <a:buNone/>
              </a:pPr>
              <a:r>
                <a:rPr lang="en-US" sz="1800" dirty="0">
                  <a:solidFill>
                    <a:srgbClr val="4E5258"/>
                  </a:solidFill>
                  <a:latin typeface="Poppins"/>
                  <a:ea typeface="Poppins"/>
                  <a:cs typeface="Poppins"/>
                  <a:sym typeface="Poppins"/>
                </a:rPr>
                <a:t>Co-Founder of Volosoft</a:t>
              </a:r>
              <a:endParaRPr sz="1800" b="0" i="0" u="none" strike="noStrike" cap="none" dirty="0">
                <a:solidFill>
                  <a:srgbClr val="545C6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D272CC1-748E-4B0C-87F5-83BE1252308C}"/>
                </a:ext>
              </a:extLst>
            </p:cNvPr>
            <p:cNvGrpSpPr/>
            <p:nvPr/>
          </p:nvGrpSpPr>
          <p:grpSpPr>
            <a:xfrm>
              <a:off x="738544" y="4645036"/>
              <a:ext cx="4513940" cy="1254642"/>
              <a:chOff x="738544" y="4645036"/>
              <a:chExt cx="4513940" cy="1254642"/>
            </a:xfrm>
          </p:grpSpPr>
          <p:sp>
            <p:nvSpPr>
              <p:cNvPr id="90" name="Google Shape;90;p1"/>
              <p:cNvSpPr txBox="1"/>
              <p:nvPr/>
            </p:nvSpPr>
            <p:spPr>
              <a:xfrm>
                <a:off x="2090161" y="4775609"/>
                <a:ext cx="3162323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92D33"/>
                  </a:buClr>
                  <a:buSzPts val="2800"/>
                  <a:buFont typeface="Poppins Medium"/>
                  <a:buNone/>
                </a:pPr>
                <a:r>
                  <a:rPr lang="en-US" sz="2800" b="0" i="0" u="none" strike="noStrike" cap="none" dirty="0">
                    <a:solidFill>
                      <a:srgbClr val="292D33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Alper EBICOGLU</a:t>
                </a:r>
                <a:endParaRPr sz="2800" b="0" i="0" u="none" strike="noStrike" cap="none" dirty="0">
                  <a:solidFill>
                    <a:srgbClr val="292D33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pic>
            <p:nvPicPr>
              <p:cNvPr id="4100" name="Picture 4" descr="profile image">
                <a:extLst>
                  <a:ext uri="{FF2B5EF4-FFF2-40B4-BE49-F238E27FC236}">
                    <a16:creationId xmlns:a16="http://schemas.microsoft.com/office/drawing/2014/main" id="{C74479B8-CCFC-4F51-81AE-F238DC666C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8544" y="4645036"/>
                <a:ext cx="1254642" cy="1254642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89" name="Google Shape;89;p1"/>
          <p:cNvSpPr txBox="1"/>
          <p:nvPr/>
        </p:nvSpPr>
        <p:spPr>
          <a:xfrm>
            <a:off x="0" y="1982456"/>
            <a:ext cx="12192000" cy="196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6000" b="1" i="0" dirty="0">
                <a:solidFill>
                  <a:schemeClr val="tx1"/>
                </a:solidFill>
                <a:effectLst/>
                <a:latin typeface="Lexend" panose="020B0604020202020204" charset="-94"/>
              </a:rPr>
              <a:t>What's new in the </a:t>
            </a:r>
            <a:br>
              <a:rPr lang="en-US" sz="6000" b="1" i="0" dirty="0">
                <a:solidFill>
                  <a:schemeClr val="tx1"/>
                </a:solidFill>
                <a:effectLst/>
                <a:latin typeface="Lexend" panose="020B0604020202020204" charset="-94"/>
              </a:rPr>
            </a:br>
            <a:r>
              <a:rPr lang="en-US" sz="6000" b="1" i="0" dirty="0">
                <a:solidFill>
                  <a:schemeClr val="tx1"/>
                </a:solidFill>
                <a:effectLst/>
                <a:latin typeface="Lexend" panose="020B0604020202020204" charset="-94"/>
              </a:rPr>
              <a:t>.NET 10 Runtime &amp; Libraries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9954E-3593-E68C-B575-B2362E0D4C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522" y="350747"/>
            <a:ext cx="1956338" cy="524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8C48C0-015B-72EF-108B-F7FC0670EB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041" y="194542"/>
            <a:ext cx="1192449" cy="11924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0" y="3537785"/>
            <a:ext cx="121920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8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Libraries Improvements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72902-365B-4283-B448-C37470AA8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881" y="1359654"/>
            <a:ext cx="4186238" cy="158591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4676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66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Libraries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Cryptography: Post-Quantum Cryptography (PQC)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7DB823-8A26-4243-A776-96B4D426D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8" y="2798980"/>
            <a:ext cx="1072006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.NET 10 adds support for new quantum-resistant algorithms: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ML-KEM, ML-DSA, SLH-DSA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preparing .NET apps for the next generation of cryptography.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</a:b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These can be used via new </a:t>
            </a:r>
            <a:r>
              <a:rPr lang="en-US" altLang="en-US" sz="1600" i="1" dirty="0" err="1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System.Security.Cryptography</a:t>
            </a: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 types and are available when the OS supports PQC (OpenSSL 3.5+ or Windows CNG).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-94"/>
              <a:cs typeface="Poppins" panose="00000500000000000000" pitchFamily="2" charset="-9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F4668-4F61-4CBE-AB39-265B74442340}"/>
              </a:ext>
            </a:extLst>
          </p:cNvPr>
          <p:cNvSpPr txBox="1"/>
          <p:nvPr/>
        </p:nvSpPr>
        <p:spPr>
          <a:xfrm>
            <a:off x="451488" y="4800526"/>
            <a:ext cx="10720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✅ What 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Future-proof cryptography support for modern security needs.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Developers can start testing and validating PQC readiness.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Keeps .NET aligned with emerging FIPS standards.</a:t>
            </a:r>
          </a:p>
        </p:txBody>
      </p:sp>
    </p:spTree>
    <p:extLst>
      <p:ext uri="{BB962C8B-B14F-4D97-AF65-F5344CB8AC3E}">
        <p14:creationId xmlns:p14="http://schemas.microsoft.com/office/powerpoint/2010/main" val="118927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Libraries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Numeric Ordering for String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F4668-4F61-4CBE-AB39-265B74442340}"/>
              </a:ext>
            </a:extLst>
          </p:cNvPr>
          <p:cNvSpPr txBox="1"/>
          <p:nvPr/>
        </p:nvSpPr>
        <p:spPr>
          <a:xfrm>
            <a:off x="451488" y="4770046"/>
            <a:ext cx="10720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✅ What 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Natural ordering for strings containing numbers (e.g., version names, product codes).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Works seamlessly with </a:t>
            </a:r>
            <a:r>
              <a:rPr lang="en-US" altLang="en-US" sz="1600" i="1" dirty="0" err="1">
                <a:solidFill>
                  <a:schemeClr val="tx1"/>
                </a:solidFill>
                <a:latin typeface="Consolas" panose="020B0609020204030204" pitchFamily="49" charset="0"/>
                <a:cs typeface="Poppins" panose="00000500000000000000" pitchFamily="2" charset="-94"/>
              </a:rPr>
              <a:t>StringComparer</a:t>
            </a: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 and </a:t>
            </a:r>
            <a:r>
              <a:rPr lang="en-US" altLang="en-US" sz="1600" i="1" dirty="0">
                <a:solidFill>
                  <a:schemeClr val="tx1"/>
                </a:solidFill>
                <a:latin typeface="Consolas" panose="020B0609020204030204" pitchFamily="49" charset="0"/>
                <a:cs typeface="Poppins" panose="00000500000000000000" pitchFamily="2" charset="-94"/>
              </a:rPr>
              <a:t>HashSet</a:t>
            </a: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 using </a:t>
            </a:r>
            <a:r>
              <a:rPr lang="en-US" altLang="en-US" sz="1600" i="1" dirty="0" err="1">
                <a:solidFill>
                  <a:schemeClr val="tx1"/>
                </a:solidFill>
                <a:latin typeface="Consolas" panose="020B0609020204030204" pitchFamily="49" charset="0"/>
                <a:cs typeface="Poppins" panose="00000500000000000000" pitchFamily="2" charset="-94"/>
              </a:rPr>
              <a:t>CompareOptions.NumericOrdering</a:t>
            </a: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Cleaner data sorting and filtering in apps.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06FC4-3AB5-4DF6-B2BB-9FBC739F58E5}"/>
              </a:ext>
            </a:extLst>
          </p:cNvPr>
          <p:cNvSpPr txBox="1"/>
          <p:nvPr/>
        </p:nvSpPr>
        <p:spPr>
          <a:xfrm>
            <a:off x="451488" y="2844225"/>
            <a:ext cx="11191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A long-requested feature: 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.NET 10 introduces numeric-aware string comparison.</a:t>
            </a:r>
          </a:p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Now, "2" correctly sorts before "10", and "02" equals "2".</a:t>
            </a:r>
          </a:p>
        </p:txBody>
      </p:sp>
    </p:spTree>
    <p:extLst>
      <p:ext uri="{BB962C8B-B14F-4D97-AF65-F5344CB8AC3E}">
        <p14:creationId xmlns:p14="http://schemas.microsoft.com/office/powerpoint/2010/main" val="128734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Libraries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String Normalization APIs for Spans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F4668-4F61-4CBE-AB39-265B74442340}"/>
              </a:ext>
            </a:extLst>
          </p:cNvPr>
          <p:cNvSpPr txBox="1"/>
          <p:nvPr/>
        </p:nvSpPr>
        <p:spPr>
          <a:xfrm>
            <a:off x="548640" y="4692581"/>
            <a:ext cx="10720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✅ What 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Less memory allocation in text-heavy code.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Easier and faster normalization for streams and buffers.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Great for libraries, parsers, and Unicode handling.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EFFF8-3A99-4D32-AF29-DB828AB5DABB}"/>
              </a:ext>
            </a:extLst>
          </p:cNvPr>
          <p:cNvSpPr txBox="1"/>
          <p:nvPr/>
        </p:nvSpPr>
        <p:spPr>
          <a:xfrm>
            <a:off x="548640" y="2724807"/>
            <a:ext cx="1100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String normalization now works with 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ReadOnlySpan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&lt;char&gt;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and 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Span&lt;char&gt;. </a:t>
            </a:r>
            <a:b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</a:b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No need to create new string objects.</a:t>
            </a:r>
            <a:b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</a:b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This allows normalization without allocations, ideal for performance-critical or low-level text processing.</a:t>
            </a:r>
          </a:p>
        </p:txBody>
      </p:sp>
    </p:spTree>
    <p:extLst>
      <p:ext uri="{BB962C8B-B14F-4D97-AF65-F5344CB8AC3E}">
        <p14:creationId xmlns:p14="http://schemas.microsoft.com/office/powerpoint/2010/main" val="556104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Libraries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UTF-8 Support for Hex String Conversion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F4668-4F61-4CBE-AB39-265B74442340}"/>
              </a:ext>
            </a:extLst>
          </p:cNvPr>
          <p:cNvSpPr txBox="1"/>
          <p:nvPr/>
        </p:nvSpPr>
        <p:spPr>
          <a:xfrm>
            <a:off x="451488" y="4688766"/>
            <a:ext cx="10720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✅ What 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Direct UTF-8 → hex conversions.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Faster serialization/deserialization.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Useful for cryptography, networking, and binary protocols.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2DBDA-DE85-42E8-B2C6-C8C5C4450EC5}"/>
              </a:ext>
            </a:extLst>
          </p:cNvPr>
          <p:cNvSpPr txBox="1"/>
          <p:nvPr/>
        </p:nvSpPr>
        <p:spPr>
          <a:xfrm>
            <a:off x="451488" y="2771616"/>
            <a:ext cx="11013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The Convert class now supports 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UTF-8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spans for hex conversions, eliminating intermediate string allocations when converting between 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bytes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and 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hex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076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Libraries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Async ZIP APIs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F4668-4F61-4CBE-AB39-265B74442340}"/>
              </a:ext>
            </a:extLst>
          </p:cNvPr>
          <p:cNvSpPr txBox="1"/>
          <p:nvPr/>
        </p:nvSpPr>
        <p:spPr>
          <a:xfrm>
            <a:off x="451488" y="4800526"/>
            <a:ext cx="10720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✅ What 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Simpler, high-level APIs for WebSocket I/O.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Easy integration with </a:t>
            </a:r>
            <a:r>
              <a:rPr lang="en-US" altLang="en-US" sz="1600" i="1" dirty="0" err="1">
                <a:solidFill>
                  <a:schemeClr val="tx1"/>
                </a:solidFill>
                <a:latin typeface="Consolas" panose="020B0609020204030204" pitchFamily="49" charset="0"/>
                <a:cs typeface="Poppins" panose="00000500000000000000" pitchFamily="2" charset="-94"/>
              </a:rPr>
              <a:t>StreamReader</a:t>
            </a: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, </a:t>
            </a:r>
            <a:r>
              <a:rPr lang="en-US" altLang="en-US" sz="1600" i="1" dirty="0" err="1">
                <a:solidFill>
                  <a:schemeClr val="tx1"/>
                </a:solidFill>
                <a:latin typeface="Consolas" panose="020B0609020204030204" pitchFamily="49" charset="0"/>
                <a:cs typeface="Poppins" panose="00000500000000000000" pitchFamily="2" charset="-94"/>
              </a:rPr>
              <a:t>JsonSerializer</a:t>
            </a: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, and binary serializers.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Great for real-time apps, event-driven APIs, and microservices.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F160A-D03E-429C-8224-5D01BBE5AB88}"/>
              </a:ext>
            </a:extLst>
          </p:cNvPr>
          <p:cNvSpPr txBox="1"/>
          <p:nvPr/>
        </p:nvSpPr>
        <p:spPr>
          <a:xfrm>
            <a:off x="451488" y="2728893"/>
            <a:ext cx="11649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ZIP file handling now supports full async I/O — including create, extract, open, and update operations.</a:t>
            </a:r>
            <a:b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</a:b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All new APIs follow async patterns and support cancellation tokens.</a:t>
            </a:r>
          </a:p>
        </p:txBody>
      </p:sp>
    </p:spTree>
    <p:extLst>
      <p:ext uri="{BB962C8B-B14F-4D97-AF65-F5344CB8AC3E}">
        <p14:creationId xmlns:p14="http://schemas.microsoft.com/office/powerpoint/2010/main" val="3971018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Libraries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 err="1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ZipArchive</a:t>
            </a: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 Performance Improvements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F4668-4F61-4CBE-AB39-265B74442340}"/>
              </a:ext>
            </a:extLst>
          </p:cNvPr>
          <p:cNvSpPr txBox="1"/>
          <p:nvPr/>
        </p:nvSpPr>
        <p:spPr>
          <a:xfrm>
            <a:off x="451488" y="4709086"/>
            <a:ext cx="10720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✅ What 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Better performance in file-heavy workloads.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Lower memory usage when updating or extracting archives.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Ideal for tools, installers, and packaging systems</a:t>
            </a:r>
            <a:r>
              <a:rPr lang="en-US" altLang="en-US" sz="1600" b="1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DCCDD-AF4F-4DBB-962B-F750857838F3}"/>
              </a:ext>
            </a:extLst>
          </p:cNvPr>
          <p:cNvSpPr txBox="1"/>
          <p:nvPr/>
        </p:nvSpPr>
        <p:spPr>
          <a:xfrm>
            <a:off x="451488" y="2690336"/>
            <a:ext cx="108362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Reading, writing, and extracting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ZIP files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is now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faster and more memory-efficient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.</a:t>
            </a:r>
            <a:b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</a:b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Parallel extraction and reduced memory pressure significantly speed up large archive operations.</a:t>
            </a:r>
          </a:p>
        </p:txBody>
      </p:sp>
    </p:spTree>
    <p:extLst>
      <p:ext uri="{BB962C8B-B14F-4D97-AF65-F5344CB8AC3E}">
        <p14:creationId xmlns:p14="http://schemas.microsoft.com/office/powerpoint/2010/main" val="554498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Libraries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TLS 1.3 Support on macOS (Client)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F4668-4F61-4CBE-AB39-265B74442340}"/>
              </a:ext>
            </a:extLst>
          </p:cNvPr>
          <p:cNvSpPr txBox="1"/>
          <p:nvPr/>
        </p:nvSpPr>
        <p:spPr>
          <a:xfrm>
            <a:off x="451488" y="4646637"/>
            <a:ext cx="10720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✅ What 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Stronger security on macOS clients.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Faster and more efficient TLS handshakes.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Aligns macOS networking with Windows and Linux TLS 1.3 support.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2EC61-DA49-45BB-A1C4-A1532A1CA8F9}"/>
              </a:ext>
            </a:extLst>
          </p:cNvPr>
          <p:cNvSpPr txBox="1"/>
          <p:nvPr/>
        </p:nvSpPr>
        <p:spPr>
          <a:xfrm>
            <a:off x="451488" y="2832529"/>
            <a:ext cx="11222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.NET 10 adds 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TLS 1.3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for client-side networking on macOS by integrating Apple’s 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Network.framework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 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into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 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SslStream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 and 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HttpClient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.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</a:t>
            </a:r>
            <a:b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</a:b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Apps must opt in via code or environment variable.</a:t>
            </a:r>
          </a:p>
        </p:txBody>
      </p:sp>
    </p:spTree>
    <p:extLst>
      <p:ext uri="{BB962C8B-B14F-4D97-AF65-F5344CB8AC3E}">
        <p14:creationId xmlns:p14="http://schemas.microsoft.com/office/powerpoint/2010/main" val="3416393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Libraries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Diagnostics: Telemetry Schema URLs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F4668-4F61-4CBE-AB39-265B74442340}"/>
              </a:ext>
            </a:extLst>
          </p:cNvPr>
          <p:cNvSpPr txBox="1"/>
          <p:nvPr/>
        </p:nvSpPr>
        <p:spPr>
          <a:xfrm>
            <a:off x="451488" y="4719246"/>
            <a:ext cx="10720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✅ What 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Easier integration with 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OpenTelemetry</a:t>
            </a: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 pipelines.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Better interoperability with observability tools (Grafana, Prometheus, etc.).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Cleaner, schema-aware tracing in distributed systems.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6FD36-0064-4D90-B973-EF8C386FFED1}"/>
              </a:ext>
            </a:extLst>
          </p:cNvPr>
          <p:cNvSpPr txBox="1"/>
          <p:nvPr/>
        </p:nvSpPr>
        <p:spPr>
          <a:xfrm>
            <a:off x="451488" y="2832529"/>
            <a:ext cx="110902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ActivitySource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and 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Meter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now support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telemetry schema URLs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, aligning .NET with 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OpenTelemetry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standards for consistent metric and trace data.</a:t>
            </a:r>
          </a:p>
        </p:txBody>
      </p:sp>
    </p:spTree>
    <p:extLst>
      <p:ext uri="{BB962C8B-B14F-4D97-AF65-F5344CB8AC3E}">
        <p14:creationId xmlns:p14="http://schemas.microsoft.com/office/powerpoint/2010/main" val="2438013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Libraries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 err="1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OrderedDictionary</a:t>
            </a: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 Performance Boost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F4668-4F61-4CBE-AB39-265B74442340}"/>
              </a:ext>
            </a:extLst>
          </p:cNvPr>
          <p:cNvSpPr txBox="1"/>
          <p:nvPr/>
        </p:nvSpPr>
        <p:spPr>
          <a:xfrm>
            <a:off x="451488" y="4678606"/>
            <a:ext cx="10720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✅ What 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Up to 10–20% faster JSON property updates.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More efficient dictionary operations for developers using </a:t>
            </a:r>
            <a:r>
              <a:rPr lang="en-US" altLang="en-US" sz="1600" i="1" dirty="0" err="1">
                <a:solidFill>
                  <a:schemeClr val="tx1"/>
                </a:solidFill>
                <a:latin typeface="Consolas" panose="020B0609020204030204" pitchFamily="49" charset="0"/>
                <a:cs typeface="Poppins" panose="00000500000000000000" pitchFamily="2" charset="-94"/>
              </a:rPr>
              <a:t>OrderedDictionary</a:t>
            </a:r>
            <a:r>
              <a:rPr lang="en-US" altLang="en-US" sz="1600" dirty="0">
                <a:solidFill>
                  <a:schemeClr val="tx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6F483F-8943-4C06-997B-F490EB807F41}"/>
              </a:ext>
            </a:extLst>
          </p:cNvPr>
          <p:cNvSpPr txBox="1"/>
          <p:nvPr/>
        </p:nvSpPr>
        <p:spPr>
          <a:xfrm>
            <a:off x="451488" y="2709121"/>
            <a:ext cx="10937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New overloads for 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TryAdd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and 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TryGetValue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return entry indexes, improving updates and lookups (used internally by 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JsonObject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5754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0" y="3429000"/>
            <a:ext cx="121920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8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Runtime Improvements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72902-365B-4283-B448-C37470AA8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881" y="1250869"/>
            <a:ext cx="4186238" cy="158591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4639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Runtime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JIT Compiler: Faster Structs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683CEC-64DF-4F44-B633-39E3FF72DFC3}"/>
              </a:ext>
            </a:extLst>
          </p:cNvPr>
          <p:cNvSpPr txBox="1"/>
          <p:nvPr/>
        </p:nvSpPr>
        <p:spPr>
          <a:xfrm>
            <a:off x="451488" y="2381369"/>
            <a:ext cx="112528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In .NET 10, the JIT </a:t>
            </a:r>
            <a:r>
              <a:rPr lang="en-US" sz="1600" i="1" dirty="0">
                <a:latin typeface="Poppins" panose="00000500000000000000" pitchFamily="2" charset="-94"/>
                <a:cs typeface="Poppins" panose="00000500000000000000" pitchFamily="2" charset="-94"/>
              </a:rPr>
              <a:t>(Just-In-Time)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compiler got smarter about how it handles structs, especially when passing them to methods.</a:t>
            </a:r>
          </a:p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Previously, when you passed a struct, the JIT sometimes had to store the values in memory first, then load them into a CPU register before calling the method. This added unnecessary memory operations.</a:t>
            </a:r>
          </a:p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Now, with .NET 10, the JIT can put those struct members directly into CPU registers and no temporary memory steps!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804A8-E41B-47CB-BE9F-C3495B839346}"/>
              </a:ext>
            </a:extLst>
          </p:cNvPr>
          <p:cNvSpPr txBox="1"/>
          <p:nvPr/>
        </p:nvSpPr>
        <p:spPr>
          <a:xfrm>
            <a:off x="451488" y="4605497"/>
            <a:ext cx="112528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✅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What it means: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Less memory access → faster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More efficient generated assembly.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Small but meaningful performance gain in tight loops or high-frequency method calls.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168400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Runtime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JIT Compiler: Array Interface Method </a:t>
            </a:r>
            <a:r>
              <a:rPr lang="en-US" sz="3400" dirty="0" err="1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Devirtualization</a:t>
            </a:r>
            <a:endParaRPr lang="en-US" sz="3400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804A8-E41B-47CB-BE9F-C3495B839346}"/>
              </a:ext>
            </a:extLst>
          </p:cNvPr>
          <p:cNvSpPr txBox="1"/>
          <p:nvPr/>
        </p:nvSpPr>
        <p:spPr>
          <a:xfrm>
            <a:off x="451488" y="4905195"/>
            <a:ext cx="112528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✅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What it means: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foreach loops on arrays are now almost as fast as for loops.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Better </a:t>
            </a:r>
            <a:r>
              <a:rPr lang="en-US" sz="1600" dirty="0" err="1">
                <a:latin typeface="Poppins" panose="00000500000000000000" pitchFamily="2" charset="-94"/>
                <a:cs typeface="Poppins" panose="00000500000000000000" pitchFamily="2" charset="-94"/>
              </a:rPr>
              <a:t>inlining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and stack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Step toward eliminating unnecessary abstraction costs in .NET.</a:t>
            </a:r>
            <a:endParaRPr lang="en-US" sz="1600" b="1" dirty="0">
              <a:latin typeface="Poppins" panose="00000500000000000000" pitchFamily="2" charset="-94"/>
              <a:cs typeface="Poppins" panose="00000500000000000000" pitchFamily="2" charset="-9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E0DC0-0059-4D4F-83E0-6880B721DEA4}"/>
              </a:ext>
            </a:extLst>
          </p:cNvPr>
          <p:cNvSpPr txBox="1"/>
          <p:nvPr/>
        </p:nvSpPr>
        <p:spPr>
          <a:xfrm>
            <a:off x="353376" y="2100033"/>
            <a:ext cx="1168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The JIT compiler got better at removing unnecessary abstraction overhead, especially for arrays used through interfaces like 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IEnumerable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&lt;T&gt;</a:t>
            </a:r>
            <a:r>
              <a:rPr lang="en-US" sz="1600" i="1" dirty="0">
                <a:latin typeface="Poppins" panose="00000500000000000000" pitchFamily="2" charset="-94"/>
                <a:cs typeface="Poppins" panose="00000500000000000000" pitchFamily="2" charset="-94"/>
              </a:rPr>
              <a:t>.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Normally, when you loop over an array directly like 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for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, the JIT can fully optimize it.</a:t>
            </a:r>
            <a:b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</a:b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But when you loop through an interface 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foreach (var x in (</a:t>
            </a:r>
            <a:r>
              <a:rPr lang="en-US" sz="1600" i="1" dirty="0" err="1">
                <a:latin typeface="Consolas" panose="020B0609020204030204" pitchFamily="49" charset="0"/>
                <a:cs typeface="Poppins" panose="00000500000000000000" pitchFamily="2" charset="-94"/>
              </a:rPr>
              <a:t>IEnumerable</a:t>
            </a:r>
            <a:r>
              <a:rPr lang="en-US" sz="1600" i="1" dirty="0">
                <a:latin typeface="Consolas" panose="020B0609020204030204" pitchFamily="49" charset="0"/>
                <a:cs typeface="Poppins" panose="00000500000000000000" pitchFamily="2" charset="-94"/>
              </a:rPr>
              <a:t>&lt;int&gt;)array)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, those interface calls are virtual, which slows things down and blocks other optimizations like </a:t>
            </a:r>
            <a:r>
              <a:rPr lang="en-US" sz="1600" b="1" dirty="0" err="1">
                <a:latin typeface="Poppins" panose="00000500000000000000" pitchFamily="2" charset="-94"/>
                <a:cs typeface="Poppins" panose="00000500000000000000" pitchFamily="2" charset="-94"/>
              </a:rPr>
              <a:t>inlining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.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With .NET 10, the JIT can now </a:t>
            </a:r>
            <a:r>
              <a:rPr lang="en-US" sz="1600" b="1" dirty="0" err="1">
                <a:latin typeface="Poppins" panose="00000500000000000000" pitchFamily="2" charset="-94"/>
                <a:cs typeface="Poppins" panose="00000500000000000000" pitchFamily="2" charset="-94"/>
              </a:rPr>
              <a:t>devirtualize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these array interface method calls — meaning it recognizes that it’s actually dealing with a real array and skips the virtual call overhead.</a:t>
            </a:r>
          </a:p>
        </p:txBody>
      </p:sp>
    </p:spTree>
    <p:extLst>
      <p:ext uri="{BB962C8B-B14F-4D97-AF65-F5344CB8AC3E}">
        <p14:creationId xmlns:p14="http://schemas.microsoft.com/office/powerpoint/2010/main" val="677971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66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Runtime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JIT Compiler: Array Enumeration De-abstraction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en-US" sz="3400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EFF4A-70B0-4984-9E05-0EDA83B74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8" y="4708583"/>
            <a:ext cx="104705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✅ What this means:</a:t>
            </a:r>
          </a:p>
          <a:p>
            <a:endParaRPr lang="en-US" altLang="en-US" sz="1600" b="1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foreach over arrays is now closer in performance to for loops.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Fewer heap allocations → less GC pressure.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Smoother iteration for collections and LINQ operations</a:t>
            </a:r>
          </a:p>
          <a:p>
            <a:endParaRPr lang="en-US" alt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D29F5-8023-44AF-9243-089F0653A3B2}"/>
              </a:ext>
            </a:extLst>
          </p:cNvPr>
          <p:cNvSpPr txBox="1"/>
          <p:nvPr/>
        </p:nvSpPr>
        <p:spPr>
          <a:xfrm>
            <a:off x="451488" y="2780882"/>
            <a:ext cx="10551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>
                <a:latin typeface="Poppins" panose="00000500000000000000" pitchFamily="2" charset="-94"/>
                <a:cs typeface="Poppins" panose="00000500000000000000" pitchFamily="2" charset="-94"/>
              </a:defRPr>
            </a:lvl1pPr>
          </a:lstStyle>
          <a:p>
            <a:r>
              <a:rPr lang="en-US" altLang="en-US" dirty="0"/>
              <a:t>NET 10 continues reducing the hidden overhead in foreach loops over arrays and </a:t>
            </a:r>
            <a:r>
              <a:rPr lang="en-US" altLang="en-US" i="1" dirty="0" err="1">
                <a:latin typeface="Consolas" panose="020B0609020204030204" pitchFamily="49" charset="0"/>
              </a:rPr>
              <a:t>IEnumerable</a:t>
            </a:r>
            <a:r>
              <a:rPr lang="en-US" altLang="en-US" dirty="0"/>
              <a:t> types.</a:t>
            </a:r>
            <a:br>
              <a:rPr lang="en-US" altLang="en-US" dirty="0"/>
            </a:br>
            <a:r>
              <a:rPr lang="en-US" altLang="en-US" dirty="0"/>
              <a:t>The JIT can now inline and stack-allocate array enumerators more effectively, minimizing allocations and improving loop speed.</a:t>
            </a:r>
          </a:p>
        </p:txBody>
      </p:sp>
    </p:spTree>
    <p:extLst>
      <p:ext uri="{BB962C8B-B14F-4D97-AF65-F5344CB8AC3E}">
        <p14:creationId xmlns:p14="http://schemas.microsoft.com/office/powerpoint/2010/main" val="3994898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Runtime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JIT Compiler: Improved Code Layout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66947-2DFA-49A8-912D-89C58B64CD3F}"/>
              </a:ext>
            </a:extLst>
          </p:cNvPr>
          <p:cNvSpPr txBox="1"/>
          <p:nvPr/>
        </p:nvSpPr>
        <p:spPr>
          <a:xfrm>
            <a:off x="502288" y="2758778"/>
            <a:ext cx="1126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The JIT now uses a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smarter algorithm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(</a:t>
            </a:r>
            <a:r>
              <a:rPr lang="en-US" sz="1600" i="1" dirty="0">
                <a:latin typeface="Poppins" panose="00000500000000000000" pitchFamily="2" charset="-94"/>
                <a:cs typeface="Poppins" panose="00000500000000000000" pitchFamily="2" charset="-94"/>
              </a:rPr>
              <a:t>based on a 3-opt Traveling Salesman heuristic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) to organize compiled code. This ensures that “</a:t>
            </a:r>
            <a:r>
              <a:rPr lang="en-US" sz="1600" i="1" dirty="0">
                <a:latin typeface="Poppins" panose="00000500000000000000" pitchFamily="2" charset="-94"/>
                <a:cs typeface="Poppins" panose="00000500000000000000" pitchFamily="2" charset="-94"/>
              </a:rPr>
              <a:t>hot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” execution paths are placed close together in memory, improving branch prediction and cache efficiency.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67421-1CA9-466F-A8B4-09E09370CD28}"/>
              </a:ext>
            </a:extLst>
          </p:cNvPr>
          <p:cNvSpPr txBox="1"/>
          <p:nvPr/>
        </p:nvSpPr>
        <p:spPr>
          <a:xfrm>
            <a:off x="493392" y="4745357"/>
            <a:ext cx="10678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✅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What this means: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Faster method execution due to better CPU instruction locality.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Light performance gains for apps with complex branching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Automatically optimized code layout — no developer action needed.</a:t>
            </a:r>
          </a:p>
        </p:txBody>
      </p:sp>
    </p:spTree>
    <p:extLst>
      <p:ext uri="{BB962C8B-B14F-4D97-AF65-F5344CB8AC3E}">
        <p14:creationId xmlns:p14="http://schemas.microsoft.com/office/powerpoint/2010/main" val="2270000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Runtime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JIT Compiler: </a:t>
            </a:r>
            <a:r>
              <a:rPr lang="en-US" sz="3400" dirty="0" err="1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Inlining</a:t>
            </a: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 Improvements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AC3717-CC29-43C0-8A18-CECA140D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8" y="4590921"/>
            <a:ext cx="1119187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aggressive and intelligent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inlining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faster method calls.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optimization in real-world (hot-path) code.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overhead for frequently executed helper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8F229-5733-46F3-953E-01CEC2EBD28F}"/>
              </a:ext>
            </a:extLst>
          </p:cNvPr>
          <p:cNvSpPr txBox="1"/>
          <p:nvPr/>
        </p:nvSpPr>
        <p:spPr>
          <a:xfrm>
            <a:off x="451488" y="2767281"/>
            <a:ext cx="11354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NET 10 broadens what the JIT can inline, including methods with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Poppins" panose="00000500000000000000" pitchFamily="2" charset="-94"/>
              </a:rPr>
              <a:t>try-finally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, those discovered after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devirtualization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, and small array-returning methods.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It also uses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runtime profile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 to decide more intelligently when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inlining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94"/>
                <a:cs typeface="Poppins" panose="00000500000000000000" pitchFamily="2" charset="-94"/>
              </a:rPr>
              <a:t> is worthwhile.</a:t>
            </a:r>
          </a:p>
        </p:txBody>
      </p:sp>
    </p:spTree>
    <p:extLst>
      <p:ext uri="{BB962C8B-B14F-4D97-AF65-F5344CB8AC3E}">
        <p14:creationId xmlns:p14="http://schemas.microsoft.com/office/powerpoint/2010/main" val="2445438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Runtime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Stack allocation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04402E-E46E-4C6E-8AD2-6A75AB04CCDB}"/>
              </a:ext>
            </a:extLst>
          </p:cNvPr>
          <p:cNvSpPr txBox="1"/>
          <p:nvPr/>
        </p:nvSpPr>
        <p:spPr>
          <a:xfrm>
            <a:off x="375920" y="2428706"/>
            <a:ext cx="112166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Stack allocation is now smarter and more widely applied.</a:t>
            </a:r>
            <a:b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</a:b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.NET 10 introduces stack allocation for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small arrays of both value and reference types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, and adds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escape analysis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for local struct fields and delegates — letting more short-lived objects live on the stack instead of the heap.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2143E3-9173-4564-AC4F-4A032677E69C}"/>
              </a:ext>
            </a:extLst>
          </p:cNvPr>
          <p:cNvSpPr txBox="1"/>
          <p:nvPr/>
        </p:nvSpPr>
        <p:spPr>
          <a:xfrm>
            <a:off x="451488" y="4577655"/>
            <a:ext cx="107956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✅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What this means: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Fewer heap allocations → less GC work and faster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Temporary arrays and delegates are now cheaper to create.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Significant performance boost in tight loops and short-lived operations.</a:t>
            </a:r>
          </a:p>
        </p:txBody>
      </p:sp>
    </p:spTree>
    <p:extLst>
      <p:ext uri="{BB962C8B-B14F-4D97-AF65-F5344CB8AC3E}">
        <p14:creationId xmlns:p14="http://schemas.microsoft.com/office/powerpoint/2010/main" val="862197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Runtime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Stack allocation: Escape Analysis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C5C58-3121-4F59-A9BF-C5B28AE6298B}"/>
              </a:ext>
            </a:extLst>
          </p:cNvPr>
          <p:cNvSpPr txBox="1"/>
          <p:nvPr/>
        </p:nvSpPr>
        <p:spPr>
          <a:xfrm>
            <a:off x="451488" y="2844225"/>
            <a:ext cx="11080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The JIT can now track whether objects stored inside structs or delegates “escape” their method scope.</a:t>
            </a:r>
            <a:b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</a:b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If they don’t, those objects can be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stack-allocated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safely.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D0A6E-B94E-4E30-8A2B-F40B7F6F692A}"/>
              </a:ext>
            </a:extLst>
          </p:cNvPr>
          <p:cNvSpPr txBox="1"/>
          <p:nvPr/>
        </p:nvSpPr>
        <p:spPr>
          <a:xfrm>
            <a:off x="451488" y="4757599"/>
            <a:ext cx="10720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✅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What this means: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Less heap allocation for structs and lambda expressions.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Reduced GC activity and lower memory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Cleaner, faster execution of methods using local structs or small lambdas.</a:t>
            </a:r>
          </a:p>
        </p:txBody>
      </p:sp>
    </p:spTree>
    <p:extLst>
      <p:ext uri="{BB962C8B-B14F-4D97-AF65-F5344CB8AC3E}">
        <p14:creationId xmlns:p14="http://schemas.microsoft.com/office/powerpoint/2010/main" val="186455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451488" y="464463"/>
            <a:ext cx="10720064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.NET Runtime Improvements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34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Arm64 write-barrier improvements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095CC8-9F6F-4415-97F1-23407E3B8F48}"/>
              </a:ext>
            </a:extLst>
          </p:cNvPr>
          <p:cNvSpPr txBox="1"/>
          <p:nvPr/>
        </p:nvSpPr>
        <p:spPr>
          <a:xfrm>
            <a:off x="451488" y="2856339"/>
            <a:ext cx="110801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Arm64 Write-Barrier Improvements</a:t>
            </a:r>
          </a:p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The garbage collector’s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write-barrier logic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(which tracks references between generations) is now smarter on Arm64 processors.</a:t>
            </a:r>
            <a:b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</a:b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It reduces unnecessary scanning of memory regions during GC cycles.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0E1EA-C7BC-4506-9FA5-01EBD7CB9467}"/>
              </a:ext>
            </a:extLst>
          </p:cNvPr>
          <p:cNvSpPr txBox="1"/>
          <p:nvPr/>
        </p:nvSpPr>
        <p:spPr>
          <a:xfrm>
            <a:off x="451488" y="4902667"/>
            <a:ext cx="109480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✅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What this means:</a:t>
            </a:r>
          </a:p>
          <a:p>
            <a:endParaRPr lang="en-US" sz="16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Faster and smoother garbage collection on Arm64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Up to </a:t>
            </a:r>
            <a:r>
              <a:rPr lang="en-US" sz="1600" b="1" dirty="0">
                <a:latin typeface="Poppins" panose="00000500000000000000" pitchFamily="2" charset="-94"/>
                <a:cs typeface="Poppins" panose="00000500000000000000" pitchFamily="2" charset="-94"/>
              </a:rPr>
              <a:t>8–20% shorter GC pauses</a:t>
            </a: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 in some workloads.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94"/>
                <a:cs typeface="Poppins" panose="00000500000000000000" pitchFamily="2" charset="-94"/>
              </a:rPr>
              <a:t>Better .NET performance on ARM-based servers and devices</a:t>
            </a:r>
          </a:p>
        </p:txBody>
      </p:sp>
    </p:spTree>
    <p:extLst>
      <p:ext uri="{BB962C8B-B14F-4D97-AF65-F5344CB8AC3E}">
        <p14:creationId xmlns:p14="http://schemas.microsoft.com/office/powerpoint/2010/main" val="2626706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B756D3-8C86-4ABC-A910-4917C7D2F996}"/>
              </a:ext>
            </a:extLst>
          </p:cNvPr>
          <p:cNvSpPr txBox="1"/>
          <p:nvPr/>
        </p:nvSpPr>
        <p:spPr>
          <a:xfrm>
            <a:off x="0" y="1274137"/>
            <a:ext cx="1226312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Black Friday Discount </a:t>
            </a:r>
            <a:br>
              <a:rPr lang="en-US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US" sz="40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valid until </a:t>
            </a:r>
          </a:p>
          <a:p>
            <a:pPr algn="ctr"/>
            <a:r>
              <a:rPr lang="en-US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US" sz="4000" b="1" baseline="300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r>
              <a:rPr lang="en-US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 December 2025</a:t>
            </a:r>
          </a:p>
          <a:p>
            <a:pPr algn="ctr"/>
            <a:r>
              <a:rPr lang="en-US" sz="4000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including</a:t>
            </a:r>
          </a:p>
          <a:p>
            <a:pPr algn="ctr"/>
            <a:r>
              <a:rPr lang="en-US" sz="3600" b="1" dirty="0">
                <a:solidFill>
                  <a:srgbClr val="292D33"/>
                </a:solidFill>
                <a:latin typeface="Lexend"/>
                <a:sym typeface="Lexend"/>
              </a:rPr>
              <a:t>+ New license purchase </a:t>
            </a:r>
            <a:br>
              <a:rPr lang="en-US" sz="3600" b="1" dirty="0">
                <a:solidFill>
                  <a:srgbClr val="292D33"/>
                </a:solidFill>
                <a:latin typeface="Lexend"/>
                <a:sym typeface="Lexend"/>
              </a:rPr>
            </a:br>
            <a:r>
              <a:rPr lang="en-US" sz="3600" b="1" dirty="0">
                <a:solidFill>
                  <a:srgbClr val="292D33"/>
                </a:solidFill>
                <a:latin typeface="Lexend"/>
                <a:sym typeface="Lexend"/>
              </a:rPr>
              <a:t>+ License renewals </a:t>
            </a:r>
            <a:br>
              <a:rPr lang="en-US" sz="3600" b="1" dirty="0">
                <a:solidFill>
                  <a:srgbClr val="292D33"/>
                </a:solidFill>
                <a:latin typeface="Lexend"/>
                <a:sym typeface="Lexend"/>
              </a:rPr>
            </a:br>
            <a:r>
              <a:rPr lang="en-US" sz="3600" b="1" dirty="0">
                <a:solidFill>
                  <a:srgbClr val="292D33"/>
                </a:solidFill>
                <a:latin typeface="Lexend"/>
                <a:sym typeface="Lexend"/>
              </a:rPr>
              <a:t>+ Extra developer seats</a:t>
            </a:r>
          </a:p>
          <a:p>
            <a:pPr algn="ctr"/>
            <a:r>
              <a:rPr lang="en-US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</a:p>
          <a:p>
            <a:pPr algn="ctr"/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1485</Words>
  <Application>Microsoft Office PowerPoint</Application>
  <PresentationFormat>Widescreen</PresentationFormat>
  <Paragraphs>159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Play</vt:lpstr>
      <vt:lpstr>Poppins Medium</vt:lpstr>
      <vt:lpstr>Lexend</vt:lpstr>
      <vt:lpstr>Poppins</vt:lpstr>
      <vt:lpstr>Consolas</vt:lpstr>
      <vt:lpstr>Office Teması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Volosoft Bilisim</dc:creator>
  <cp:lastModifiedBy>Alper Ebiçoğlu</cp:lastModifiedBy>
  <cp:revision>71</cp:revision>
  <dcterms:created xsi:type="dcterms:W3CDTF">2024-10-07T11:11:00Z</dcterms:created>
  <dcterms:modified xsi:type="dcterms:W3CDTF">2025-11-10T06:45:56Z</dcterms:modified>
</cp:coreProperties>
</file>