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25"/>
  </p:notesMasterIdLst>
  <p:sldIdLst>
    <p:sldId id="302" r:id="rId2"/>
    <p:sldId id="303" r:id="rId3"/>
    <p:sldId id="256" r:id="rId4"/>
    <p:sldId id="299" r:id="rId5"/>
    <p:sldId id="290" r:id="rId6"/>
    <p:sldId id="297" r:id="rId7"/>
    <p:sldId id="296" r:id="rId8"/>
    <p:sldId id="295" r:id="rId9"/>
    <p:sldId id="298" r:id="rId10"/>
    <p:sldId id="294" r:id="rId11"/>
    <p:sldId id="293" r:id="rId12"/>
    <p:sldId id="292" r:id="rId13"/>
    <p:sldId id="301" r:id="rId14"/>
    <p:sldId id="257" r:id="rId15"/>
    <p:sldId id="276" r:id="rId16"/>
    <p:sldId id="277" r:id="rId17"/>
    <p:sldId id="282" r:id="rId18"/>
    <p:sldId id="281" r:id="rId19"/>
    <p:sldId id="278" r:id="rId20"/>
    <p:sldId id="280" r:id="rId21"/>
    <p:sldId id="279" r:id="rId22"/>
    <p:sldId id="304" r:id="rId23"/>
    <p:sldId id="305" r:id="rId24"/>
  </p:sldIdLst>
  <p:sldSz cx="12192000" cy="6858000"/>
  <p:notesSz cx="6858000" cy="9144000"/>
  <p:embeddedFontLst>
    <p:embeddedFont>
      <p:font typeface="Bradley Hand ITC" panose="03070402050302030203" pitchFamily="66" charset="0"/>
      <p:regular r:id="rId26"/>
    </p:embeddedFont>
    <p:embeddedFont>
      <p:font typeface="Consolas" panose="020B0609020204030204" pitchFamily="49" charset="0"/>
      <p:regular r:id="rId27"/>
      <p:bold r:id="rId28"/>
      <p:italic r:id="rId29"/>
      <p:boldItalic r:id="rId30"/>
    </p:embeddedFont>
    <p:embeddedFont>
      <p:font typeface="Kalam" panose="02000000000000000000" pitchFamily="2" charset="-94"/>
      <p:regular r:id="rId31"/>
    </p:embeddedFont>
    <p:embeddedFont>
      <p:font typeface="Lexend" panose="020B0604020202020204" charset="-94"/>
      <p:regular r:id="rId32"/>
      <p:bold r:id="rId33"/>
    </p:embeddedFont>
    <p:embeddedFont>
      <p:font typeface="Play" panose="020B0604020202020204" charset="0"/>
      <p:regular r:id="rId34"/>
      <p:bold r:id="rId35"/>
    </p:embeddedFont>
    <p:embeddedFont>
      <p:font typeface="Poppins" panose="00000500000000000000" pitchFamily="2" charset="-94"/>
      <p:regular r:id="rId36"/>
      <p:bold r:id="rId37"/>
      <p:italic r:id="rId38"/>
      <p:boldItalic r:id="rId39"/>
    </p:embeddedFont>
    <p:embeddedFont>
      <p:font typeface="Poppins Medium" panose="00000600000000000000" pitchFamily="2" charset="-94"/>
      <p:regular r:id="rId40"/>
      <p:bold r:id="rId41"/>
      <p:italic r:id="rId42"/>
      <p:boldItalic r:id="rId43"/>
    </p:embeddedFont>
    <p:embeddedFont>
      <p:font typeface="Segoe UI" panose="020B0502040204020203" pitchFamily="34" charset="0"/>
      <p:regular r:id="rId44"/>
      <p:bold r:id="rId45"/>
      <p:italic r:id="rId46"/>
      <p:boldItalic r:id="rId4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48" roundtripDataSignature="AMtx7mihNSh0nE7P5bmNZynwZ07PSv3TUg=="/>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F1F1F"/>
    <a:srgbClr val="A646A0"/>
    <a:srgbClr val="D4D2C8"/>
    <a:srgbClr val="4691C9"/>
    <a:srgbClr val="467886"/>
    <a:srgbClr val="292D33"/>
    <a:srgbClr val="21284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353" autoAdjust="0"/>
    <p:restoredTop sz="73561" autoAdjust="0"/>
  </p:normalViewPr>
  <p:slideViewPr>
    <p:cSldViewPr snapToGrid="0">
      <p:cViewPr varScale="1">
        <p:scale>
          <a:sx n="84" d="100"/>
          <a:sy n="84" d="100"/>
        </p:scale>
        <p:origin x="1554"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1.fntdata"/><Relationship Id="rId39" Type="http://schemas.openxmlformats.org/officeDocument/2006/relationships/font" Target="fonts/font14.fntdata"/><Relationship Id="rId21" Type="http://schemas.openxmlformats.org/officeDocument/2006/relationships/slide" Target="slides/slide20.xml"/><Relationship Id="rId34" Type="http://schemas.openxmlformats.org/officeDocument/2006/relationships/font" Target="fonts/font9.fntdata"/><Relationship Id="rId42" Type="http://schemas.openxmlformats.org/officeDocument/2006/relationships/font" Target="fonts/font17.fntdata"/><Relationship Id="rId47" Type="http://schemas.openxmlformats.org/officeDocument/2006/relationships/font" Target="fonts/font22.fntdata"/><Relationship Id="rId50"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font" Target="fonts/font4.fntdata"/><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7.fntdata"/><Relationship Id="rId37" Type="http://schemas.openxmlformats.org/officeDocument/2006/relationships/font" Target="fonts/font12.fntdata"/><Relationship Id="rId40" Type="http://schemas.openxmlformats.org/officeDocument/2006/relationships/font" Target="fonts/font15.fntdata"/><Relationship Id="rId45" Type="http://schemas.openxmlformats.org/officeDocument/2006/relationships/font" Target="fonts/font20.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3.fntdata"/><Relationship Id="rId36" Type="http://schemas.openxmlformats.org/officeDocument/2006/relationships/font" Target="fonts/font11.fntdata"/><Relationship Id="rId49"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6.fntdata"/><Relationship Id="rId44" Type="http://schemas.openxmlformats.org/officeDocument/2006/relationships/font" Target="fonts/font19.fntdata"/><Relationship Id="rId52"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2.fntdata"/><Relationship Id="rId30" Type="http://schemas.openxmlformats.org/officeDocument/2006/relationships/font" Target="fonts/font5.fntdata"/><Relationship Id="rId35" Type="http://schemas.openxmlformats.org/officeDocument/2006/relationships/font" Target="fonts/font10.fntdata"/><Relationship Id="rId43" Type="http://schemas.openxmlformats.org/officeDocument/2006/relationships/font" Target="fonts/font18.fntdata"/><Relationship Id="rId48" Type="http://customschemas.google.com/relationships/presentationmetadata" Target="metadata"/><Relationship Id="rId8" Type="http://schemas.openxmlformats.org/officeDocument/2006/relationships/slide" Target="slides/slide7.xml"/><Relationship Id="rId51"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33" Type="http://schemas.openxmlformats.org/officeDocument/2006/relationships/font" Target="fonts/font8.fntdata"/><Relationship Id="rId38" Type="http://schemas.openxmlformats.org/officeDocument/2006/relationships/font" Target="fonts/font13.fntdata"/><Relationship Id="rId46" Type="http://schemas.openxmlformats.org/officeDocument/2006/relationships/font" Target="fonts/font21.fntdata"/><Relationship Id="rId20" Type="http://schemas.openxmlformats.org/officeDocument/2006/relationships/slide" Target="slides/slide19.xml"/><Relationship Id="rId41" Type="http://schemas.openxmlformats.org/officeDocument/2006/relationships/font" Target="fonts/font16.fntdata"/><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tr-TR" sz="1200" b="0" i="0" u="none" strike="noStrike" cap="none">
                <a:solidFill>
                  <a:schemeClr val="dk1"/>
                </a:solidFill>
                <a:latin typeface="Arial"/>
                <a:ea typeface="Arial"/>
                <a:cs typeface="Arial"/>
                <a:sym typeface="Arial"/>
              </a:rPr>
              <a:t>‹#›</a:t>
            </a:fld>
            <a:endParaRPr sz="1200" b="0" i="0" u="none" strike="noStrike" cap="none">
              <a:solidFill>
                <a:schemeClr val="dk1"/>
              </a:solidFill>
              <a:latin typeface="Arial"/>
              <a:ea typeface="Arial"/>
              <a:cs typeface="Arial"/>
              <a:sym typeface="Arial"/>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3" Type="http://schemas.openxmlformats.org/officeDocument/2006/relationships/hyperlink" Target="https://learn.microsoft.com/en-us/dotnet/api/system.io.compression.ziparchiveentry" TargetMode="External"/><Relationship Id="rId2" Type="http://schemas.openxmlformats.org/officeDocument/2006/relationships/slide" Target="../slides/slide9.xml"/><Relationship Id="rId1" Type="http://schemas.openxmlformats.org/officeDocument/2006/relationships/notesMaster" Target="../notesMasters/notesMaster1.xml"/><Relationship Id="rId4" Type="http://schemas.openxmlformats.org/officeDocument/2006/relationships/hyperlink" Target="https://learn.microsoft.com/en-us/dotnet/api/system.io.compression.ziparchive" TargetMode="External"/></Relationships>
</file>

<file path=ppt/notesSlides/_rels/notesSlide10.xml.rels><?xml version="1.0" encoding="UTF-8" standalone="yes"?>
<Relationships xmlns="http://schemas.openxmlformats.org/package/2006/relationships"><Relationship Id="rId3" Type="http://schemas.openxmlformats.org/officeDocument/2006/relationships/hyperlink" Target="https://learn.microsoft.com/en-us/dotnet/api/system.net.security.sslstream" TargetMode="External"/><Relationship Id="rId2" Type="http://schemas.openxmlformats.org/officeDocument/2006/relationships/slide" Target="../slides/slide10.xml"/><Relationship Id="rId1" Type="http://schemas.openxmlformats.org/officeDocument/2006/relationships/notesMaster" Target="../notesMasters/notesMaster1.xml"/><Relationship Id="rId4" Type="http://schemas.openxmlformats.org/officeDocument/2006/relationships/hyperlink" Target="https://learn.microsoft.com/en-us/dotnet/api/system.net.http.httpclient" TargetMode="Externa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sz="1900" dirty="0">
              <a:latin typeface="Poppins"/>
              <a:ea typeface="Poppins"/>
              <a:cs typeface="Poppins"/>
              <a:sym typeface="Poppins"/>
            </a:endParaRPr>
          </a:p>
        </p:txBody>
      </p:sp>
      <p:sp>
        <p:nvSpPr>
          <p:cNvPr id="105" name="Google Shape;105;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6363539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idx="12"/>
          </p:nvPr>
        </p:nvSpPr>
        <p:spPr/>
        <p:txBody>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tr-TR" sz="1200" b="0" i="0" u="none" strike="noStrike" cap="none" smtClean="0">
                <a:solidFill>
                  <a:schemeClr val="dk1"/>
                </a:solidFill>
                <a:latin typeface="Arial"/>
                <a:ea typeface="Arial"/>
                <a:cs typeface="Arial"/>
                <a:sym typeface="Arial"/>
              </a:rPr>
              <a:t>2</a:t>
            </a:fld>
            <a:endParaRPr lang="tr-TR" sz="1200" b="0" i="0" u="none" strike="noStrike" cap="none">
              <a:solidFill>
                <a:schemeClr val="dk1"/>
              </a:solidFill>
              <a:latin typeface="Arial"/>
              <a:ea typeface="Arial"/>
              <a:cs typeface="Arial"/>
              <a:sym typeface="Arial"/>
            </a:endParaRPr>
          </a:p>
        </p:txBody>
      </p:sp>
    </p:spTree>
    <p:extLst>
      <p:ext uri="{BB962C8B-B14F-4D97-AF65-F5344CB8AC3E}">
        <p14:creationId xmlns:p14="http://schemas.microsoft.com/office/powerpoint/2010/main" val="322577599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1200"/>
              </a:spcBef>
              <a:spcAft>
                <a:spcPts val="0"/>
              </a:spcAft>
              <a:buSzPts val="1400"/>
              <a:buNone/>
            </a:pPr>
            <a:endParaRPr dirty="0"/>
          </a:p>
        </p:txBody>
      </p:sp>
      <p:sp>
        <p:nvSpPr>
          <p:cNvPr id="86" name="Google Shape;86;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r>
              <a:rPr lang="en-US" sz="3200" dirty="0"/>
              <a:t>.NET 10 introduces </a:t>
            </a:r>
            <a:r>
              <a:rPr lang="en-US" sz="3200" b="1" dirty="0"/>
              <a:t>quantum-resistant cryptography</a:t>
            </a:r>
            <a:r>
              <a:rPr lang="en-US" sz="3200" dirty="0"/>
              <a:t>, adding support for </a:t>
            </a:r>
            <a:r>
              <a:rPr lang="en-US" sz="3200" b="1" dirty="0"/>
              <a:t>ML-KEM</a:t>
            </a:r>
            <a:r>
              <a:rPr lang="en-US" sz="3200" dirty="0"/>
              <a:t>, </a:t>
            </a:r>
            <a:r>
              <a:rPr lang="en-US" sz="3200" b="1" dirty="0"/>
              <a:t>ML-DSA</a:t>
            </a:r>
            <a:r>
              <a:rPr lang="en-US" sz="3200" dirty="0"/>
              <a:t>, and </a:t>
            </a:r>
            <a:r>
              <a:rPr lang="en-US" sz="3200" b="1" dirty="0"/>
              <a:t>SLH-DSA</a:t>
            </a:r>
            <a:r>
              <a:rPr lang="en-US" sz="3200" dirty="0"/>
              <a:t>. These new algorithms help future-proof .NET applications against threats from quantum computing. Developers can access them through new APIs under </a:t>
            </a:r>
            <a:r>
              <a:rPr lang="en-US" sz="3200" b="1" dirty="0" err="1"/>
              <a:t>System.Security.Cryptography</a:t>
            </a:r>
            <a:r>
              <a:rPr lang="en-US" sz="3200" dirty="0"/>
              <a:t>, as long as the underlying OS provides PQC support (e.g., </a:t>
            </a:r>
            <a:r>
              <a:rPr lang="en-US" sz="3200" b="1" dirty="0"/>
              <a:t>OpenSSL 3.5+</a:t>
            </a:r>
            <a:r>
              <a:rPr lang="en-US" sz="3200" dirty="0"/>
              <a:t> or </a:t>
            </a:r>
            <a:r>
              <a:rPr lang="en-US" sz="3200" b="1" dirty="0"/>
              <a:t>Windows CNG</a:t>
            </a:r>
            <a:r>
              <a:rPr lang="en-US" sz="3200" dirty="0"/>
              <a:t>).</a:t>
            </a:r>
            <a:endParaRPr sz="1900" dirty="0">
              <a:latin typeface="Poppins"/>
              <a:ea typeface="Poppins"/>
              <a:cs typeface="Poppins"/>
              <a:sym typeface="Poppins"/>
            </a:endParaRPr>
          </a:p>
        </p:txBody>
      </p:sp>
      <p:sp>
        <p:nvSpPr>
          <p:cNvPr id="105" name="Google Shape;105;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2451672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sz="1900" dirty="0">
              <a:latin typeface="Poppins"/>
              <a:ea typeface="Poppins"/>
              <a:cs typeface="Poppins"/>
              <a:sym typeface="Poppins"/>
            </a:endParaRPr>
          </a:p>
        </p:txBody>
      </p:sp>
      <p:sp>
        <p:nvSpPr>
          <p:cNvPr id="105" name="Google Shape;105;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7309317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50000"/>
              </a:lnSpc>
              <a:spcBef>
                <a:spcPts val="0"/>
              </a:spcBef>
              <a:spcAft>
                <a:spcPts val="0"/>
              </a:spcAft>
              <a:buClr>
                <a:schemeClr val="dk1"/>
              </a:buClr>
              <a:buSzPts val="1100"/>
              <a:buFont typeface="Arial"/>
              <a:buNone/>
              <a:tabLst/>
              <a:defRPr/>
            </a:pPr>
            <a:r>
              <a:rPr lang="en-US" sz="2000" dirty="0">
                <a:latin typeface="Poppins" panose="00000500000000000000" pitchFamily="2" charset="-94"/>
                <a:cs typeface="Poppins" panose="00000500000000000000" pitchFamily="2" charset="-94"/>
              </a:rPr>
              <a:t>String normalization now works with </a:t>
            </a:r>
            <a:r>
              <a:rPr lang="en-US" sz="2000" i="1" dirty="0" err="1">
                <a:latin typeface="Consolas" panose="020B0609020204030204" pitchFamily="49" charset="0"/>
                <a:cs typeface="Poppins" panose="00000500000000000000" pitchFamily="2" charset="-94"/>
              </a:rPr>
              <a:t>ReadOnlySpan</a:t>
            </a:r>
            <a:r>
              <a:rPr lang="en-US" sz="2000" i="1" dirty="0">
                <a:latin typeface="Consolas" panose="020B0609020204030204" pitchFamily="49" charset="0"/>
                <a:cs typeface="Poppins" panose="00000500000000000000" pitchFamily="2" charset="-94"/>
              </a:rPr>
              <a:t>&lt;char&gt;</a:t>
            </a:r>
            <a:r>
              <a:rPr lang="en-US" sz="2000" dirty="0">
                <a:latin typeface="Poppins" panose="00000500000000000000" pitchFamily="2" charset="-94"/>
                <a:cs typeface="Poppins" panose="00000500000000000000" pitchFamily="2" charset="-94"/>
              </a:rPr>
              <a:t> and </a:t>
            </a:r>
            <a:r>
              <a:rPr lang="en-US" sz="2000" i="1" dirty="0">
                <a:latin typeface="Consolas" panose="020B0609020204030204" pitchFamily="49" charset="0"/>
                <a:cs typeface="Poppins" panose="00000500000000000000" pitchFamily="2" charset="-94"/>
              </a:rPr>
              <a:t>Span&lt;char&gt;. </a:t>
            </a:r>
            <a:br>
              <a:rPr lang="en-US" sz="2000" i="1" dirty="0">
                <a:latin typeface="Consolas" panose="020B0609020204030204" pitchFamily="49" charset="0"/>
                <a:cs typeface="Poppins" panose="00000500000000000000" pitchFamily="2" charset="-94"/>
              </a:rPr>
            </a:br>
            <a:r>
              <a:rPr lang="en-US" sz="2000" dirty="0">
                <a:latin typeface="Poppins" panose="00000500000000000000" pitchFamily="2" charset="-94"/>
                <a:cs typeface="Poppins" panose="00000500000000000000" pitchFamily="2" charset="-94"/>
              </a:rPr>
              <a:t>No need to create new string objects.</a:t>
            </a:r>
            <a:br>
              <a:rPr lang="en-US" sz="2000" dirty="0">
                <a:latin typeface="Poppins" panose="00000500000000000000" pitchFamily="2" charset="-94"/>
                <a:cs typeface="Poppins" panose="00000500000000000000" pitchFamily="2" charset="-94"/>
              </a:rPr>
            </a:br>
            <a:r>
              <a:rPr lang="en-US" sz="2000" dirty="0">
                <a:latin typeface="Poppins" panose="00000500000000000000" pitchFamily="2" charset="-94"/>
                <a:cs typeface="Poppins" panose="00000500000000000000" pitchFamily="2" charset="-94"/>
              </a:rPr>
              <a:t>This allows normalization without allocations, ideal for performance-critical or low-level text processing.</a:t>
            </a:r>
          </a:p>
          <a:p>
            <a:pPr marL="0" lvl="0" indent="0" algn="l" rtl="0">
              <a:lnSpc>
                <a:spcPct val="150000"/>
              </a:lnSpc>
              <a:spcBef>
                <a:spcPts val="0"/>
              </a:spcBef>
              <a:spcAft>
                <a:spcPts val="0"/>
              </a:spcAft>
              <a:buClr>
                <a:schemeClr val="dk1"/>
              </a:buClr>
              <a:buSzPts val="1100"/>
              <a:buFont typeface="Arial"/>
              <a:buNone/>
            </a:pPr>
            <a:endParaRPr sz="1900" dirty="0">
              <a:latin typeface="Poppins"/>
              <a:ea typeface="Poppins"/>
              <a:cs typeface="Poppins"/>
              <a:sym typeface="Poppins"/>
            </a:endParaRPr>
          </a:p>
        </p:txBody>
      </p:sp>
      <p:sp>
        <p:nvSpPr>
          <p:cNvPr id="105" name="Google Shape;105;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827002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50000"/>
              </a:lnSpc>
              <a:spcBef>
                <a:spcPts val="0"/>
              </a:spcBef>
              <a:spcAft>
                <a:spcPts val="0"/>
              </a:spcAft>
              <a:buClr>
                <a:schemeClr val="dk1"/>
              </a:buClr>
              <a:buSzPts val="1100"/>
              <a:buFont typeface="Arial"/>
              <a:buNone/>
              <a:tabLst/>
              <a:defRPr/>
            </a:pPr>
            <a:r>
              <a:rPr lang="en-US" sz="2000" dirty="0">
                <a:latin typeface="Poppins" panose="00000500000000000000" pitchFamily="2" charset="-94"/>
                <a:cs typeface="Poppins" panose="00000500000000000000" pitchFamily="2" charset="-94"/>
              </a:rPr>
              <a:t>The Convert class now supports </a:t>
            </a:r>
            <a:r>
              <a:rPr lang="en-US" sz="2000" i="1" dirty="0">
                <a:latin typeface="Consolas" panose="020B0609020204030204" pitchFamily="49" charset="0"/>
                <a:cs typeface="Poppins" panose="00000500000000000000" pitchFamily="2" charset="-94"/>
              </a:rPr>
              <a:t>UTF-8</a:t>
            </a:r>
            <a:r>
              <a:rPr lang="en-US" sz="2000" dirty="0">
                <a:latin typeface="Poppins" panose="00000500000000000000" pitchFamily="2" charset="-94"/>
                <a:cs typeface="Poppins" panose="00000500000000000000" pitchFamily="2" charset="-94"/>
              </a:rPr>
              <a:t> spans for hex conversions, eliminating intermediate string allocations when converting between </a:t>
            </a:r>
            <a:r>
              <a:rPr lang="en-US" sz="2000" i="1" dirty="0">
                <a:latin typeface="Consolas" panose="020B0609020204030204" pitchFamily="49" charset="0"/>
                <a:cs typeface="Poppins" panose="00000500000000000000" pitchFamily="2" charset="-94"/>
              </a:rPr>
              <a:t>bytes</a:t>
            </a:r>
            <a:r>
              <a:rPr lang="en-US" sz="2000" dirty="0">
                <a:latin typeface="Poppins" panose="00000500000000000000" pitchFamily="2" charset="-94"/>
                <a:cs typeface="Poppins" panose="00000500000000000000" pitchFamily="2" charset="-94"/>
              </a:rPr>
              <a:t> and </a:t>
            </a:r>
            <a:r>
              <a:rPr lang="en-US" sz="2000" i="1" dirty="0">
                <a:latin typeface="Consolas" panose="020B0609020204030204" pitchFamily="49" charset="0"/>
                <a:cs typeface="Poppins" panose="00000500000000000000" pitchFamily="2" charset="-94"/>
              </a:rPr>
              <a:t>hex</a:t>
            </a:r>
            <a:r>
              <a:rPr lang="en-US" sz="2000" dirty="0">
                <a:latin typeface="Poppins" panose="00000500000000000000" pitchFamily="2" charset="-94"/>
                <a:cs typeface="Poppins" panose="00000500000000000000" pitchFamily="2" charset="-94"/>
              </a:rPr>
              <a:t>.</a:t>
            </a:r>
          </a:p>
          <a:p>
            <a:pPr marL="0" lvl="0" indent="0" algn="l" rtl="0">
              <a:lnSpc>
                <a:spcPct val="150000"/>
              </a:lnSpc>
              <a:spcBef>
                <a:spcPts val="0"/>
              </a:spcBef>
              <a:spcAft>
                <a:spcPts val="0"/>
              </a:spcAft>
              <a:buClr>
                <a:schemeClr val="dk1"/>
              </a:buClr>
              <a:buSzPts val="1100"/>
              <a:buFont typeface="Arial"/>
              <a:buNone/>
            </a:pPr>
            <a:endParaRPr sz="1900" dirty="0">
              <a:latin typeface="Poppins"/>
              <a:ea typeface="Poppins"/>
              <a:cs typeface="Poppins"/>
              <a:sym typeface="Poppins"/>
            </a:endParaRPr>
          </a:p>
        </p:txBody>
      </p:sp>
      <p:sp>
        <p:nvSpPr>
          <p:cNvPr id="105" name="Google Shape;105;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1964417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50000"/>
              </a:lnSpc>
              <a:spcBef>
                <a:spcPts val="0"/>
              </a:spcBef>
              <a:spcAft>
                <a:spcPts val="0"/>
              </a:spcAft>
              <a:buClr>
                <a:schemeClr val="dk1"/>
              </a:buClr>
              <a:buSzPts val="1100"/>
              <a:buFont typeface="Arial"/>
              <a:buNone/>
              <a:tabLst/>
              <a:defRPr/>
            </a:pPr>
            <a:r>
              <a:rPr lang="en-US" sz="2000" dirty="0">
                <a:latin typeface="Poppins" panose="00000500000000000000" pitchFamily="2" charset="-94"/>
                <a:cs typeface="Poppins" panose="00000500000000000000" pitchFamily="2" charset="-94"/>
              </a:rPr>
              <a:t>ZIP file handling now supports full </a:t>
            </a:r>
            <a:r>
              <a:rPr lang="en-US" sz="2000" i="1" dirty="0">
                <a:latin typeface="Consolas" panose="020B0609020204030204" pitchFamily="49" charset="0"/>
                <a:cs typeface="Poppins" panose="00000500000000000000" pitchFamily="2" charset="-94"/>
              </a:rPr>
              <a:t>async</a:t>
            </a:r>
            <a:r>
              <a:rPr lang="en-US" sz="2000" dirty="0">
                <a:latin typeface="Poppins" panose="00000500000000000000" pitchFamily="2" charset="-94"/>
                <a:cs typeface="Poppins" panose="00000500000000000000" pitchFamily="2" charset="-94"/>
              </a:rPr>
              <a:t> including create, extract, open and update operations.</a:t>
            </a:r>
            <a:br>
              <a:rPr lang="en-US" sz="2000" dirty="0">
                <a:latin typeface="Poppins" panose="00000500000000000000" pitchFamily="2" charset="-94"/>
                <a:cs typeface="Poppins" panose="00000500000000000000" pitchFamily="2" charset="-94"/>
              </a:rPr>
            </a:br>
            <a:r>
              <a:rPr lang="en-US" sz="2000" dirty="0">
                <a:latin typeface="Poppins" panose="00000500000000000000" pitchFamily="2" charset="-94"/>
                <a:cs typeface="Poppins" panose="00000500000000000000" pitchFamily="2" charset="-94"/>
              </a:rPr>
              <a:t>All new APIs follow </a:t>
            </a:r>
            <a:r>
              <a:rPr lang="en-US" sz="2000" i="1" dirty="0">
                <a:latin typeface="Consolas" panose="020B0609020204030204" pitchFamily="49" charset="0"/>
                <a:cs typeface="Poppins" panose="00000500000000000000" pitchFamily="2" charset="-94"/>
              </a:rPr>
              <a:t>async</a:t>
            </a:r>
            <a:r>
              <a:rPr lang="en-US" sz="2000" dirty="0">
                <a:latin typeface="Poppins" panose="00000500000000000000" pitchFamily="2" charset="-94"/>
                <a:cs typeface="Poppins" panose="00000500000000000000" pitchFamily="2" charset="-94"/>
              </a:rPr>
              <a:t> patterns and support </a:t>
            </a:r>
            <a:r>
              <a:rPr lang="en-US" sz="2000" i="1" dirty="0" err="1">
                <a:latin typeface="Consolas" panose="020B0609020204030204" pitchFamily="49" charset="0"/>
                <a:cs typeface="Poppins" panose="00000500000000000000" pitchFamily="2" charset="-94"/>
              </a:rPr>
              <a:t>CancellationToken</a:t>
            </a:r>
            <a:r>
              <a:rPr lang="en-US" sz="2000" dirty="0">
                <a:latin typeface="Poppins" panose="00000500000000000000" pitchFamily="2" charset="-94"/>
                <a:cs typeface="Poppins" panose="00000500000000000000" pitchFamily="2" charset="-94"/>
              </a:rPr>
              <a:t>.</a:t>
            </a:r>
          </a:p>
          <a:p>
            <a:pPr marL="0" lvl="0" indent="0" algn="l" rtl="0">
              <a:lnSpc>
                <a:spcPct val="150000"/>
              </a:lnSpc>
              <a:spcBef>
                <a:spcPts val="0"/>
              </a:spcBef>
              <a:spcAft>
                <a:spcPts val="0"/>
              </a:spcAft>
              <a:buClr>
                <a:schemeClr val="dk1"/>
              </a:buClr>
              <a:buSzPts val="1100"/>
              <a:buFont typeface="Arial"/>
              <a:buNone/>
            </a:pPr>
            <a:endParaRPr sz="1900" dirty="0">
              <a:latin typeface="Poppins"/>
              <a:ea typeface="Poppins"/>
              <a:cs typeface="Poppins"/>
              <a:sym typeface="Poppins"/>
            </a:endParaRPr>
          </a:p>
        </p:txBody>
      </p:sp>
      <p:sp>
        <p:nvSpPr>
          <p:cNvPr id="105" name="Google Shape;105;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8361933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r>
              <a:rPr lang="en-US" sz="1200" b="0" i="0" u="none" strike="noStrike" cap="none" dirty="0" err="1">
                <a:solidFill>
                  <a:schemeClr val="dk1"/>
                </a:solidFill>
                <a:effectLst/>
                <a:latin typeface="Arial"/>
                <a:ea typeface="Arial"/>
                <a:cs typeface="Arial"/>
                <a:sym typeface="Arial"/>
                <a:hlinkClick r:id="rId3"/>
              </a:rPr>
              <a:t>ZipArchiveEntry</a:t>
            </a:r>
            <a:r>
              <a:rPr lang="en-US" sz="1200" b="0" i="0" u="none" strike="noStrike" cap="none" dirty="0">
                <a:solidFill>
                  <a:schemeClr val="dk1"/>
                </a:solidFill>
                <a:effectLst/>
                <a:latin typeface="Arial"/>
                <a:ea typeface="Arial"/>
                <a:cs typeface="Arial"/>
                <a:sym typeface="Arial"/>
              </a:rPr>
              <a:t> instances were loaded into memory and rewritten, which could lead to high memory usage and performance bottlenecks. The optimization reduces memory usage and improves performance by avoiding the need to load all entries into memory.</a:t>
            </a:r>
          </a:p>
          <a:p>
            <a:pPr marL="0" lvl="0" indent="0" algn="l" rtl="0">
              <a:lnSpc>
                <a:spcPct val="150000"/>
              </a:lnSpc>
              <a:spcBef>
                <a:spcPts val="0"/>
              </a:spcBef>
              <a:spcAft>
                <a:spcPts val="0"/>
              </a:spcAft>
              <a:buClr>
                <a:schemeClr val="dk1"/>
              </a:buClr>
              <a:buSzPts val="1100"/>
              <a:buFont typeface="Arial"/>
              <a:buNone/>
            </a:pPr>
            <a:endParaRPr lang="en-US" sz="1200" b="0" i="0" u="none" strike="noStrike" cap="none" dirty="0">
              <a:solidFill>
                <a:schemeClr val="dk1"/>
              </a:solidFill>
              <a:effectLst/>
              <a:latin typeface="Arial"/>
              <a:ea typeface="Poppins"/>
              <a:cs typeface="Arial"/>
              <a:sym typeface="Arial"/>
            </a:endParaRPr>
          </a:p>
          <a:p>
            <a:pPr marL="0" lvl="0" indent="0" algn="l" rtl="0">
              <a:lnSpc>
                <a:spcPct val="150000"/>
              </a:lnSpc>
              <a:spcBef>
                <a:spcPts val="0"/>
              </a:spcBef>
              <a:spcAft>
                <a:spcPts val="0"/>
              </a:spcAft>
              <a:buClr>
                <a:schemeClr val="dk1"/>
              </a:buClr>
              <a:buSzPts val="1100"/>
              <a:buFont typeface="Arial"/>
              <a:buNone/>
            </a:pPr>
            <a:r>
              <a:rPr lang="en-US" sz="1200" b="0" i="0" u="none" strike="noStrike" cap="none" dirty="0">
                <a:solidFill>
                  <a:schemeClr val="dk1"/>
                </a:solidFill>
                <a:effectLst/>
                <a:latin typeface="Arial"/>
                <a:ea typeface="Arial"/>
                <a:cs typeface="Arial"/>
                <a:sym typeface="Arial"/>
              </a:rPr>
              <a:t>Secondly, the extraction of </a:t>
            </a:r>
            <a:r>
              <a:rPr lang="en-US" sz="1200" b="0" i="0" u="none" strike="noStrike" cap="none" dirty="0" err="1">
                <a:solidFill>
                  <a:schemeClr val="dk1"/>
                </a:solidFill>
                <a:effectLst/>
                <a:latin typeface="Arial"/>
                <a:ea typeface="Arial"/>
                <a:cs typeface="Arial"/>
                <a:sym typeface="Arial"/>
                <a:hlinkClick r:id="rId4"/>
              </a:rPr>
              <a:t>ZipArchive</a:t>
            </a:r>
            <a:r>
              <a:rPr lang="en-US" sz="1200" b="0" i="0" u="none" strike="noStrike" cap="none" dirty="0">
                <a:solidFill>
                  <a:schemeClr val="dk1"/>
                </a:solidFill>
                <a:effectLst/>
                <a:latin typeface="Arial"/>
                <a:ea typeface="Arial"/>
                <a:cs typeface="Arial"/>
                <a:sym typeface="Arial"/>
              </a:rPr>
              <a:t> entries is now parallelized, and internal data structures are optimized for better memory usage. These improvements address issues related to performance bottlenecks and high memory usage, making </a:t>
            </a:r>
            <a:r>
              <a:rPr lang="en-US" sz="1200" b="0" i="0" u="none" strike="noStrike" cap="none" dirty="0" err="1">
                <a:solidFill>
                  <a:schemeClr val="dk1"/>
                </a:solidFill>
                <a:effectLst/>
                <a:latin typeface="Arial"/>
                <a:ea typeface="Arial"/>
                <a:cs typeface="Arial"/>
                <a:sym typeface="Arial"/>
              </a:rPr>
              <a:t>ZipArchive</a:t>
            </a:r>
            <a:r>
              <a:rPr lang="en-US" sz="1200" b="0" i="0" u="none" strike="noStrike" cap="none" dirty="0">
                <a:solidFill>
                  <a:schemeClr val="dk1"/>
                </a:solidFill>
                <a:effectLst/>
                <a:latin typeface="Arial"/>
                <a:ea typeface="Arial"/>
                <a:cs typeface="Arial"/>
                <a:sym typeface="Arial"/>
              </a:rPr>
              <a:t> more efficient and faster, especially when dealing with large archives.</a:t>
            </a:r>
            <a:endParaRPr sz="1900" dirty="0">
              <a:latin typeface="Poppins"/>
              <a:ea typeface="Poppins"/>
              <a:cs typeface="Poppins"/>
              <a:sym typeface="Poppins"/>
            </a:endParaRPr>
          </a:p>
        </p:txBody>
      </p:sp>
      <p:sp>
        <p:nvSpPr>
          <p:cNvPr id="105" name="Google Shape;105;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2781432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r>
              <a:rPr lang="en-US" sz="1200" b="0" i="0" u="none" strike="noStrike" cap="none" dirty="0">
                <a:solidFill>
                  <a:schemeClr val="dk1"/>
                </a:solidFill>
                <a:effectLst/>
                <a:latin typeface="Arial"/>
                <a:ea typeface="Arial"/>
                <a:cs typeface="Arial"/>
                <a:sym typeface="Arial"/>
              </a:rPr>
              <a:t>Historically, macOS used Secure Transport which doesn't support TLS 1.3; opting into </a:t>
            </a:r>
            <a:r>
              <a:rPr lang="en-US" sz="1200" b="0" i="0" u="none" strike="noStrike" cap="none" dirty="0" err="1">
                <a:solidFill>
                  <a:schemeClr val="dk1"/>
                </a:solidFill>
                <a:effectLst/>
                <a:latin typeface="Arial"/>
                <a:ea typeface="Arial"/>
                <a:cs typeface="Arial"/>
                <a:sym typeface="Arial"/>
              </a:rPr>
              <a:t>Network.framework</a:t>
            </a:r>
            <a:r>
              <a:rPr lang="en-US" sz="1200" b="0" i="0" u="none" strike="noStrike" cap="none" dirty="0">
                <a:solidFill>
                  <a:schemeClr val="dk1"/>
                </a:solidFill>
                <a:effectLst/>
                <a:latin typeface="Arial"/>
                <a:ea typeface="Arial"/>
                <a:cs typeface="Arial"/>
                <a:sym typeface="Arial"/>
              </a:rPr>
              <a:t> enables TLS 1.3.</a:t>
            </a:r>
            <a:endParaRPr lang="en-US" sz="1900" dirty="0">
              <a:latin typeface="Poppins"/>
              <a:ea typeface="Poppins"/>
              <a:cs typeface="Poppins"/>
              <a:sym typeface="Poppins"/>
            </a:endParaRPr>
          </a:p>
          <a:p>
            <a:pPr marL="0" lvl="0" indent="0" algn="l" rtl="0">
              <a:lnSpc>
                <a:spcPct val="150000"/>
              </a:lnSpc>
              <a:spcBef>
                <a:spcPts val="0"/>
              </a:spcBef>
              <a:spcAft>
                <a:spcPts val="0"/>
              </a:spcAft>
              <a:buClr>
                <a:schemeClr val="dk1"/>
              </a:buClr>
              <a:buSzPts val="1100"/>
              <a:buFont typeface="Arial"/>
              <a:buNone/>
            </a:pPr>
            <a:endParaRPr lang="en-US" sz="1200" b="0" i="0" u="none" strike="noStrike" cap="none" dirty="0">
              <a:solidFill>
                <a:schemeClr val="dk1"/>
              </a:solidFill>
              <a:effectLst/>
              <a:latin typeface="Arial"/>
              <a:ea typeface="Arial"/>
              <a:cs typeface="Arial"/>
              <a:sym typeface="Arial"/>
            </a:endParaRPr>
          </a:p>
          <a:p>
            <a:pPr marL="0" lvl="0" indent="0" algn="l" rtl="0">
              <a:lnSpc>
                <a:spcPct val="150000"/>
              </a:lnSpc>
              <a:spcBef>
                <a:spcPts val="0"/>
              </a:spcBef>
              <a:spcAft>
                <a:spcPts val="0"/>
              </a:spcAft>
              <a:buClr>
                <a:schemeClr val="dk1"/>
              </a:buClr>
              <a:buSzPts val="1100"/>
              <a:buFont typeface="Arial"/>
              <a:buNone/>
            </a:pPr>
            <a:r>
              <a:rPr lang="tr-TR" sz="1200" b="0" i="0" u="none" strike="noStrike" cap="none" dirty="0">
                <a:solidFill>
                  <a:schemeClr val="dk1"/>
                </a:solidFill>
                <a:effectLst/>
                <a:latin typeface="Arial"/>
                <a:ea typeface="Arial"/>
                <a:cs typeface="Arial"/>
                <a:sym typeface="Arial"/>
              </a:rPr>
              <a:t>.NET 10 adds client-side TLS 1.3 support on macOS by integrating Apple's Network.framework into </a:t>
            </a:r>
            <a:r>
              <a:rPr lang="tr-TR" sz="1200" b="0" i="0" u="none" strike="noStrike" cap="none" dirty="0">
                <a:solidFill>
                  <a:schemeClr val="dk1"/>
                </a:solidFill>
                <a:effectLst/>
                <a:latin typeface="Arial"/>
                <a:ea typeface="Arial"/>
                <a:cs typeface="Arial"/>
                <a:sym typeface="Arial"/>
                <a:hlinkClick r:id="rId3"/>
              </a:rPr>
              <a:t>SslStream</a:t>
            </a:r>
            <a:r>
              <a:rPr lang="tr-TR" sz="1200" b="0" i="0" u="none" strike="noStrike" cap="none" dirty="0">
                <a:solidFill>
                  <a:schemeClr val="dk1"/>
                </a:solidFill>
                <a:effectLst/>
                <a:latin typeface="Arial"/>
                <a:ea typeface="Arial"/>
                <a:cs typeface="Arial"/>
                <a:sym typeface="Arial"/>
              </a:rPr>
              <a:t> and </a:t>
            </a:r>
            <a:r>
              <a:rPr lang="tr-TR" sz="1200" b="0" i="0" u="none" strike="noStrike" cap="none" dirty="0">
                <a:solidFill>
                  <a:schemeClr val="dk1"/>
                </a:solidFill>
                <a:effectLst/>
                <a:latin typeface="Arial"/>
                <a:ea typeface="Arial"/>
                <a:cs typeface="Arial"/>
                <a:sym typeface="Arial"/>
                <a:hlinkClick r:id="rId4"/>
              </a:rPr>
              <a:t>HttpClient</a:t>
            </a:r>
            <a:r>
              <a:rPr lang="tr-TR" sz="1200" b="0" i="0" u="none" strike="noStrike" cap="none" dirty="0">
                <a:solidFill>
                  <a:schemeClr val="dk1"/>
                </a:solidFill>
                <a:effectLst/>
                <a:latin typeface="Arial"/>
                <a:ea typeface="Arial"/>
                <a:cs typeface="Arial"/>
                <a:sym typeface="Arial"/>
              </a:rPr>
              <a:t>. </a:t>
            </a:r>
            <a:endParaRPr lang="en-US" sz="1200" b="0" i="0" u="none" strike="noStrike" cap="none" dirty="0">
              <a:solidFill>
                <a:schemeClr val="dk1"/>
              </a:solidFill>
              <a:effectLst/>
              <a:latin typeface="Arial"/>
              <a:ea typeface="Arial"/>
              <a:cs typeface="Arial"/>
              <a:sym typeface="Arial"/>
            </a:endParaRPr>
          </a:p>
          <a:p>
            <a:pPr marL="0" lvl="0" indent="0" algn="l" rtl="0">
              <a:lnSpc>
                <a:spcPct val="150000"/>
              </a:lnSpc>
              <a:spcBef>
                <a:spcPts val="0"/>
              </a:spcBef>
              <a:spcAft>
                <a:spcPts val="0"/>
              </a:spcAft>
              <a:buClr>
                <a:schemeClr val="dk1"/>
              </a:buClr>
              <a:buSzPts val="1100"/>
              <a:buFont typeface="Arial"/>
              <a:buNone/>
            </a:pPr>
            <a:endParaRPr lang="en-US" sz="1200" b="0" i="0" u="none" strike="noStrike" cap="none" dirty="0">
              <a:solidFill>
                <a:schemeClr val="dk1"/>
              </a:solidFill>
              <a:effectLst/>
              <a:latin typeface="Arial"/>
              <a:ea typeface="Arial"/>
              <a:cs typeface="Arial"/>
              <a:sym typeface="Arial"/>
            </a:endParaRPr>
          </a:p>
        </p:txBody>
      </p:sp>
      <p:sp>
        <p:nvSpPr>
          <p:cNvPr id="105" name="Google Shape;105;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6864743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50000"/>
              </a:lnSpc>
              <a:spcBef>
                <a:spcPts val="0"/>
              </a:spcBef>
              <a:spcAft>
                <a:spcPts val="0"/>
              </a:spcAft>
              <a:buClr>
                <a:schemeClr val="dk1"/>
              </a:buClr>
              <a:buSzPts val="1100"/>
              <a:buFont typeface="Arial"/>
              <a:buNone/>
              <a:tabLst/>
              <a:defRPr/>
            </a:pPr>
            <a:r>
              <a:rPr lang="en-US" sz="2000" i="1" dirty="0" err="1">
                <a:latin typeface="Consolas" panose="020B0609020204030204" pitchFamily="49" charset="0"/>
                <a:cs typeface="Poppins" panose="00000500000000000000" pitchFamily="2" charset="-94"/>
              </a:rPr>
              <a:t>ActivitySource</a:t>
            </a:r>
            <a:r>
              <a:rPr lang="en-US" sz="2000" dirty="0">
                <a:latin typeface="Poppins" panose="00000500000000000000" pitchFamily="2" charset="-94"/>
                <a:cs typeface="Poppins" panose="00000500000000000000" pitchFamily="2" charset="-94"/>
              </a:rPr>
              <a:t> and </a:t>
            </a:r>
            <a:r>
              <a:rPr lang="en-US" sz="2000" i="1" dirty="0">
                <a:latin typeface="Consolas" panose="020B0609020204030204" pitchFamily="49" charset="0"/>
                <a:cs typeface="Poppins" panose="00000500000000000000" pitchFamily="2" charset="-94"/>
              </a:rPr>
              <a:t>Meter</a:t>
            </a:r>
            <a:r>
              <a:rPr lang="en-US" sz="2000" dirty="0">
                <a:latin typeface="Poppins" panose="00000500000000000000" pitchFamily="2" charset="-94"/>
                <a:cs typeface="Poppins" panose="00000500000000000000" pitchFamily="2" charset="-94"/>
              </a:rPr>
              <a:t> now support </a:t>
            </a:r>
            <a:r>
              <a:rPr lang="en-US" sz="2000" b="1" dirty="0">
                <a:latin typeface="Poppins" panose="00000500000000000000" pitchFamily="2" charset="-94"/>
                <a:cs typeface="Poppins" panose="00000500000000000000" pitchFamily="2" charset="-94"/>
              </a:rPr>
              <a:t>telemetry schema URLs</a:t>
            </a:r>
            <a:r>
              <a:rPr lang="en-US" sz="2000" dirty="0">
                <a:latin typeface="Poppins" panose="00000500000000000000" pitchFamily="2" charset="-94"/>
                <a:cs typeface="Poppins" panose="00000500000000000000" pitchFamily="2" charset="-94"/>
              </a:rPr>
              <a:t>, aligning .NET with </a:t>
            </a:r>
            <a:r>
              <a:rPr lang="en-US" sz="2000" i="1" dirty="0" err="1">
                <a:latin typeface="Consolas" panose="020B0609020204030204" pitchFamily="49" charset="0"/>
                <a:cs typeface="Poppins" panose="00000500000000000000" pitchFamily="2" charset="-94"/>
              </a:rPr>
              <a:t>OpenTelemetry</a:t>
            </a:r>
            <a:r>
              <a:rPr lang="en-US" sz="2000" dirty="0">
                <a:latin typeface="Poppins" panose="00000500000000000000" pitchFamily="2" charset="-94"/>
                <a:cs typeface="Poppins" panose="00000500000000000000" pitchFamily="2" charset="-94"/>
              </a:rPr>
              <a:t> standards for consistent metric and trace data.</a:t>
            </a:r>
          </a:p>
          <a:p>
            <a:pPr marL="0" lvl="0" indent="0" algn="l" rtl="0">
              <a:lnSpc>
                <a:spcPct val="150000"/>
              </a:lnSpc>
              <a:spcBef>
                <a:spcPts val="0"/>
              </a:spcBef>
              <a:spcAft>
                <a:spcPts val="0"/>
              </a:spcAft>
              <a:buClr>
                <a:schemeClr val="dk1"/>
              </a:buClr>
              <a:buSzPts val="1100"/>
              <a:buFont typeface="Arial"/>
              <a:buNone/>
            </a:pPr>
            <a:endParaRPr sz="1900" dirty="0">
              <a:latin typeface="Poppins"/>
              <a:ea typeface="Poppins"/>
              <a:cs typeface="Poppins"/>
              <a:sym typeface="Poppins"/>
            </a:endParaRPr>
          </a:p>
        </p:txBody>
      </p:sp>
      <p:sp>
        <p:nvSpPr>
          <p:cNvPr id="105" name="Google Shape;105;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610527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50000"/>
              </a:lnSpc>
              <a:spcBef>
                <a:spcPts val="0"/>
              </a:spcBef>
              <a:spcAft>
                <a:spcPts val="0"/>
              </a:spcAft>
              <a:buClr>
                <a:schemeClr val="dk1"/>
              </a:buClr>
              <a:buSzPts val="1100"/>
              <a:buFont typeface="Arial"/>
              <a:buNone/>
              <a:tabLst/>
              <a:defRPr/>
            </a:pPr>
            <a:r>
              <a:rPr lang="en-US" sz="2000" dirty="0">
                <a:latin typeface="Poppins" panose="00000500000000000000" pitchFamily="2" charset="-94"/>
                <a:cs typeface="Poppins" panose="00000500000000000000" pitchFamily="2" charset="-94"/>
              </a:rPr>
              <a:t>New overloads for </a:t>
            </a:r>
            <a:r>
              <a:rPr lang="en-US" sz="2000" i="1" dirty="0" err="1">
                <a:latin typeface="Consolas" panose="020B0609020204030204" pitchFamily="49" charset="0"/>
                <a:cs typeface="Poppins" panose="00000500000000000000" pitchFamily="2" charset="-94"/>
              </a:rPr>
              <a:t>TryAdd</a:t>
            </a:r>
            <a:r>
              <a:rPr lang="en-US" sz="2000" dirty="0">
                <a:latin typeface="Poppins" panose="00000500000000000000" pitchFamily="2" charset="-94"/>
                <a:cs typeface="Poppins" panose="00000500000000000000" pitchFamily="2" charset="-94"/>
              </a:rPr>
              <a:t> and </a:t>
            </a:r>
            <a:r>
              <a:rPr lang="en-US" sz="2000" i="1" dirty="0" err="1">
                <a:latin typeface="Consolas" panose="020B0609020204030204" pitchFamily="49" charset="0"/>
                <a:cs typeface="Poppins" panose="00000500000000000000" pitchFamily="2" charset="-94"/>
              </a:rPr>
              <a:t>TryGetValue</a:t>
            </a:r>
            <a:r>
              <a:rPr lang="en-US" sz="2000" dirty="0">
                <a:latin typeface="Poppins" panose="00000500000000000000" pitchFamily="2" charset="-94"/>
                <a:cs typeface="Poppins" panose="00000500000000000000" pitchFamily="2" charset="-94"/>
              </a:rPr>
              <a:t> return entry indexes, improving updates and lookups </a:t>
            </a:r>
            <a:br>
              <a:rPr lang="en-US" sz="2000" dirty="0">
                <a:latin typeface="Poppins" panose="00000500000000000000" pitchFamily="2" charset="-94"/>
                <a:cs typeface="Poppins" panose="00000500000000000000" pitchFamily="2" charset="-94"/>
              </a:rPr>
            </a:br>
            <a:r>
              <a:rPr lang="en-US" sz="3200" b="0" i="0" dirty="0">
                <a:solidFill>
                  <a:srgbClr val="F0F6FC"/>
                </a:solidFill>
                <a:effectLst/>
                <a:latin typeface="-apple-system"/>
              </a:rPr>
              <a:t>This new API is now being used in </a:t>
            </a:r>
            <a:r>
              <a:rPr lang="en-US" sz="3200" dirty="0" err="1"/>
              <a:t>JsonObject</a:t>
            </a:r>
            <a:r>
              <a:rPr lang="en-US" sz="3200" b="0" i="0" dirty="0">
                <a:solidFill>
                  <a:srgbClr val="F0F6FC"/>
                </a:solidFill>
                <a:effectLst/>
                <a:latin typeface="-apple-system"/>
              </a:rPr>
              <a:t> to improve the performance of updating properties by 10-20%.</a:t>
            </a:r>
            <a:endParaRPr sz="1900" dirty="0">
              <a:latin typeface="Poppins"/>
              <a:ea typeface="Poppins"/>
              <a:cs typeface="Poppins"/>
              <a:sym typeface="Poppins"/>
            </a:endParaRPr>
          </a:p>
        </p:txBody>
      </p:sp>
      <p:sp>
        <p:nvSpPr>
          <p:cNvPr id="105" name="Google Shape;105;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0808320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sz="1900" dirty="0">
              <a:latin typeface="Poppins"/>
              <a:ea typeface="Poppins"/>
              <a:cs typeface="Poppins"/>
              <a:sym typeface="Poppins"/>
            </a:endParaRPr>
          </a:p>
        </p:txBody>
      </p:sp>
      <p:sp>
        <p:nvSpPr>
          <p:cNvPr id="105" name="Google Shape;105;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7709904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r>
              <a:rPr lang="en-US" sz="1900" dirty="0">
                <a:latin typeface="Poppins"/>
                <a:ea typeface="Poppins"/>
                <a:cs typeface="Poppins"/>
                <a:sym typeface="Poppins"/>
              </a:rPr>
              <a:t>In .NET 10, the JIT compiler got smarter about how it handles structs, especially when passing them to methods. Previously, when you passed a struct, the JIT sometimes had to store the values in memory first, then load them into a CPU register before calling the method… Unnecessary memory operations!</a:t>
            </a:r>
          </a:p>
          <a:p>
            <a:pPr marL="0" lvl="0" indent="0" algn="l" rtl="0">
              <a:lnSpc>
                <a:spcPct val="150000"/>
              </a:lnSpc>
              <a:spcBef>
                <a:spcPts val="0"/>
              </a:spcBef>
              <a:spcAft>
                <a:spcPts val="0"/>
              </a:spcAft>
              <a:buClr>
                <a:schemeClr val="dk1"/>
              </a:buClr>
              <a:buSzPts val="1100"/>
              <a:buFont typeface="Arial"/>
              <a:buNone/>
            </a:pPr>
            <a:r>
              <a:rPr lang="en-US" sz="1900" dirty="0">
                <a:latin typeface="Poppins"/>
                <a:ea typeface="Poppins"/>
                <a:cs typeface="Poppins"/>
                <a:sym typeface="Poppins"/>
              </a:rPr>
              <a:t>Now, the JIT can put those struct members directly into CPU registers and no temporary memory steps!</a:t>
            </a:r>
          </a:p>
          <a:p>
            <a:pPr marL="0" lvl="0" indent="0" algn="l" rtl="0">
              <a:lnSpc>
                <a:spcPct val="150000"/>
              </a:lnSpc>
              <a:spcBef>
                <a:spcPts val="0"/>
              </a:spcBef>
              <a:spcAft>
                <a:spcPts val="0"/>
              </a:spcAft>
              <a:buClr>
                <a:schemeClr val="dk1"/>
              </a:buClr>
              <a:buSzPts val="1100"/>
              <a:buFont typeface="Arial"/>
              <a:buNone/>
            </a:pPr>
            <a:endParaRPr lang="en-US" sz="1900" dirty="0">
              <a:latin typeface="Poppins"/>
              <a:ea typeface="Poppins"/>
              <a:cs typeface="Poppins"/>
              <a:sym typeface="Poppins"/>
            </a:endParaRPr>
          </a:p>
          <a:p>
            <a:pPr marL="0" lvl="0" indent="0" algn="l" rtl="0">
              <a:lnSpc>
                <a:spcPct val="150000"/>
              </a:lnSpc>
              <a:spcBef>
                <a:spcPts val="0"/>
              </a:spcBef>
              <a:spcAft>
                <a:spcPts val="0"/>
              </a:spcAft>
              <a:buClr>
                <a:schemeClr val="dk1"/>
              </a:buClr>
              <a:buSzPts val="1100"/>
              <a:buFont typeface="Arial"/>
              <a:buNone/>
            </a:pPr>
            <a:endParaRPr lang="en-US" sz="1900" dirty="0">
              <a:latin typeface="Poppins"/>
              <a:ea typeface="Poppins"/>
              <a:cs typeface="Poppins"/>
              <a:sym typeface="Poppins"/>
            </a:endParaRPr>
          </a:p>
        </p:txBody>
      </p:sp>
      <p:sp>
        <p:nvSpPr>
          <p:cNvPr id="105" name="Google Shape;105;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rPr lang="en-US" sz="2000" dirty="0">
                <a:latin typeface="Poppins" panose="00000500000000000000" pitchFamily="2" charset="-94"/>
                <a:cs typeface="Poppins" panose="00000500000000000000" pitchFamily="2" charset="-94"/>
              </a:rPr>
              <a:t>The JIT compiler got better at removing unnecessary abstraction overhead, especially for arrays used through interfaces like </a:t>
            </a:r>
            <a:r>
              <a:rPr lang="en-US" sz="2000" i="1" dirty="0" err="1">
                <a:latin typeface="Consolas" panose="020B0609020204030204" pitchFamily="49" charset="0"/>
                <a:cs typeface="Poppins" panose="00000500000000000000" pitchFamily="2" charset="-94"/>
              </a:rPr>
              <a:t>IEnumerable</a:t>
            </a:r>
            <a:r>
              <a:rPr lang="en-US" sz="2000" i="1" dirty="0">
                <a:latin typeface="Consolas" panose="020B0609020204030204" pitchFamily="49" charset="0"/>
                <a:cs typeface="Poppins" panose="00000500000000000000" pitchFamily="2" charset="-94"/>
              </a:rPr>
              <a:t>&lt;T&gt;</a:t>
            </a:r>
            <a:r>
              <a:rPr lang="en-US" sz="2000" i="1" dirty="0">
                <a:latin typeface="Poppins" panose="00000500000000000000" pitchFamily="2" charset="-94"/>
                <a:cs typeface="Poppins" panose="00000500000000000000" pitchFamily="2" charset="-94"/>
              </a:rPr>
              <a:t>.</a:t>
            </a:r>
          </a:p>
          <a:p>
            <a:endParaRPr lang="en-US" sz="2000" dirty="0">
              <a:latin typeface="Poppins" panose="00000500000000000000" pitchFamily="2" charset="-94"/>
              <a:cs typeface="Poppins" panose="00000500000000000000" pitchFamily="2" charset="-94"/>
            </a:endParaRPr>
          </a:p>
          <a:p>
            <a:r>
              <a:rPr lang="en-US" sz="2000" dirty="0">
                <a:latin typeface="Poppins" panose="00000500000000000000" pitchFamily="2" charset="-94"/>
                <a:cs typeface="Poppins" panose="00000500000000000000" pitchFamily="2" charset="-94"/>
              </a:rPr>
              <a:t>Normally, when you loop over an array directly like </a:t>
            </a:r>
            <a:r>
              <a:rPr lang="en-US" sz="2000" i="1" dirty="0">
                <a:latin typeface="Consolas" panose="020B0609020204030204" pitchFamily="49" charset="0"/>
                <a:cs typeface="Poppins" panose="00000500000000000000" pitchFamily="2" charset="-94"/>
              </a:rPr>
              <a:t>for</a:t>
            </a:r>
            <a:r>
              <a:rPr lang="en-US" sz="2000" dirty="0">
                <a:latin typeface="Poppins" panose="00000500000000000000" pitchFamily="2" charset="-94"/>
                <a:cs typeface="Poppins" panose="00000500000000000000" pitchFamily="2" charset="-94"/>
              </a:rPr>
              <a:t>, the JIT can fully optimize it.</a:t>
            </a:r>
            <a:br>
              <a:rPr lang="en-US" sz="2000" dirty="0">
                <a:latin typeface="Poppins" panose="00000500000000000000" pitchFamily="2" charset="-94"/>
                <a:cs typeface="Poppins" panose="00000500000000000000" pitchFamily="2" charset="-94"/>
              </a:rPr>
            </a:br>
            <a:r>
              <a:rPr lang="en-US" sz="2000" dirty="0">
                <a:latin typeface="Poppins" panose="00000500000000000000" pitchFamily="2" charset="-94"/>
                <a:cs typeface="Poppins" panose="00000500000000000000" pitchFamily="2" charset="-94"/>
              </a:rPr>
              <a:t>But when you loop through an interface </a:t>
            </a:r>
            <a:r>
              <a:rPr lang="en-US" sz="2000" i="1" dirty="0">
                <a:latin typeface="Consolas" panose="020B0609020204030204" pitchFamily="49" charset="0"/>
                <a:cs typeface="Poppins" panose="00000500000000000000" pitchFamily="2" charset="-94"/>
              </a:rPr>
              <a:t>foreach (var x in (</a:t>
            </a:r>
            <a:r>
              <a:rPr lang="en-US" sz="2000" i="1" dirty="0" err="1">
                <a:latin typeface="Consolas" panose="020B0609020204030204" pitchFamily="49" charset="0"/>
                <a:cs typeface="Poppins" panose="00000500000000000000" pitchFamily="2" charset="-94"/>
              </a:rPr>
              <a:t>IEnumerable</a:t>
            </a:r>
            <a:r>
              <a:rPr lang="en-US" sz="2000" i="1" dirty="0">
                <a:latin typeface="Consolas" panose="020B0609020204030204" pitchFamily="49" charset="0"/>
                <a:cs typeface="Poppins" panose="00000500000000000000" pitchFamily="2" charset="-94"/>
              </a:rPr>
              <a:t>&lt;int&gt;)array)</a:t>
            </a:r>
            <a:r>
              <a:rPr lang="en-US" sz="2000" dirty="0">
                <a:latin typeface="Poppins" panose="00000500000000000000" pitchFamily="2" charset="-94"/>
                <a:cs typeface="Poppins" panose="00000500000000000000" pitchFamily="2" charset="-94"/>
              </a:rPr>
              <a:t>, those interface calls are virtual, which slows things down and blocks other optimizations like </a:t>
            </a:r>
            <a:r>
              <a:rPr lang="en-US" sz="2000" b="1" dirty="0" err="1">
                <a:latin typeface="Poppins" panose="00000500000000000000" pitchFamily="2" charset="-94"/>
                <a:cs typeface="Poppins" panose="00000500000000000000" pitchFamily="2" charset="-94"/>
              </a:rPr>
              <a:t>inlining</a:t>
            </a:r>
            <a:r>
              <a:rPr lang="en-US" sz="2000" dirty="0">
                <a:latin typeface="Poppins" panose="00000500000000000000" pitchFamily="2" charset="-94"/>
                <a:cs typeface="Poppins" panose="00000500000000000000" pitchFamily="2" charset="-94"/>
              </a:rPr>
              <a:t>.</a:t>
            </a:r>
          </a:p>
          <a:p>
            <a:pPr marL="0" marR="0" lvl="0" indent="0" algn="l" defTabSz="914400" rtl="0" eaLnBrk="1" fontAlgn="auto" latinLnBrk="0" hangingPunct="1">
              <a:lnSpc>
                <a:spcPct val="150000"/>
              </a:lnSpc>
              <a:spcBef>
                <a:spcPts val="0"/>
              </a:spcBef>
              <a:spcAft>
                <a:spcPts val="0"/>
              </a:spcAft>
              <a:buClr>
                <a:schemeClr val="dk1"/>
              </a:buClr>
              <a:buSzPts val="1100"/>
              <a:buFont typeface="Arial"/>
              <a:buNone/>
              <a:tabLst/>
              <a:defRPr/>
            </a:pPr>
            <a:r>
              <a:rPr lang="en-US" sz="2000" dirty="0"/>
              <a:t>🤗 Now JIT </a:t>
            </a:r>
            <a:r>
              <a:rPr lang="en-US" sz="2000" b="1" dirty="0" err="1">
                <a:latin typeface="Poppins" panose="00000500000000000000" pitchFamily="2" charset="-94"/>
                <a:cs typeface="Poppins" panose="00000500000000000000" pitchFamily="2" charset="-94"/>
              </a:rPr>
              <a:t>devirtualizes</a:t>
            </a:r>
            <a:r>
              <a:rPr lang="en-US" sz="2000" dirty="0">
                <a:latin typeface="Poppins" panose="00000500000000000000" pitchFamily="2" charset="-94"/>
                <a:cs typeface="Poppins" panose="00000500000000000000" pitchFamily="2" charset="-94"/>
              </a:rPr>
              <a:t> array interface method calls. it means it recognizes that it’s actually dealing with a real array and skips the virtual call overhead.</a:t>
            </a:r>
            <a:endParaRPr lang="en-US" sz="2000" dirty="0"/>
          </a:p>
          <a:p>
            <a:pPr marL="0" lvl="0" indent="0" algn="l" rtl="0">
              <a:lnSpc>
                <a:spcPct val="150000"/>
              </a:lnSpc>
              <a:spcBef>
                <a:spcPts val="0"/>
              </a:spcBef>
              <a:spcAft>
                <a:spcPts val="0"/>
              </a:spcAft>
              <a:buClr>
                <a:schemeClr val="dk1"/>
              </a:buClr>
              <a:buSzPts val="1100"/>
              <a:buFont typeface="Arial"/>
              <a:buNone/>
            </a:pPr>
            <a:endParaRPr sz="1900" dirty="0">
              <a:latin typeface="Poppins"/>
              <a:ea typeface="Poppins"/>
              <a:cs typeface="Poppins"/>
              <a:sym typeface="Poppins"/>
            </a:endParaRPr>
          </a:p>
        </p:txBody>
      </p:sp>
      <p:sp>
        <p:nvSpPr>
          <p:cNvPr id="105" name="Google Shape;105;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6409528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sz="1900" dirty="0">
              <a:latin typeface="Poppins"/>
              <a:ea typeface="Poppins"/>
              <a:cs typeface="Poppins"/>
              <a:sym typeface="Poppins"/>
            </a:endParaRPr>
          </a:p>
        </p:txBody>
      </p:sp>
      <p:sp>
        <p:nvSpPr>
          <p:cNvPr id="105" name="Google Shape;105;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7263085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sz="1900" dirty="0">
              <a:latin typeface="Poppins"/>
              <a:ea typeface="Poppins"/>
              <a:cs typeface="Poppins"/>
              <a:sym typeface="Poppins"/>
            </a:endParaRPr>
          </a:p>
        </p:txBody>
      </p:sp>
      <p:sp>
        <p:nvSpPr>
          <p:cNvPr id="105" name="Google Shape;105;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9870158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sz="1900" dirty="0">
              <a:latin typeface="Poppins"/>
              <a:ea typeface="Poppins"/>
              <a:cs typeface="Poppins"/>
              <a:sym typeface="Poppins"/>
            </a:endParaRPr>
          </a:p>
        </p:txBody>
      </p:sp>
      <p:sp>
        <p:nvSpPr>
          <p:cNvPr id="105" name="Google Shape;105;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1099688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sz="1900" dirty="0">
              <a:latin typeface="Poppins"/>
              <a:ea typeface="Poppins"/>
              <a:cs typeface="Poppins"/>
              <a:sym typeface="Poppins"/>
            </a:endParaRPr>
          </a:p>
        </p:txBody>
      </p:sp>
      <p:sp>
        <p:nvSpPr>
          <p:cNvPr id="105" name="Google Shape;105;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7858697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sz="1900" dirty="0">
              <a:latin typeface="Poppins"/>
              <a:ea typeface="Poppins"/>
              <a:cs typeface="Poppins"/>
              <a:sym typeface="Poppins"/>
            </a:endParaRPr>
          </a:p>
        </p:txBody>
      </p:sp>
      <p:sp>
        <p:nvSpPr>
          <p:cNvPr id="105" name="Google Shape;105;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4780359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sz="1900" dirty="0">
              <a:latin typeface="Poppins"/>
              <a:ea typeface="Poppins"/>
              <a:cs typeface="Poppins"/>
              <a:sym typeface="Poppins"/>
            </a:endParaRPr>
          </a:p>
        </p:txBody>
      </p:sp>
      <p:sp>
        <p:nvSpPr>
          <p:cNvPr id="105" name="Google Shape;105;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14118800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a:extLst>
            <a:ext uri="{FF2B5EF4-FFF2-40B4-BE49-F238E27FC236}">
              <a16:creationId xmlns:a16="http://schemas.microsoft.com/office/drawing/2014/main" id="{0838268A-BB53-855D-973A-26A4D33EEC9C}"/>
            </a:ext>
          </a:extLst>
        </p:cNvPr>
        <p:cNvGrpSpPr/>
        <p:nvPr/>
      </p:nvGrpSpPr>
      <p:grpSpPr>
        <a:xfrm>
          <a:off x="0" y="0"/>
          <a:ext cx="0" cy="0"/>
          <a:chOff x="0" y="0"/>
          <a:chExt cx="0" cy="0"/>
        </a:xfrm>
      </p:grpSpPr>
      <p:sp>
        <p:nvSpPr>
          <p:cNvPr id="189" name="Google Shape;189;p3:notes">
            <a:extLst>
              <a:ext uri="{FF2B5EF4-FFF2-40B4-BE49-F238E27FC236}">
                <a16:creationId xmlns:a16="http://schemas.microsoft.com/office/drawing/2014/main" id="{53CB0B84-F339-A572-AC32-F948F5BEB04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1200"/>
              </a:spcBef>
              <a:spcAft>
                <a:spcPts val="0"/>
              </a:spcAft>
              <a:buSzPts val="1400"/>
              <a:buNone/>
            </a:pPr>
            <a:endParaRPr dirty="0"/>
          </a:p>
        </p:txBody>
      </p:sp>
      <p:sp>
        <p:nvSpPr>
          <p:cNvPr id="190" name="Google Shape;190;p3:notes">
            <a:extLst>
              <a:ext uri="{FF2B5EF4-FFF2-40B4-BE49-F238E27FC236}">
                <a16:creationId xmlns:a16="http://schemas.microsoft.com/office/drawing/2014/main" id="{92956906-9BF3-DF73-83D7-7CC9A39D72B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394545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a:extLst>
            <a:ext uri="{FF2B5EF4-FFF2-40B4-BE49-F238E27FC236}">
              <a16:creationId xmlns:a16="http://schemas.microsoft.com/office/drawing/2014/main" id="{C30B1AE0-3B6B-B8AD-13A3-64DBFF17D42B}"/>
            </a:ext>
          </a:extLst>
        </p:cNvPr>
        <p:cNvGrpSpPr/>
        <p:nvPr/>
      </p:nvGrpSpPr>
      <p:grpSpPr>
        <a:xfrm>
          <a:off x="0" y="0"/>
          <a:ext cx="0" cy="0"/>
          <a:chOff x="0" y="0"/>
          <a:chExt cx="0" cy="0"/>
        </a:xfrm>
      </p:grpSpPr>
      <p:sp>
        <p:nvSpPr>
          <p:cNvPr id="189" name="Google Shape;189;p3:notes">
            <a:extLst>
              <a:ext uri="{FF2B5EF4-FFF2-40B4-BE49-F238E27FC236}">
                <a16:creationId xmlns:a16="http://schemas.microsoft.com/office/drawing/2014/main" id="{4FB5141B-6998-3DD8-A847-2125188CD27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1200"/>
              </a:spcBef>
              <a:spcAft>
                <a:spcPts val="0"/>
              </a:spcAft>
              <a:buSzPts val="1400"/>
              <a:buNone/>
            </a:pPr>
            <a:endParaRPr dirty="0"/>
          </a:p>
        </p:txBody>
      </p:sp>
      <p:sp>
        <p:nvSpPr>
          <p:cNvPr id="190" name="Google Shape;190;p3:notes">
            <a:extLst>
              <a:ext uri="{FF2B5EF4-FFF2-40B4-BE49-F238E27FC236}">
                <a16:creationId xmlns:a16="http://schemas.microsoft.com/office/drawing/2014/main" id="{F57F01F6-AC6D-AB1B-5593-DDAF93016AF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8848576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aşlık Slaydı" type="title">
  <p:cSld name="TITLE">
    <p:spTree>
      <p:nvGrpSpPr>
        <p:cNvPr id="1" name="Shape 15"/>
        <p:cNvGrpSpPr/>
        <p:nvPr/>
      </p:nvGrpSpPr>
      <p:grpSpPr>
        <a:xfrm>
          <a:off x="0" y="0"/>
          <a:ext cx="0" cy="0"/>
          <a:chOff x="0" y="0"/>
          <a:chExt cx="0" cy="0"/>
        </a:xfrm>
      </p:grpSpPr>
      <p:sp>
        <p:nvSpPr>
          <p:cNvPr id="16" name="Google Shape;16;p5"/>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Play"/>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5"/>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18" name="Google Shape;18;p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 name="Google Shape;19;p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0" name="Google Shape;20;p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Başlık ve İçerik" type="obj">
  <p:cSld name="OBJECT">
    <p:spTree>
      <p:nvGrpSpPr>
        <p:cNvPr id="1" name="Shape 21"/>
        <p:cNvGrpSpPr/>
        <p:nvPr/>
      </p:nvGrpSpPr>
      <p:grpSpPr>
        <a:xfrm>
          <a:off x="0" y="0"/>
          <a:ext cx="0" cy="0"/>
          <a:chOff x="0" y="0"/>
          <a:chExt cx="0" cy="0"/>
        </a:xfrm>
      </p:grpSpPr>
      <p:sp>
        <p:nvSpPr>
          <p:cNvPr id="22" name="Google Shape;22;p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4" name="Google Shape;24;p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5" name="Google Shape;25;p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6" name="Google Shape;26;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Bölüm Üst Bilgisi" type="secHead">
  <p:cSld name="SECTION_HEADER">
    <p:spTree>
      <p:nvGrpSpPr>
        <p:cNvPr id="1" name="Shape 27"/>
        <p:cNvGrpSpPr/>
        <p:nvPr/>
      </p:nvGrpSpPr>
      <p:grpSpPr>
        <a:xfrm>
          <a:off x="0" y="0"/>
          <a:ext cx="0" cy="0"/>
          <a:chOff x="0" y="0"/>
          <a:chExt cx="0" cy="0"/>
        </a:xfrm>
      </p:grpSpPr>
      <p:sp>
        <p:nvSpPr>
          <p:cNvPr id="28" name="Google Shape;28;p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Play"/>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757575"/>
              </a:buClr>
              <a:buSzPts val="2400"/>
              <a:buNone/>
              <a:defRPr sz="2400">
                <a:solidFill>
                  <a:srgbClr val="757575"/>
                </a:solidFill>
              </a:defRPr>
            </a:lvl1pPr>
            <a:lvl2pPr marL="914400" lvl="1" indent="-228600" algn="l">
              <a:lnSpc>
                <a:spcPct val="90000"/>
              </a:lnSpc>
              <a:spcBef>
                <a:spcPts val="500"/>
              </a:spcBef>
              <a:spcAft>
                <a:spcPts val="0"/>
              </a:spcAft>
              <a:buClr>
                <a:srgbClr val="757575"/>
              </a:buClr>
              <a:buSzPts val="2000"/>
              <a:buNone/>
              <a:defRPr sz="2000">
                <a:solidFill>
                  <a:srgbClr val="757575"/>
                </a:solidFill>
              </a:defRPr>
            </a:lvl2pPr>
            <a:lvl3pPr marL="1371600" lvl="2" indent="-228600" algn="l">
              <a:lnSpc>
                <a:spcPct val="90000"/>
              </a:lnSpc>
              <a:spcBef>
                <a:spcPts val="500"/>
              </a:spcBef>
              <a:spcAft>
                <a:spcPts val="0"/>
              </a:spcAft>
              <a:buClr>
                <a:srgbClr val="757575"/>
              </a:buClr>
              <a:buSzPts val="1800"/>
              <a:buNone/>
              <a:defRPr sz="1800">
                <a:solidFill>
                  <a:srgbClr val="757575"/>
                </a:solidFill>
              </a:defRPr>
            </a:lvl3pPr>
            <a:lvl4pPr marL="1828800" lvl="3" indent="-228600" algn="l">
              <a:lnSpc>
                <a:spcPct val="90000"/>
              </a:lnSpc>
              <a:spcBef>
                <a:spcPts val="500"/>
              </a:spcBef>
              <a:spcAft>
                <a:spcPts val="0"/>
              </a:spcAft>
              <a:buClr>
                <a:srgbClr val="757575"/>
              </a:buClr>
              <a:buSzPts val="1600"/>
              <a:buNone/>
              <a:defRPr sz="1600">
                <a:solidFill>
                  <a:srgbClr val="757575"/>
                </a:solidFill>
              </a:defRPr>
            </a:lvl4pPr>
            <a:lvl5pPr marL="2286000" lvl="4" indent="-228600" algn="l">
              <a:lnSpc>
                <a:spcPct val="90000"/>
              </a:lnSpc>
              <a:spcBef>
                <a:spcPts val="500"/>
              </a:spcBef>
              <a:spcAft>
                <a:spcPts val="0"/>
              </a:spcAft>
              <a:buClr>
                <a:srgbClr val="757575"/>
              </a:buClr>
              <a:buSzPts val="1600"/>
              <a:buNone/>
              <a:defRPr sz="1600">
                <a:solidFill>
                  <a:srgbClr val="757575"/>
                </a:solidFill>
              </a:defRPr>
            </a:lvl5pPr>
            <a:lvl6pPr marL="2743200" lvl="5" indent="-228600" algn="l">
              <a:lnSpc>
                <a:spcPct val="90000"/>
              </a:lnSpc>
              <a:spcBef>
                <a:spcPts val="500"/>
              </a:spcBef>
              <a:spcAft>
                <a:spcPts val="0"/>
              </a:spcAft>
              <a:buClr>
                <a:srgbClr val="757575"/>
              </a:buClr>
              <a:buSzPts val="1600"/>
              <a:buNone/>
              <a:defRPr sz="1600">
                <a:solidFill>
                  <a:srgbClr val="757575"/>
                </a:solidFill>
              </a:defRPr>
            </a:lvl6pPr>
            <a:lvl7pPr marL="3200400" lvl="6" indent="-228600" algn="l">
              <a:lnSpc>
                <a:spcPct val="90000"/>
              </a:lnSpc>
              <a:spcBef>
                <a:spcPts val="500"/>
              </a:spcBef>
              <a:spcAft>
                <a:spcPts val="0"/>
              </a:spcAft>
              <a:buClr>
                <a:srgbClr val="757575"/>
              </a:buClr>
              <a:buSzPts val="1600"/>
              <a:buNone/>
              <a:defRPr sz="1600">
                <a:solidFill>
                  <a:srgbClr val="757575"/>
                </a:solidFill>
              </a:defRPr>
            </a:lvl7pPr>
            <a:lvl8pPr marL="3657600" lvl="7" indent="-228600" algn="l">
              <a:lnSpc>
                <a:spcPct val="90000"/>
              </a:lnSpc>
              <a:spcBef>
                <a:spcPts val="500"/>
              </a:spcBef>
              <a:spcAft>
                <a:spcPts val="0"/>
              </a:spcAft>
              <a:buClr>
                <a:srgbClr val="757575"/>
              </a:buClr>
              <a:buSzPts val="1600"/>
              <a:buNone/>
              <a:defRPr sz="1600">
                <a:solidFill>
                  <a:srgbClr val="757575"/>
                </a:solidFill>
              </a:defRPr>
            </a:lvl8pPr>
            <a:lvl9pPr marL="4114800" lvl="8" indent="-228600" algn="l">
              <a:lnSpc>
                <a:spcPct val="90000"/>
              </a:lnSpc>
              <a:spcBef>
                <a:spcPts val="500"/>
              </a:spcBef>
              <a:spcAft>
                <a:spcPts val="0"/>
              </a:spcAft>
              <a:buClr>
                <a:srgbClr val="757575"/>
              </a:buClr>
              <a:buSzPts val="1600"/>
              <a:buNone/>
              <a:defRPr sz="1600">
                <a:solidFill>
                  <a:srgbClr val="757575"/>
                </a:solidFill>
              </a:defRPr>
            </a:lvl9pPr>
          </a:lstStyle>
          <a:p>
            <a:endParaRPr/>
          </a:p>
        </p:txBody>
      </p:sp>
      <p:sp>
        <p:nvSpPr>
          <p:cNvPr id="30" name="Google Shape;30;p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1" name="Google Shape;31;p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2" name="Google Shape;32;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İki İçerik" type="twoObj">
  <p:cSld name="TWO_OBJECTS">
    <p:spTree>
      <p:nvGrpSpPr>
        <p:cNvPr id="1" name="Shape 33"/>
        <p:cNvGrpSpPr/>
        <p:nvPr/>
      </p:nvGrpSpPr>
      <p:grpSpPr>
        <a:xfrm>
          <a:off x="0" y="0"/>
          <a:ext cx="0" cy="0"/>
          <a:chOff x="0" y="0"/>
          <a:chExt cx="0" cy="0"/>
        </a:xfrm>
      </p:grpSpPr>
      <p:sp>
        <p:nvSpPr>
          <p:cNvPr id="34" name="Google Shape;34;p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5" name="Google Shape;35;p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6" name="Google Shape;36;p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7" name="Google Shape;37;p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8" name="Google Shape;38;p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9" name="Google Shape;39;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Karşılaştırma" type="twoTxTwoObj">
  <p:cSld name="TWO_OBJECTS_WITH_TEXT">
    <p:spTree>
      <p:nvGrpSpPr>
        <p:cNvPr id="1" name="Shape 40"/>
        <p:cNvGrpSpPr/>
        <p:nvPr/>
      </p:nvGrpSpPr>
      <p:grpSpPr>
        <a:xfrm>
          <a:off x="0" y="0"/>
          <a:ext cx="0" cy="0"/>
          <a:chOff x="0" y="0"/>
          <a:chExt cx="0" cy="0"/>
        </a:xfrm>
      </p:grpSpPr>
      <p:sp>
        <p:nvSpPr>
          <p:cNvPr id="41" name="Google Shape;41;p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2" name="Google Shape;42;p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5" name="Google Shape;45;p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6" name="Google Shape;46;p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7" name="Google Shape;47;p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8" name="Google Shape;48;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Yalnızca Başlık" type="titleOnly">
  <p:cSld name="TITLE_ONLY">
    <p:spTree>
      <p:nvGrpSpPr>
        <p:cNvPr id="1" name="Shape 49"/>
        <p:cNvGrpSpPr/>
        <p:nvPr/>
      </p:nvGrpSpPr>
      <p:grpSpPr>
        <a:xfrm>
          <a:off x="0" y="0"/>
          <a:ext cx="0" cy="0"/>
          <a:chOff x="0" y="0"/>
          <a:chExt cx="0" cy="0"/>
        </a:xfrm>
      </p:grpSpPr>
      <p:sp>
        <p:nvSpPr>
          <p:cNvPr id="50" name="Google Shape;50;p1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1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2" name="Google Shape;52;p1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3" name="Google Shape;53;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oş" type="blank">
  <p:cSld name="BLANK">
    <p:spTree>
      <p:nvGrpSpPr>
        <p:cNvPr id="1" name="Shape 54"/>
        <p:cNvGrpSpPr/>
        <p:nvPr/>
      </p:nvGrpSpPr>
      <p:grpSpPr>
        <a:xfrm>
          <a:off x="0" y="0"/>
          <a:ext cx="0" cy="0"/>
          <a:chOff x="0" y="0"/>
          <a:chExt cx="0" cy="0"/>
        </a:xfrm>
      </p:grpSpPr>
      <p:sp>
        <p:nvSpPr>
          <p:cNvPr id="55" name="Google Shape;55;p1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6" name="Google Shape;56;p1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Başlıklı İçerik" type="objTx">
  <p:cSld name="OBJECT_WITH_CAPTION_TEXT">
    <p:spTree>
      <p:nvGrpSpPr>
        <p:cNvPr id="1" name="Shape 58"/>
        <p:cNvGrpSpPr/>
        <p:nvPr/>
      </p:nvGrpSpPr>
      <p:grpSpPr>
        <a:xfrm>
          <a:off x="0" y="0"/>
          <a:ext cx="0" cy="0"/>
          <a:chOff x="0" y="0"/>
          <a:chExt cx="0" cy="0"/>
        </a:xfrm>
      </p:grpSpPr>
      <p:sp>
        <p:nvSpPr>
          <p:cNvPr id="59" name="Google Shape;59;p1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Play"/>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0" name="Google Shape;60;p1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61" name="Google Shape;61;p1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2" name="Google Shape;62;p1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3" name="Google Shape;63;p1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aşlıklı Resim" type="picTx">
  <p:cSld name="PICTURE_WITH_CAPTION_TEXT">
    <p:spTree>
      <p:nvGrpSpPr>
        <p:cNvPr id="1" name="Shape 65"/>
        <p:cNvGrpSpPr/>
        <p:nvPr/>
      </p:nvGrpSpPr>
      <p:grpSpPr>
        <a:xfrm>
          <a:off x="0" y="0"/>
          <a:ext cx="0" cy="0"/>
          <a:chOff x="0" y="0"/>
          <a:chExt cx="0" cy="0"/>
        </a:xfrm>
      </p:grpSpPr>
      <p:sp>
        <p:nvSpPr>
          <p:cNvPr id="66" name="Google Shape;66;p1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Play"/>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7" name="Google Shape;67;p13"/>
          <p:cNvSpPr>
            <a:spLocks noGrp="1"/>
          </p:cNvSpPr>
          <p:nvPr>
            <p:ph type="pic" idx="2"/>
          </p:nvPr>
        </p:nvSpPr>
        <p:spPr>
          <a:xfrm>
            <a:off x="5183188" y="987425"/>
            <a:ext cx="6172200" cy="4873625"/>
          </a:xfrm>
          <a:prstGeom prst="rect">
            <a:avLst/>
          </a:prstGeom>
          <a:noFill/>
          <a:ln>
            <a:noFill/>
          </a:ln>
        </p:spPr>
      </p:sp>
      <p:sp>
        <p:nvSpPr>
          <p:cNvPr id="68" name="Google Shape;68;p1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9" name="Google Shape;69;p1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1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1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aşlık ve Dikey Metin" type="vertTx">
  <p:cSld name="VERTICAL_TEXT">
    <p:spTree>
      <p:nvGrpSpPr>
        <p:cNvPr id="1" name="Shape 72"/>
        <p:cNvGrpSpPr/>
        <p:nvPr/>
      </p:nvGrpSpPr>
      <p:grpSpPr>
        <a:xfrm>
          <a:off x="0" y="0"/>
          <a:ext cx="0" cy="0"/>
          <a:chOff x="0" y="0"/>
          <a:chExt cx="0" cy="0"/>
        </a:xfrm>
      </p:grpSpPr>
      <p:sp>
        <p:nvSpPr>
          <p:cNvPr id="73" name="Google Shape;73;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1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Dikey Başlık ve Metin" type="vertTitleAndTx">
  <p:cSld name="VERTICAL_TITLE_AND_VERTICAL_TEXT">
    <p:spTree>
      <p:nvGrpSpPr>
        <p:cNvPr id="1" name="Shape 78"/>
        <p:cNvGrpSpPr/>
        <p:nvPr/>
      </p:nvGrpSpPr>
      <p:grpSpPr>
        <a:xfrm>
          <a:off x="0" y="0"/>
          <a:ext cx="0" cy="0"/>
          <a:chOff x="0" y="0"/>
          <a:chExt cx="0" cy="0"/>
        </a:xfrm>
      </p:grpSpPr>
      <p:sp>
        <p:nvSpPr>
          <p:cNvPr id="79" name="Google Shape;79;p1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0" name="Google Shape;80;p1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1" name="Google Shape;81;p1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2" name="Google Shape;82;p1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3" name="Google Shape;83;p1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Play"/>
              <a:buNone/>
              <a:defRPr sz="4400" b="0" i="0" u="none" strike="noStrike" cap="none">
                <a:solidFill>
                  <a:schemeClr val="dk1"/>
                </a:solidFill>
                <a:latin typeface="Play"/>
                <a:ea typeface="Play"/>
                <a:cs typeface="Play"/>
                <a:sym typeface="Play"/>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rial"/>
                <a:ea typeface="Arial"/>
                <a:cs typeface="Arial"/>
                <a:sym typeface="Arial"/>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12" name="Google Shape;12;p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757575"/>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13" name="Google Shape;13;p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757575"/>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14" name="Google Shape;14;p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hyperlink" Target="https://abp.io/community/raffles" TargetMode="Externa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8" Type="http://schemas.openxmlformats.org/officeDocument/2006/relationships/image" Target="../media/image10.jpe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10" Type="http://schemas.openxmlformats.org/officeDocument/2006/relationships/image" Target="../media/image12.png"/><Relationship Id="rId4" Type="http://schemas.openxmlformats.org/officeDocument/2006/relationships/image" Target="../media/image6.png"/><Relationship Id="rId9" Type="http://schemas.openxmlformats.org/officeDocument/2006/relationships/image" Target="../media/image11.png"/></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18.png"/><Relationship Id="rId4" Type="http://schemas.openxmlformats.org/officeDocument/2006/relationships/image" Target="../media/image17.png"/></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21.png"/><Relationship Id="rId4" Type="http://schemas.openxmlformats.org/officeDocument/2006/relationships/image" Target="../media/image20.png"/></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p:cNvGrpSpPr/>
        <p:nvPr/>
      </p:nvGrpSpPr>
      <p:grpSpPr>
        <a:xfrm>
          <a:off x="0" y="0"/>
          <a:ext cx="0" cy="0"/>
          <a:chOff x="0" y="0"/>
          <a:chExt cx="0" cy="0"/>
        </a:xfrm>
      </p:grpSpPr>
      <p:sp>
        <p:nvSpPr>
          <p:cNvPr id="107" name="Google Shape;107;p2"/>
          <p:cNvSpPr txBox="1"/>
          <p:nvPr/>
        </p:nvSpPr>
        <p:spPr>
          <a:xfrm>
            <a:off x="464188" y="2330072"/>
            <a:ext cx="11861800" cy="3908722"/>
          </a:xfrm>
          <a:prstGeom prst="rect">
            <a:avLst/>
          </a:prstGeom>
          <a:noFill/>
          <a:ln>
            <a:noFill/>
          </a:ln>
        </p:spPr>
        <p:txBody>
          <a:bodyPr spcFirstLastPara="1" wrap="square" lIns="91425" tIns="45700" rIns="91425" bIns="45700" anchor="t" anchorCtr="0">
            <a:spAutoFit/>
          </a:bodyPr>
          <a:lstStyle/>
          <a:p>
            <a:pPr marL="742950" indent="-742950">
              <a:buClr>
                <a:schemeClr val="bg1">
                  <a:lumMod val="50000"/>
                </a:schemeClr>
              </a:buClr>
              <a:buSzPts val="3200"/>
              <a:buFont typeface="+mj-lt"/>
              <a:buAutoNum type="arabicPeriod"/>
            </a:pPr>
            <a:r>
              <a:rPr lang="en-US" sz="3600" b="1" dirty="0">
                <a:solidFill>
                  <a:srgbClr val="A646A0"/>
                </a:solidFill>
                <a:latin typeface="Lexend" panose="020B0604020202020204" charset="-94"/>
                <a:ea typeface="Lexend"/>
                <a:cs typeface="Lexend"/>
                <a:sym typeface="Lexend"/>
              </a:rPr>
              <a:t>ABP 10 </a:t>
            </a:r>
            <a:r>
              <a:rPr lang="en-US" sz="2400" i="0" dirty="0">
                <a:solidFill>
                  <a:srgbClr val="F0F6FC"/>
                </a:solidFill>
                <a:effectLst/>
                <a:latin typeface="Lexend" panose="020B0604020202020204" charset="-94"/>
              </a:rPr>
              <a:t>🗣 </a:t>
            </a:r>
            <a:r>
              <a:rPr lang="en-US" sz="3600" dirty="0" err="1">
                <a:solidFill>
                  <a:srgbClr val="4691C9"/>
                </a:solidFill>
                <a:latin typeface="Lexend" panose="020B0604020202020204" charset="-94"/>
                <a:ea typeface="Lexend"/>
                <a:cs typeface="Lexend"/>
                <a:sym typeface="Lexend"/>
              </a:rPr>
              <a:t>Engincan</a:t>
            </a:r>
            <a:r>
              <a:rPr lang="en-US" sz="3600" dirty="0">
                <a:solidFill>
                  <a:srgbClr val="4691C9"/>
                </a:solidFill>
                <a:latin typeface="Lexend" panose="020B0604020202020204" charset="-94"/>
                <a:ea typeface="Lexend"/>
                <a:cs typeface="Lexend"/>
                <a:sym typeface="Lexend"/>
              </a:rPr>
              <a:t> </a:t>
            </a:r>
            <a:r>
              <a:rPr lang="en-US" sz="3600" dirty="0" err="1">
                <a:solidFill>
                  <a:srgbClr val="4691C9"/>
                </a:solidFill>
                <a:latin typeface="Lexend" panose="020B0604020202020204" charset="-94"/>
                <a:ea typeface="Lexend"/>
                <a:cs typeface="Lexend"/>
                <a:sym typeface="Lexend"/>
              </a:rPr>
              <a:t>Veske</a:t>
            </a:r>
            <a:endParaRPr lang="en-US" sz="3600" dirty="0">
              <a:solidFill>
                <a:srgbClr val="4691C9"/>
              </a:solidFill>
              <a:latin typeface="Lexend" panose="020B0604020202020204" charset="-94"/>
              <a:ea typeface="Lexend"/>
              <a:cs typeface="Lexend"/>
              <a:sym typeface="Lexend"/>
            </a:endParaRPr>
          </a:p>
          <a:p>
            <a:pPr marL="742950" indent="-742950">
              <a:buClr>
                <a:schemeClr val="bg1">
                  <a:lumMod val="50000"/>
                </a:schemeClr>
              </a:buClr>
              <a:buSzPts val="3200"/>
              <a:buFont typeface="+mj-lt"/>
              <a:buAutoNum type="arabicPeriod"/>
            </a:pPr>
            <a:r>
              <a:rPr lang="en-US" sz="3600" b="1" dirty="0">
                <a:solidFill>
                  <a:srgbClr val="A646A0"/>
                </a:solidFill>
                <a:latin typeface="Lexend" panose="020B0604020202020204" charset="-94"/>
                <a:ea typeface="Lexend"/>
                <a:cs typeface="Lexend"/>
                <a:sym typeface="Lexend"/>
              </a:rPr>
              <a:t>C# 14</a:t>
            </a:r>
            <a:r>
              <a:rPr lang="en-US" sz="4400" b="1" i="0" dirty="0">
                <a:solidFill>
                  <a:srgbClr val="A646A0"/>
                </a:solidFill>
                <a:effectLst/>
                <a:latin typeface="Lexend" panose="020B0604020202020204" charset="-94"/>
              </a:rPr>
              <a:t> </a:t>
            </a:r>
            <a:r>
              <a:rPr lang="en-US" sz="2400" i="0" dirty="0">
                <a:solidFill>
                  <a:srgbClr val="F0F6FC"/>
                </a:solidFill>
                <a:effectLst/>
                <a:latin typeface="Lexend" panose="020B0604020202020204" charset="-94"/>
              </a:rPr>
              <a:t>🗣</a:t>
            </a:r>
            <a:r>
              <a:rPr lang="en-US" sz="4400" i="0" dirty="0">
                <a:solidFill>
                  <a:srgbClr val="F0F6FC"/>
                </a:solidFill>
                <a:effectLst/>
                <a:latin typeface="Lexend" panose="020B0604020202020204" charset="-94"/>
              </a:rPr>
              <a:t> </a:t>
            </a:r>
            <a:r>
              <a:rPr lang="en-US" sz="3600" dirty="0" err="1">
                <a:solidFill>
                  <a:srgbClr val="4691C9"/>
                </a:solidFill>
                <a:latin typeface="Lexend" panose="020B0604020202020204" charset="-94"/>
                <a:ea typeface="Lexend"/>
                <a:cs typeface="Lexend"/>
                <a:sym typeface="Lexend"/>
              </a:rPr>
              <a:t>Berkan</a:t>
            </a:r>
            <a:r>
              <a:rPr lang="en-US" sz="3600" dirty="0">
                <a:solidFill>
                  <a:srgbClr val="4691C9"/>
                </a:solidFill>
                <a:latin typeface="Lexend" panose="020B0604020202020204" charset="-94"/>
                <a:ea typeface="Lexend"/>
                <a:cs typeface="Lexend"/>
                <a:sym typeface="Lexend"/>
              </a:rPr>
              <a:t> </a:t>
            </a:r>
            <a:r>
              <a:rPr lang="en-US" sz="3600" dirty="0" err="1">
                <a:solidFill>
                  <a:srgbClr val="4691C9"/>
                </a:solidFill>
                <a:latin typeface="Lexend" panose="020B0604020202020204" charset="-94"/>
                <a:ea typeface="Lexend"/>
                <a:cs typeface="Lexend"/>
                <a:sym typeface="Lexend"/>
              </a:rPr>
              <a:t>Sasmaz</a:t>
            </a:r>
            <a:endParaRPr lang="en-US" sz="3600" dirty="0">
              <a:solidFill>
                <a:srgbClr val="4691C9"/>
              </a:solidFill>
              <a:latin typeface="Lexend" panose="020B0604020202020204" charset="-94"/>
              <a:ea typeface="Lexend"/>
              <a:cs typeface="Lexend"/>
              <a:sym typeface="Lexend"/>
            </a:endParaRPr>
          </a:p>
          <a:p>
            <a:pPr marL="742950" marR="0" lvl="0" indent="-742950" rtl="0">
              <a:lnSpc>
                <a:spcPct val="100000"/>
              </a:lnSpc>
              <a:spcBef>
                <a:spcPts val="0"/>
              </a:spcBef>
              <a:spcAft>
                <a:spcPts val="0"/>
              </a:spcAft>
              <a:buClr>
                <a:schemeClr val="bg1">
                  <a:lumMod val="50000"/>
                </a:schemeClr>
              </a:buClr>
              <a:buSzPts val="3200"/>
              <a:buFont typeface="+mj-lt"/>
              <a:buAutoNum type="arabicPeriod"/>
            </a:pPr>
            <a:r>
              <a:rPr lang="en-US" sz="3600" b="1" dirty="0">
                <a:solidFill>
                  <a:srgbClr val="A646A0"/>
                </a:solidFill>
                <a:latin typeface="Lexend" panose="020B0604020202020204" charset="-94"/>
                <a:ea typeface="Lexend"/>
                <a:cs typeface="Lexend"/>
                <a:sym typeface="Lexend"/>
              </a:rPr>
              <a:t>Libraries &amp; Runtime</a:t>
            </a:r>
            <a:r>
              <a:rPr lang="en-US" sz="3600" b="1" dirty="0">
                <a:solidFill>
                  <a:srgbClr val="292D33"/>
                </a:solidFill>
                <a:latin typeface="Lexend" panose="020B0604020202020204" charset="-94"/>
                <a:ea typeface="Lexend"/>
                <a:cs typeface="Lexend"/>
                <a:sym typeface="Lexend"/>
              </a:rPr>
              <a:t> </a:t>
            </a:r>
            <a:r>
              <a:rPr lang="en-US" sz="2400" i="0" dirty="0">
                <a:solidFill>
                  <a:srgbClr val="F0F6FC"/>
                </a:solidFill>
                <a:effectLst/>
                <a:latin typeface="Lexend" panose="020B0604020202020204" charset="-94"/>
              </a:rPr>
              <a:t>🗣</a:t>
            </a:r>
            <a:r>
              <a:rPr lang="en-US" sz="3600" dirty="0">
                <a:solidFill>
                  <a:srgbClr val="292D33"/>
                </a:solidFill>
                <a:latin typeface="Lexend" panose="020B0604020202020204" charset="-94"/>
                <a:ea typeface="Lexend"/>
                <a:cs typeface="Lexend"/>
                <a:sym typeface="Lexend"/>
              </a:rPr>
              <a:t> </a:t>
            </a:r>
            <a:r>
              <a:rPr lang="en-US" sz="3600" dirty="0">
                <a:solidFill>
                  <a:srgbClr val="4691C9"/>
                </a:solidFill>
                <a:latin typeface="Lexend" panose="020B0604020202020204" charset="-94"/>
                <a:ea typeface="Lexend"/>
                <a:cs typeface="Lexend"/>
                <a:sym typeface="Lexend"/>
              </a:rPr>
              <a:t>Alper Ebicoglu</a:t>
            </a:r>
          </a:p>
          <a:p>
            <a:pPr marL="742950" indent="-742950">
              <a:buClr>
                <a:schemeClr val="bg1">
                  <a:lumMod val="50000"/>
                </a:schemeClr>
              </a:buClr>
              <a:buSzPts val="3200"/>
              <a:buFont typeface="+mj-lt"/>
              <a:buAutoNum type="arabicPeriod"/>
            </a:pPr>
            <a:r>
              <a:rPr lang="en-US" sz="3600" b="1" dirty="0">
                <a:solidFill>
                  <a:srgbClr val="A646A0"/>
                </a:solidFill>
                <a:latin typeface="Lexend" panose="020B0604020202020204" charset="-94"/>
                <a:ea typeface="Lexend"/>
                <a:cs typeface="Lexend"/>
                <a:sym typeface="Lexend"/>
              </a:rPr>
              <a:t>ASP.NET Core</a:t>
            </a:r>
            <a:r>
              <a:rPr lang="en-US" sz="4400" b="1" i="0" dirty="0">
                <a:solidFill>
                  <a:srgbClr val="A646A0"/>
                </a:solidFill>
                <a:effectLst/>
                <a:latin typeface="Lexend" panose="020B0604020202020204" charset="-94"/>
              </a:rPr>
              <a:t> </a:t>
            </a:r>
            <a:r>
              <a:rPr lang="en-US" sz="2400" i="0" dirty="0">
                <a:solidFill>
                  <a:srgbClr val="F0F6FC"/>
                </a:solidFill>
                <a:effectLst/>
                <a:latin typeface="Lexend" panose="020B0604020202020204" charset="-94"/>
              </a:rPr>
              <a:t>🗣</a:t>
            </a:r>
            <a:r>
              <a:rPr lang="en-US" sz="4400" i="0" dirty="0">
                <a:solidFill>
                  <a:srgbClr val="F0F6FC"/>
                </a:solidFill>
                <a:effectLst/>
                <a:latin typeface="Lexend" panose="020B0604020202020204" charset="-94"/>
              </a:rPr>
              <a:t> </a:t>
            </a:r>
            <a:r>
              <a:rPr lang="en-US" sz="3600" dirty="0">
                <a:solidFill>
                  <a:srgbClr val="4691C9"/>
                </a:solidFill>
                <a:latin typeface="Lexend" panose="020B0604020202020204" charset="-94"/>
                <a:ea typeface="Lexend"/>
                <a:cs typeface="Lexend"/>
                <a:sym typeface="Lexend"/>
              </a:rPr>
              <a:t>Mansur </a:t>
            </a:r>
            <a:r>
              <a:rPr lang="en-US" sz="3600" dirty="0" err="1">
                <a:solidFill>
                  <a:srgbClr val="4691C9"/>
                </a:solidFill>
                <a:latin typeface="Lexend" panose="020B0604020202020204" charset="-94"/>
                <a:ea typeface="Lexend"/>
                <a:cs typeface="Lexend"/>
                <a:sym typeface="Lexend"/>
              </a:rPr>
              <a:t>Besleney</a:t>
            </a:r>
            <a:r>
              <a:rPr lang="en-US" sz="3600" dirty="0">
                <a:solidFill>
                  <a:srgbClr val="4691C9"/>
                </a:solidFill>
                <a:latin typeface="Lexend" panose="020B0604020202020204" charset="-94"/>
                <a:ea typeface="Lexend"/>
                <a:cs typeface="Lexend"/>
                <a:sym typeface="Lexend"/>
              </a:rPr>
              <a:t> </a:t>
            </a:r>
          </a:p>
          <a:p>
            <a:pPr marL="742950" indent="-742950">
              <a:buClr>
                <a:schemeClr val="bg1">
                  <a:lumMod val="50000"/>
                </a:schemeClr>
              </a:buClr>
              <a:buSzPts val="3200"/>
              <a:buFont typeface="+mj-lt"/>
              <a:buAutoNum type="arabicPeriod"/>
            </a:pPr>
            <a:r>
              <a:rPr lang="en-US" sz="3600" b="1" dirty="0">
                <a:solidFill>
                  <a:srgbClr val="A646A0"/>
                </a:solidFill>
                <a:latin typeface="Lexend" panose="020B0604020202020204" charset="-94"/>
                <a:ea typeface="Lexend"/>
                <a:cs typeface="Lexend"/>
                <a:sym typeface="Lexend"/>
              </a:rPr>
              <a:t>.NET MAUI</a:t>
            </a:r>
            <a:r>
              <a:rPr lang="en-US" sz="4400" b="1" i="0" dirty="0">
                <a:solidFill>
                  <a:srgbClr val="A646A0"/>
                </a:solidFill>
                <a:effectLst/>
                <a:latin typeface="Lexend" panose="020B0604020202020204" charset="-94"/>
              </a:rPr>
              <a:t> </a:t>
            </a:r>
            <a:r>
              <a:rPr lang="en-US" sz="2400" i="0" dirty="0">
                <a:solidFill>
                  <a:srgbClr val="F0F6FC"/>
                </a:solidFill>
                <a:effectLst/>
                <a:latin typeface="Lexend" panose="020B0604020202020204" charset="-94"/>
              </a:rPr>
              <a:t>🗣 </a:t>
            </a:r>
            <a:r>
              <a:rPr lang="en-US" sz="3600" dirty="0" err="1">
                <a:solidFill>
                  <a:srgbClr val="4691C9"/>
                </a:solidFill>
                <a:latin typeface="Lexend" panose="020B0604020202020204" charset="-94"/>
                <a:ea typeface="Lexend"/>
                <a:cs typeface="Lexend"/>
                <a:sym typeface="Lexend"/>
              </a:rPr>
              <a:t>Enis</a:t>
            </a:r>
            <a:r>
              <a:rPr lang="en-US" sz="3600" dirty="0">
                <a:solidFill>
                  <a:srgbClr val="4691C9"/>
                </a:solidFill>
                <a:latin typeface="Lexend" panose="020B0604020202020204" charset="-94"/>
                <a:ea typeface="Lexend"/>
                <a:cs typeface="Lexend"/>
                <a:sym typeface="Lexend"/>
              </a:rPr>
              <a:t> </a:t>
            </a:r>
            <a:r>
              <a:rPr lang="en-US" sz="3600" dirty="0" err="1">
                <a:solidFill>
                  <a:srgbClr val="4691C9"/>
                </a:solidFill>
                <a:latin typeface="Lexend" panose="020B0604020202020204" charset="-94"/>
                <a:ea typeface="Lexend"/>
                <a:cs typeface="Lexend"/>
                <a:sym typeface="Lexend"/>
              </a:rPr>
              <a:t>Necipoglu</a:t>
            </a:r>
            <a:endParaRPr lang="en-US" sz="3600" dirty="0">
              <a:solidFill>
                <a:srgbClr val="4691C9"/>
              </a:solidFill>
              <a:latin typeface="Lexend" panose="020B0604020202020204" charset="-94"/>
              <a:ea typeface="Lexend"/>
              <a:cs typeface="Lexend"/>
              <a:sym typeface="Lexend"/>
            </a:endParaRPr>
          </a:p>
          <a:p>
            <a:pPr marL="742950" indent="-742950">
              <a:buClr>
                <a:schemeClr val="bg1">
                  <a:lumMod val="50000"/>
                </a:schemeClr>
              </a:buClr>
              <a:buSzPts val="3200"/>
              <a:buFont typeface="+mj-lt"/>
              <a:buAutoNum type="arabicPeriod"/>
            </a:pPr>
            <a:r>
              <a:rPr lang="en-US" sz="3600" b="1" dirty="0">
                <a:solidFill>
                  <a:srgbClr val="A646A0"/>
                </a:solidFill>
                <a:latin typeface="Lexend" panose="020B0604020202020204" charset="-94"/>
                <a:ea typeface="Lexend"/>
                <a:cs typeface="Lexend"/>
                <a:sym typeface="Lexend"/>
              </a:rPr>
              <a:t>EF Core 10</a:t>
            </a:r>
            <a:r>
              <a:rPr lang="en-US" sz="4400" b="1" i="0" dirty="0">
                <a:solidFill>
                  <a:srgbClr val="A646A0"/>
                </a:solidFill>
                <a:effectLst/>
                <a:latin typeface="Lexend" panose="020B0604020202020204" charset="-94"/>
              </a:rPr>
              <a:t> </a:t>
            </a:r>
            <a:r>
              <a:rPr lang="en-US" sz="2400" i="0" dirty="0">
                <a:solidFill>
                  <a:srgbClr val="F0F6FC"/>
                </a:solidFill>
                <a:effectLst/>
                <a:latin typeface="Lexend" panose="020B0604020202020204" charset="-94"/>
              </a:rPr>
              <a:t>🗣 </a:t>
            </a:r>
            <a:r>
              <a:rPr lang="en-US" sz="3600" dirty="0" err="1">
                <a:solidFill>
                  <a:srgbClr val="4691C9"/>
                </a:solidFill>
                <a:latin typeface="Lexend" panose="020B0604020202020204" charset="-94"/>
                <a:ea typeface="Lexend"/>
                <a:cs typeface="Lexend"/>
                <a:sym typeface="Lexend"/>
              </a:rPr>
              <a:t>Oguzhan</a:t>
            </a:r>
            <a:r>
              <a:rPr lang="en-US" sz="3600" dirty="0">
                <a:solidFill>
                  <a:srgbClr val="4691C9"/>
                </a:solidFill>
                <a:latin typeface="Lexend" panose="020B0604020202020204" charset="-94"/>
                <a:ea typeface="Lexend"/>
                <a:cs typeface="Lexend"/>
                <a:sym typeface="Lexend"/>
              </a:rPr>
              <a:t> </a:t>
            </a:r>
            <a:r>
              <a:rPr lang="en-US" sz="3600" dirty="0" err="1">
                <a:solidFill>
                  <a:srgbClr val="4691C9"/>
                </a:solidFill>
                <a:latin typeface="Lexend" panose="020B0604020202020204" charset="-94"/>
                <a:ea typeface="Lexend"/>
                <a:cs typeface="Lexend"/>
                <a:sym typeface="Lexend"/>
              </a:rPr>
              <a:t>Agir</a:t>
            </a:r>
            <a:endParaRPr lang="en-US" sz="3600" dirty="0">
              <a:solidFill>
                <a:srgbClr val="4691C9"/>
              </a:solidFill>
              <a:latin typeface="Lexend" panose="020B0604020202020204" charset="-94"/>
              <a:ea typeface="Lexend"/>
              <a:cs typeface="Lexend"/>
              <a:sym typeface="Lexend"/>
            </a:endParaRPr>
          </a:p>
        </p:txBody>
      </p:sp>
      <p:sp>
        <p:nvSpPr>
          <p:cNvPr id="4" name="Google Shape;107;p2">
            <a:extLst>
              <a:ext uri="{FF2B5EF4-FFF2-40B4-BE49-F238E27FC236}">
                <a16:creationId xmlns:a16="http://schemas.microsoft.com/office/drawing/2014/main" id="{02AC51CC-EBB7-4116-9DC7-6AC55CD8EC5A}"/>
              </a:ext>
            </a:extLst>
          </p:cNvPr>
          <p:cNvSpPr txBox="1"/>
          <p:nvPr/>
        </p:nvSpPr>
        <p:spPr>
          <a:xfrm>
            <a:off x="464188" y="413663"/>
            <a:ext cx="10720064" cy="144650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200"/>
              <a:buFont typeface="Arial"/>
              <a:buNone/>
            </a:pPr>
            <a:r>
              <a:rPr lang="en-US" sz="4400" b="1" dirty="0">
                <a:solidFill>
                  <a:srgbClr val="292D33"/>
                </a:solidFill>
                <a:latin typeface="Lexend"/>
                <a:ea typeface="Lexend"/>
                <a:cs typeface="Lexend"/>
                <a:sym typeface="Lexend"/>
              </a:rPr>
              <a:t>TODAY’S AGENDA </a:t>
            </a:r>
            <a:br>
              <a:rPr lang="en-US" sz="4400" b="1" dirty="0">
                <a:solidFill>
                  <a:srgbClr val="292D33"/>
                </a:solidFill>
                <a:latin typeface="Lexend"/>
                <a:ea typeface="Lexend"/>
                <a:cs typeface="Lexend"/>
                <a:sym typeface="Lexend"/>
              </a:rPr>
            </a:br>
            <a:r>
              <a:rPr lang="en-US" sz="4400" dirty="0">
                <a:solidFill>
                  <a:srgbClr val="292D33"/>
                </a:solidFill>
                <a:latin typeface="Lexend"/>
                <a:ea typeface="Lexend"/>
                <a:cs typeface="Lexend"/>
                <a:sym typeface="Lexend"/>
              </a:rPr>
              <a:t>.NET 10 &amp; ABP 10 Improvements </a:t>
            </a:r>
          </a:p>
        </p:txBody>
      </p:sp>
      <p:cxnSp>
        <p:nvCxnSpPr>
          <p:cNvPr id="3" name="Straight Connector 2">
            <a:extLst>
              <a:ext uri="{FF2B5EF4-FFF2-40B4-BE49-F238E27FC236}">
                <a16:creationId xmlns:a16="http://schemas.microsoft.com/office/drawing/2014/main" id="{C941B243-28E5-4E2F-AEBD-799AF04B5B34}"/>
              </a:ext>
            </a:extLst>
          </p:cNvPr>
          <p:cNvCxnSpPr/>
          <p:nvPr/>
        </p:nvCxnSpPr>
        <p:spPr>
          <a:xfrm>
            <a:off x="464188" y="2057400"/>
            <a:ext cx="11054712" cy="0"/>
          </a:xfrm>
          <a:prstGeom prst="line">
            <a:avLst/>
          </a:prstGeom>
          <a:ln w="285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467696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D754119-32EC-4259-A719-82F82F795B8B}"/>
              </a:ext>
            </a:extLst>
          </p:cNvPr>
          <p:cNvPicPr>
            <a:picLocks noChangeAspect="1"/>
          </p:cNvPicPr>
          <p:nvPr/>
        </p:nvPicPr>
        <p:blipFill rotWithShape="1">
          <a:blip r:embed="rId3"/>
          <a:srcRect b="5932"/>
          <a:stretch/>
        </p:blipFill>
        <p:spPr>
          <a:xfrm>
            <a:off x="352425" y="509388"/>
            <a:ext cx="11353800" cy="2114550"/>
          </a:xfrm>
          <a:prstGeom prst="rect">
            <a:avLst/>
          </a:prstGeom>
          <a:ln>
            <a:noFill/>
          </a:ln>
          <a:effectLst>
            <a:softEdge rad="112500"/>
          </a:effectLst>
        </p:spPr>
      </p:pic>
      <p:pic>
        <p:nvPicPr>
          <p:cNvPr id="7" name="Picture 6">
            <a:extLst>
              <a:ext uri="{FF2B5EF4-FFF2-40B4-BE49-F238E27FC236}">
                <a16:creationId xmlns:a16="http://schemas.microsoft.com/office/drawing/2014/main" id="{0185B5DA-A6BC-4A1F-A6A8-E56F8D420DCB}"/>
              </a:ext>
            </a:extLst>
          </p:cNvPr>
          <p:cNvPicPr>
            <a:picLocks noChangeAspect="1"/>
          </p:cNvPicPr>
          <p:nvPr/>
        </p:nvPicPr>
        <p:blipFill rotWithShape="1">
          <a:blip r:embed="rId4"/>
          <a:srcRect b="8642"/>
          <a:stretch/>
        </p:blipFill>
        <p:spPr>
          <a:xfrm>
            <a:off x="352425" y="2732306"/>
            <a:ext cx="11340000" cy="2099649"/>
          </a:xfrm>
          <a:prstGeom prst="rect">
            <a:avLst/>
          </a:prstGeom>
          <a:ln>
            <a:noFill/>
          </a:ln>
          <a:effectLst>
            <a:softEdge rad="112500"/>
          </a:effectLst>
        </p:spPr>
      </p:pic>
      <p:sp>
        <p:nvSpPr>
          <p:cNvPr id="9" name="TextBox 8">
            <a:extLst>
              <a:ext uri="{FF2B5EF4-FFF2-40B4-BE49-F238E27FC236}">
                <a16:creationId xmlns:a16="http://schemas.microsoft.com/office/drawing/2014/main" id="{809026EB-03CA-4B04-93E9-7EB82AD0D3CD}"/>
              </a:ext>
            </a:extLst>
          </p:cNvPr>
          <p:cNvSpPr txBox="1"/>
          <p:nvPr/>
        </p:nvSpPr>
        <p:spPr>
          <a:xfrm>
            <a:off x="0" y="5388694"/>
            <a:ext cx="9794240" cy="461665"/>
          </a:xfrm>
          <a:prstGeom prst="rect">
            <a:avLst/>
          </a:prstGeom>
          <a:noFill/>
        </p:spPr>
        <p:txBody>
          <a:bodyPr wrap="square">
            <a:spAutoFit/>
          </a:bodyPr>
          <a:lstStyle/>
          <a:p>
            <a:pPr algn="ctr"/>
            <a:r>
              <a:rPr lang="en-US" sz="2400" dirty="0">
                <a:latin typeface="Lexend" panose="020B0604020202020204" charset="-94"/>
              </a:rPr>
              <a:t>Visit </a:t>
            </a:r>
            <a:r>
              <a:rPr lang="en-US" sz="2400" b="1" dirty="0">
                <a:latin typeface="Lexend" panose="020B0604020202020204" charset="-94"/>
                <a:hlinkClick r:id="rId5"/>
              </a:rPr>
              <a:t>abp.io/community/raffles</a:t>
            </a:r>
            <a:r>
              <a:rPr lang="en-US" sz="2400" b="1" dirty="0">
                <a:latin typeface="Lexend" panose="020B0604020202020204" charset="-94"/>
              </a:rPr>
              <a:t> </a:t>
            </a:r>
            <a:r>
              <a:rPr lang="en-US" sz="2400" dirty="0">
                <a:latin typeface="Lexend" panose="020B0604020202020204" charset="-94"/>
              </a:rPr>
              <a:t>and join the raffle for free</a:t>
            </a:r>
          </a:p>
        </p:txBody>
      </p:sp>
      <p:pic>
        <p:nvPicPr>
          <p:cNvPr id="11" name="Picture 10">
            <a:extLst>
              <a:ext uri="{FF2B5EF4-FFF2-40B4-BE49-F238E27FC236}">
                <a16:creationId xmlns:a16="http://schemas.microsoft.com/office/drawing/2014/main" id="{0DD987E7-1A8D-443C-A961-AA1658D88C02}"/>
              </a:ext>
            </a:extLst>
          </p:cNvPr>
          <p:cNvPicPr>
            <a:picLocks noChangeAspect="1"/>
          </p:cNvPicPr>
          <p:nvPr/>
        </p:nvPicPr>
        <p:blipFill>
          <a:blip r:embed="rId6"/>
          <a:stretch>
            <a:fillRect/>
          </a:stretch>
        </p:blipFill>
        <p:spPr>
          <a:xfrm>
            <a:off x="9904902" y="4955223"/>
            <a:ext cx="1801323" cy="1790272"/>
          </a:xfrm>
          <a:prstGeom prst="rect">
            <a:avLst/>
          </a:prstGeom>
        </p:spPr>
      </p:pic>
      <p:cxnSp>
        <p:nvCxnSpPr>
          <p:cNvPr id="3" name="Connector: Elbow 2">
            <a:extLst>
              <a:ext uri="{FF2B5EF4-FFF2-40B4-BE49-F238E27FC236}">
                <a16:creationId xmlns:a16="http://schemas.microsoft.com/office/drawing/2014/main" id="{7EFB01A6-89C0-44F9-BC68-504D5740B888}"/>
              </a:ext>
            </a:extLst>
          </p:cNvPr>
          <p:cNvCxnSpPr>
            <a:cxnSpLocks/>
          </p:cNvCxnSpPr>
          <p:nvPr/>
        </p:nvCxnSpPr>
        <p:spPr>
          <a:xfrm>
            <a:off x="3394691" y="5792995"/>
            <a:ext cx="6399549" cy="404969"/>
          </a:xfrm>
          <a:prstGeom prst="bentConnector3">
            <a:avLst>
              <a:gd name="adj1" fmla="val 291"/>
            </a:avLst>
          </a:prstGeom>
          <a:ln w="38100">
            <a:solidFill>
              <a:srgbClr val="467886"/>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8408039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7"/>
        <p:cNvGrpSpPr/>
        <p:nvPr/>
      </p:nvGrpSpPr>
      <p:grpSpPr>
        <a:xfrm>
          <a:off x="0" y="0"/>
          <a:ext cx="0" cy="0"/>
          <a:chOff x="0" y="0"/>
          <a:chExt cx="0" cy="0"/>
        </a:xfrm>
      </p:grpSpPr>
      <p:grpSp>
        <p:nvGrpSpPr>
          <p:cNvPr id="6" name="Group 5">
            <a:extLst>
              <a:ext uri="{FF2B5EF4-FFF2-40B4-BE49-F238E27FC236}">
                <a16:creationId xmlns:a16="http://schemas.microsoft.com/office/drawing/2014/main" id="{9FBD3131-6722-4000-BD4E-D79704BF47BE}"/>
              </a:ext>
            </a:extLst>
          </p:cNvPr>
          <p:cNvGrpSpPr/>
          <p:nvPr/>
        </p:nvGrpSpPr>
        <p:grpSpPr>
          <a:xfrm>
            <a:off x="7644907" y="4961954"/>
            <a:ext cx="4023143" cy="1445240"/>
            <a:chOff x="7159194" y="4399338"/>
            <a:chExt cx="4023143" cy="1445240"/>
          </a:xfrm>
        </p:grpSpPr>
        <p:pic>
          <p:nvPicPr>
            <p:cNvPr id="92" name="Google Shape;92;p1"/>
            <p:cNvPicPr preferRelativeResize="0"/>
            <p:nvPr/>
          </p:nvPicPr>
          <p:blipFill rotWithShape="1">
            <a:blip r:embed="rId4">
              <a:alphaModFix/>
            </a:blip>
            <a:srcRect/>
            <a:stretch/>
          </p:blipFill>
          <p:spPr>
            <a:xfrm>
              <a:off x="7159194" y="4527732"/>
              <a:ext cx="252000" cy="252000"/>
            </a:xfrm>
            <a:prstGeom prst="rect">
              <a:avLst/>
            </a:prstGeom>
            <a:noFill/>
            <a:ln>
              <a:noFill/>
            </a:ln>
          </p:spPr>
        </p:pic>
        <p:pic>
          <p:nvPicPr>
            <p:cNvPr id="93" name="Google Shape;93;p1"/>
            <p:cNvPicPr preferRelativeResize="0"/>
            <p:nvPr/>
          </p:nvPicPr>
          <p:blipFill rotWithShape="1">
            <a:blip r:embed="rId5">
              <a:alphaModFix/>
            </a:blip>
            <a:srcRect/>
            <a:stretch/>
          </p:blipFill>
          <p:spPr>
            <a:xfrm>
              <a:off x="7159195" y="4878587"/>
              <a:ext cx="252000" cy="252000"/>
            </a:xfrm>
            <a:prstGeom prst="rect">
              <a:avLst/>
            </a:prstGeom>
            <a:noFill/>
            <a:ln>
              <a:noFill/>
            </a:ln>
          </p:spPr>
        </p:pic>
        <p:sp>
          <p:nvSpPr>
            <p:cNvPr id="94" name="Google Shape;94;p1"/>
            <p:cNvSpPr txBox="1"/>
            <p:nvPr/>
          </p:nvSpPr>
          <p:spPr>
            <a:xfrm>
              <a:off x="7440723" y="4399338"/>
              <a:ext cx="2872935" cy="369299"/>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292D33"/>
                </a:buClr>
                <a:buSzPts val="1500"/>
                <a:buFont typeface="Poppins"/>
                <a:buNone/>
              </a:pPr>
              <a:r>
                <a:rPr lang="en-US" sz="2000" b="0" i="0" u="none" strike="noStrike" cap="none" dirty="0">
                  <a:solidFill>
                    <a:srgbClr val="4E5258"/>
                  </a:solidFill>
                  <a:uFill>
                    <a:noFill/>
                  </a:uFill>
                  <a:latin typeface="Poppins"/>
                  <a:ea typeface="Poppins"/>
                  <a:cs typeface="Poppins"/>
                  <a:sym typeface="Poppins"/>
                </a:rPr>
                <a:t>x.com/</a:t>
              </a:r>
              <a:r>
                <a:rPr lang="en-US" sz="2000" i="0" u="none" strike="noStrike" cap="none" dirty="0">
                  <a:solidFill>
                    <a:srgbClr val="4E5258"/>
                  </a:solidFill>
                  <a:uFill>
                    <a:noFill/>
                  </a:uFill>
                  <a:latin typeface="Poppins"/>
                  <a:ea typeface="Poppins"/>
                  <a:cs typeface="Poppins"/>
                  <a:sym typeface="Poppins"/>
                </a:rPr>
                <a:t>alperebicoglu</a:t>
              </a:r>
              <a:r>
                <a:rPr lang="en-US" sz="2000" b="0" i="0" u="none" strike="noStrike" cap="none" dirty="0">
                  <a:solidFill>
                    <a:srgbClr val="4E5258"/>
                  </a:solidFill>
                  <a:uFill>
                    <a:noFill/>
                  </a:uFill>
                  <a:latin typeface="Poppins"/>
                  <a:ea typeface="Poppins"/>
                  <a:cs typeface="Poppins"/>
                  <a:sym typeface="Poppins"/>
                </a:rPr>
                <a:t> </a:t>
              </a:r>
              <a:endParaRPr sz="2000" b="0" i="0" u="none" strike="noStrike" cap="none" dirty="0">
                <a:solidFill>
                  <a:srgbClr val="4E5258"/>
                </a:solidFill>
                <a:latin typeface="Poppins"/>
                <a:ea typeface="Poppins"/>
                <a:cs typeface="Poppins"/>
                <a:sym typeface="Poppins"/>
              </a:endParaRPr>
            </a:p>
          </p:txBody>
        </p:sp>
        <p:sp>
          <p:nvSpPr>
            <p:cNvPr id="95" name="Google Shape;95;p1"/>
            <p:cNvSpPr txBox="1"/>
            <p:nvPr/>
          </p:nvSpPr>
          <p:spPr>
            <a:xfrm>
              <a:off x="7419133" y="4755623"/>
              <a:ext cx="3289493" cy="3693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292D33"/>
                </a:buClr>
                <a:buSzPts val="1500"/>
                <a:buFont typeface="Poppins"/>
                <a:buNone/>
              </a:pPr>
              <a:r>
                <a:rPr lang="tr-TR" sz="2000" b="0" i="0" u="none" strike="noStrike" cap="none" dirty="0">
                  <a:solidFill>
                    <a:srgbClr val="4E5258"/>
                  </a:solidFill>
                  <a:uFill>
                    <a:noFill/>
                  </a:uFill>
                  <a:latin typeface="Poppins"/>
                  <a:ea typeface="Poppins"/>
                  <a:cs typeface="Poppins"/>
                  <a:sym typeface="Poppins"/>
                </a:rPr>
                <a:t>github.com/ebicoglu</a:t>
              </a:r>
              <a:endParaRPr sz="2000" b="0" i="0" u="none" strike="noStrike" cap="none" dirty="0">
                <a:solidFill>
                  <a:srgbClr val="4E5258"/>
                </a:solidFill>
                <a:latin typeface="Poppins"/>
                <a:ea typeface="Poppins"/>
                <a:cs typeface="Poppins"/>
                <a:sym typeface="Poppins"/>
              </a:endParaRPr>
            </a:p>
          </p:txBody>
        </p:sp>
        <p:sp>
          <p:nvSpPr>
            <p:cNvPr id="99" name="Google Shape;99;p1"/>
            <p:cNvSpPr txBox="1"/>
            <p:nvPr/>
          </p:nvSpPr>
          <p:spPr>
            <a:xfrm>
              <a:off x="7398018" y="5472877"/>
              <a:ext cx="3756855" cy="3693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292D33"/>
                </a:buClr>
                <a:buSzPts val="1500"/>
                <a:buFont typeface="Poppins"/>
                <a:buNone/>
              </a:pPr>
              <a:r>
                <a:rPr lang="tr-TR" sz="2000" b="0" i="0" u="none" strike="noStrike" cap="none" dirty="0">
                  <a:solidFill>
                    <a:srgbClr val="4E5258"/>
                  </a:solidFill>
                  <a:uFill>
                    <a:noFill/>
                  </a:uFill>
                  <a:latin typeface="Poppins"/>
                  <a:ea typeface="Poppins"/>
                  <a:cs typeface="Poppins"/>
                  <a:sym typeface="Poppins"/>
                </a:rPr>
                <a:t>medium.com/@alperonline</a:t>
              </a:r>
              <a:endParaRPr lang="tr-TR" sz="2000" b="0" i="0" u="none" strike="noStrike" cap="none" dirty="0">
                <a:solidFill>
                  <a:srgbClr val="4E5258"/>
                </a:solidFill>
                <a:latin typeface="Poppins"/>
                <a:ea typeface="Poppins"/>
                <a:cs typeface="Poppins"/>
                <a:sym typeface="Poppins"/>
              </a:endParaRPr>
            </a:p>
          </p:txBody>
        </p:sp>
        <p:pic>
          <p:nvPicPr>
            <p:cNvPr id="3" name="Picture 2">
              <a:extLst>
                <a:ext uri="{FF2B5EF4-FFF2-40B4-BE49-F238E27FC236}">
                  <a16:creationId xmlns:a16="http://schemas.microsoft.com/office/drawing/2014/main" id="{61DF1FE2-76E6-4D08-BC9B-C789D1657FC6}"/>
                </a:ext>
              </a:extLst>
            </p:cNvPr>
            <p:cNvPicPr>
              <a:picLocks noChangeAspect="1"/>
            </p:cNvPicPr>
            <p:nvPr/>
          </p:nvPicPr>
          <p:blipFill>
            <a:blip r:embed="rId6"/>
            <a:stretch>
              <a:fillRect/>
            </a:stretch>
          </p:blipFill>
          <p:spPr>
            <a:xfrm>
              <a:off x="7164487" y="5592578"/>
              <a:ext cx="252000" cy="252000"/>
            </a:xfrm>
            <a:prstGeom prst="rect">
              <a:avLst/>
            </a:prstGeom>
          </p:spPr>
        </p:pic>
        <p:pic>
          <p:nvPicPr>
            <p:cNvPr id="5" name="Picture 4">
              <a:extLst>
                <a:ext uri="{FF2B5EF4-FFF2-40B4-BE49-F238E27FC236}">
                  <a16:creationId xmlns:a16="http://schemas.microsoft.com/office/drawing/2014/main" id="{3AE224ED-7066-4AC0-9174-2898BB38DEF5}"/>
                </a:ext>
              </a:extLst>
            </p:cNvPr>
            <p:cNvPicPr>
              <a:picLocks noChangeAspect="1"/>
            </p:cNvPicPr>
            <p:nvPr/>
          </p:nvPicPr>
          <p:blipFill>
            <a:blip r:embed="rId7"/>
            <a:stretch>
              <a:fillRect/>
            </a:stretch>
          </p:blipFill>
          <p:spPr>
            <a:xfrm>
              <a:off x="7168829" y="5223278"/>
              <a:ext cx="252000" cy="252000"/>
            </a:xfrm>
            <a:prstGeom prst="rect">
              <a:avLst/>
            </a:prstGeom>
          </p:spPr>
        </p:pic>
        <p:sp>
          <p:nvSpPr>
            <p:cNvPr id="22" name="Google Shape;99;p1">
              <a:extLst>
                <a:ext uri="{FF2B5EF4-FFF2-40B4-BE49-F238E27FC236}">
                  <a16:creationId xmlns:a16="http://schemas.microsoft.com/office/drawing/2014/main" id="{EB7EE08C-0C95-4D42-9101-734F44DEC6A3}"/>
                </a:ext>
              </a:extLst>
            </p:cNvPr>
            <p:cNvSpPr txBox="1"/>
            <p:nvPr/>
          </p:nvSpPr>
          <p:spPr>
            <a:xfrm>
              <a:off x="7425482" y="5120490"/>
              <a:ext cx="3756855" cy="3693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292D33"/>
                </a:buClr>
                <a:buSzPts val="1500"/>
                <a:buFont typeface="Poppins"/>
                <a:buNone/>
              </a:pPr>
              <a:r>
                <a:rPr lang="tr-TR" sz="2000" b="0" i="0" u="none" strike="noStrike" cap="none" dirty="0">
                  <a:solidFill>
                    <a:srgbClr val="4E5258"/>
                  </a:solidFill>
                  <a:uFill>
                    <a:noFill/>
                  </a:uFill>
                  <a:latin typeface="Poppins"/>
                  <a:ea typeface="Poppins"/>
                  <a:cs typeface="Poppins"/>
                  <a:sym typeface="Poppins"/>
                </a:rPr>
                <a:t>linkedin.com/in/ebicoglu</a:t>
              </a:r>
              <a:endParaRPr lang="tr-TR" sz="2000" b="0" i="0" u="none" strike="noStrike" cap="none" dirty="0">
                <a:solidFill>
                  <a:srgbClr val="4E5258"/>
                </a:solidFill>
                <a:latin typeface="Poppins"/>
                <a:ea typeface="Poppins"/>
                <a:cs typeface="Poppins"/>
                <a:sym typeface="Poppins"/>
              </a:endParaRPr>
            </a:p>
          </p:txBody>
        </p:sp>
      </p:grpSp>
      <p:grpSp>
        <p:nvGrpSpPr>
          <p:cNvPr id="8" name="Group 7">
            <a:extLst>
              <a:ext uri="{FF2B5EF4-FFF2-40B4-BE49-F238E27FC236}">
                <a16:creationId xmlns:a16="http://schemas.microsoft.com/office/drawing/2014/main" id="{F5A0AFEC-1156-4E34-973D-28904ADE117A}"/>
              </a:ext>
            </a:extLst>
          </p:cNvPr>
          <p:cNvGrpSpPr/>
          <p:nvPr/>
        </p:nvGrpSpPr>
        <p:grpSpPr>
          <a:xfrm>
            <a:off x="560522" y="5096333"/>
            <a:ext cx="4513940" cy="1254642"/>
            <a:chOff x="738544" y="4645036"/>
            <a:chExt cx="4513940" cy="1254642"/>
          </a:xfrm>
        </p:grpSpPr>
        <p:sp>
          <p:nvSpPr>
            <p:cNvPr id="91" name="Google Shape;91;p1"/>
            <p:cNvSpPr txBox="1"/>
            <p:nvPr/>
          </p:nvSpPr>
          <p:spPr>
            <a:xfrm>
              <a:off x="2090161" y="5295536"/>
              <a:ext cx="2853979" cy="400200"/>
            </a:xfrm>
            <a:prstGeom prst="rect">
              <a:avLst/>
            </a:prstGeom>
            <a:noFill/>
            <a:ln>
              <a:noFill/>
            </a:ln>
          </p:spPr>
          <p:txBody>
            <a:bodyPr spcFirstLastPara="1" wrap="square" lIns="91425" tIns="91425" rIns="91425" bIns="91425" anchor="t" anchorCtr="0">
              <a:normAutofit fontScale="92500" lnSpcReduction="20000"/>
            </a:bodyPr>
            <a:lstStyle/>
            <a:p>
              <a:pPr marL="0" marR="0" lvl="0" indent="0" algn="l" rtl="0">
                <a:lnSpc>
                  <a:spcPct val="100000"/>
                </a:lnSpc>
                <a:spcBef>
                  <a:spcPts val="0"/>
                </a:spcBef>
                <a:spcAft>
                  <a:spcPts val="0"/>
                </a:spcAft>
                <a:buClr>
                  <a:srgbClr val="4E5258"/>
                </a:buClr>
                <a:buSzPct val="100000"/>
                <a:buFont typeface="Poppins"/>
                <a:buNone/>
              </a:pPr>
              <a:r>
                <a:rPr lang="en-US" sz="1800" dirty="0">
                  <a:solidFill>
                    <a:srgbClr val="4E5258"/>
                  </a:solidFill>
                  <a:latin typeface="Poppins"/>
                  <a:ea typeface="Poppins"/>
                  <a:cs typeface="Poppins"/>
                  <a:sym typeface="Poppins"/>
                </a:rPr>
                <a:t>Co-Founder of Volosoft</a:t>
              </a:r>
              <a:endParaRPr sz="1800" b="0" i="0" u="none" strike="noStrike" cap="none" dirty="0">
                <a:solidFill>
                  <a:srgbClr val="545C67"/>
                </a:solidFill>
                <a:latin typeface="Poppins"/>
                <a:ea typeface="Poppins"/>
                <a:cs typeface="Poppins"/>
                <a:sym typeface="Poppins"/>
              </a:endParaRPr>
            </a:p>
          </p:txBody>
        </p:sp>
        <p:grpSp>
          <p:nvGrpSpPr>
            <p:cNvPr id="7" name="Group 6">
              <a:extLst>
                <a:ext uri="{FF2B5EF4-FFF2-40B4-BE49-F238E27FC236}">
                  <a16:creationId xmlns:a16="http://schemas.microsoft.com/office/drawing/2014/main" id="{1D272CC1-748E-4B0C-87F5-83BE1252308C}"/>
                </a:ext>
              </a:extLst>
            </p:cNvPr>
            <p:cNvGrpSpPr/>
            <p:nvPr/>
          </p:nvGrpSpPr>
          <p:grpSpPr>
            <a:xfrm>
              <a:off x="738544" y="4645036"/>
              <a:ext cx="4513940" cy="1254642"/>
              <a:chOff x="738544" y="4645036"/>
              <a:chExt cx="4513940" cy="1254642"/>
            </a:xfrm>
          </p:grpSpPr>
          <p:sp>
            <p:nvSpPr>
              <p:cNvPr id="90" name="Google Shape;90;p1"/>
              <p:cNvSpPr txBox="1"/>
              <p:nvPr/>
            </p:nvSpPr>
            <p:spPr>
              <a:xfrm>
                <a:off x="2090161" y="4775609"/>
                <a:ext cx="3162323" cy="5079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292D33"/>
                  </a:buClr>
                  <a:buSzPts val="2800"/>
                  <a:buFont typeface="Poppins Medium"/>
                  <a:buNone/>
                </a:pPr>
                <a:r>
                  <a:rPr lang="en-US" sz="2800" b="0" i="0" u="none" strike="noStrike" cap="none" dirty="0">
                    <a:solidFill>
                      <a:srgbClr val="292D33"/>
                    </a:solidFill>
                    <a:latin typeface="Poppins Medium"/>
                    <a:ea typeface="Poppins Medium"/>
                    <a:cs typeface="Poppins Medium"/>
                    <a:sym typeface="Poppins Medium"/>
                  </a:rPr>
                  <a:t>Alper EBICOGLU</a:t>
                </a:r>
                <a:endParaRPr sz="2800" b="0" i="0" u="none" strike="noStrike" cap="none" dirty="0">
                  <a:solidFill>
                    <a:srgbClr val="292D33"/>
                  </a:solidFill>
                  <a:latin typeface="Poppins Medium"/>
                  <a:ea typeface="Poppins Medium"/>
                  <a:cs typeface="Poppins Medium"/>
                  <a:sym typeface="Poppins Medium"/>
                </a:endParaRPr>
              </a:p>
            </p:txBody>
          </p:sp>
          <p:pic>
            <p:nvPicPr>
              <p:cNvPr id="4100" name="Picture 4" descr="profile image">
                <a:extLst>
                  <a:ext uri="{FF2B5EF4-FFF2-40B4-BE49-F238E27FC236}">
                    <a16:creationId xmlns:a16="http://schemas.microsoft.com/office/drawing/2014/main" id="{C74479B8-CCFC-4F51-81AE-F238DC666CD9}"/>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738544" y="4645036"/>
                <a:ext cx="1254642" cy="1254642"/>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a:extLst>
                <a:ext uri="{909E8E84-426E-40DD-AFC4-6F175D3DCCD1}">
                  <a14:hiddenFill xmlns:a14="http://schemas.microsoft.com/office/drawing/2010/main">
                    <a:solidFill>
                      <a:srgbClr val="FFFFFF"/>
                    </a:solidFill>
                  </a14:hiddenFill>
                </a:ext>
              </a:extLst>
            </p:spPr>
          </p:pic>
        </p:grpSp>
      </p:grpSp>
      <p:sp>
        <p:nvSpPr>
          <p:cNvPr id="89" name="Google Shape;89;p1"/>
          <p:cNvSpPr txBox="1"/>
          <p:nvPr/>
        </p:nvSpPr>
        <p:spPr>
          <a:xfrm>
            <a:off x="0" y="1982456"/>
            <a:ext cx="12192000" cy="1966448"/>
          </a:xfrm>
          <a:prstGeom prst="rect">
            <a:avLst/>
          </a:prstGeom>
          <a:noFill/>
          <a:ln>
            <a:noFill/>
          </a:ln>
        </p:spPr>
        <p:txBody>
          <a:bodyPr spcFirstLastPara="1" wrap="square" lIns="91425" tIns="45700" rIns="91425" bIns="45700" anchor="t" anchorCtr="0">
            <a:noAutofit/>
          </a:bodyPr>
          <a:lstStyle/>
          <a:p>
            <a:pPr algn="ctr"/>
            <a:r>
              <a:rPr lang="en-US" sz="6000" b="1" i="0" dirty="0">
                <a:solidFill>
                  <a:schemeClr val="tx1"/>
                </a:solidFill>
                <a:effectLst/>
                <a:latin typeface="Lexend" panose="020B0604020202020204" charset="-94"/>
              </a:rPr>
              <a:t>What's new in the </a:t>
            </a:r>
            <a:br>
              <a:rPr lang="en-US" sz="6000" b="1" i="0" dirty="0">
                <a:solidFill>
                  <a:schemeClr val="tx1"/>
                </a:solidFill>
                <a:effectLst/>
                <a:latin typeface="Lexend" panose="020B0604020202020204" charset="-94"/>
              </a:rPr>
            </a:br>
            <a:r>
              <a:rPr lang="en-US" sz="6000" b="1" i="0" dirty="0">
                <a:solidFill>
                  <a:schemeClr val="tx1"/>
                </a:solidFill>
                <a:effectLst/>
                <a:latin typeface="Lexend" panose="020B0604020202020204" charset="-94"/>
              </a:rPr>
              <a:t>.NET 10 Libraries &amp; Runtime</a:t>
            </a:r>
          </a:p>
        </p:txBody>
      </p:sp>
      <p:pic>
        <p:nvPicPr>
          <p:cNvPr id="4" name="Picture 3">
            <a:extLst>
              <a:ext uri="{FF2B5EF4-FFF2-40B4-BE49-F238E27FC236}">
                <a16:creationId xmlns:a16="http://schemas.microsoft.com/office/drawing/2014/main" id="{BC39954E-3593-E68C-B575-B2362E0D4C64}"/>
              </a:ext>
            </a:extLst>
          </p:cNvPr>
          <p:cNvPicPr>
            <a:picLocks noChangeAspect="1"/>
          </p:cNvPicPr>
          <p:nvPr/>
        </p:nvPicPr>
        <p:blipFill>
          <a:blip r:embed="rId9"/>
          <a:stretch>
            <a:fillRect/>
          </a:stretch>
        </p:blipFill>
        <p:spPr>
          <a:xfrm>
            <a:off x="560522" y="350747"/>
            <a:ext cx="1956338" cy="524747"/>
          </a:xfrm>
          <a:prstGeom prst="rect">
            <a:avLst/>
          </a:prstGeom>
        </p:spPr>
      </p:pic>
      <p:pic>
        <p:nvPicPr>
          <p:cNvPr id="9" name="Picture 8">
            <a:extLst>
              <a:ext uri="{FF2B5EF4-FFF2-40B4-BE49-F238E27FC236}">
                <a16:creationId xmlns:a16="http://schemas.microsoft.com/office/drawing/2014/main" id="{2B8C48C0-015B-72EF-108B-F7FC0670EBF8}"/>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0821041" y="194542"/>
            <a:ext cx="1192449" cy="119244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0">
  <p:cSld>
    <p:bg>
      <p:bgPr>
        <a:blipFill dpi="0" rotWithShape="1">
          <a:blip r:embed="rId3">
            <a:lum/>
          </a:blip>
          <a:srcRect/>
          <a:stretch>
            <a:fillRect/>
          </a:stretch>
        </a:blipFill>
        <a:effectLst/>
      </p:bgPr>
    </p:bg>
    <p:spTree>
      <p:nvGrpSpPr>
        <p:cNvPr id="1" name="Shape 106"/>
        <p:cNvGrpSpPr/>
        <p:nvPr/>
      </p:nvGrpSpPr>
      <p:grpSpPr>
        <a:xfrm>
          <a:off x="0" y="0"/>
          <a:ext cx="0" cy="0"/>
          <a:chOff x="0" y="0"/>
          <a:chExt cx="0" cy="0"/>
        </a:xfrm>
      </p:grpSpPr>
      <p:sp>
        <p:nvSpPr>
          <p:cNvPr id="107" name="Google Shape;107;p2"/>
          <p:cNvSpPr txBox="1"/>
          <p:nvPr/>
        </p:nvSpPr>
        <p:spPr>
          <a:xfrm>
            <a:off x="451488" y="464463"/>
            <a:ext cx="10720064" cy="1138733"/>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200"/>
              <a:buFont typeface="Arial"/>
              <a:buNone/>
            </a:pPr>
            <a:r>
              <a:rPr lang="en-US" sz="3400" b="1" dirty="0">
                <a:solidFill>
                  <a:srgbClr val="292D33"/>
                </a:solidFill>
                <a:latin typeface="Lexend"/>
                <a:ea typeface="Lexend"/>
                <a:cs typeface="Lexend"/>
                <a:sym typeface="Lexend"/>
              </a:rPr>
              <a:t>.NET Libraries Improvements </a:t>
            </a:r>
          </a:p>
          <a:p>
            <a:pPr marR="0" lvl="0" algn="l" rtl="0">
              <a:lnSpc>
                <a:spcPct val="100000"/>
              </a:lnSpc>
              <a:spcBef>
                <a:spcPts val="0"/>
              </a:spcBef>
              <a:spcAft>
                <a:spcPts val="0"/>
              </a:spcAft>
              <a:buClr>
                <a:srgbClr val="000000"/>
              </a:buClr>
              <a:buSzPts val="3200"/>
            </a:pPr>
            <a:r>
              <a:rPr lang="en-US" sz="3400" dirty="0">
                <a:solidFill>
                  <a:srgbClr val="292D33"/>
                </a:solidFill>
                <a:latin typeface="Lexend"/>
                <a:ea typeface="Lexend"/>
                <a:cs typeface="Lexend"/>
                <a:sym typeface="Lexend"/>
              </a:rPr>
              <a:t>Post-Quantum Cryptography</a:t>
            </a:r>
          </a:p>
        </p:txBody>
      </p:sp>
      <p:sp>
        <p:nvSpPr>
          <p:cNvPr id="2" name="Rectangle 1">
            <a:extLst>
              <a:ext uri="{FF2B5EF4-FFF2-40B4-BE49-F238E27FC236}">
                <a16:creationId xmlns:a16="http://schemas.microsoft.com/office/drawing/2014/main" id="{A47DB823-8A26-4243-A776-96B4D426DFB8}"/>
              </a:ext>
            </a:extLst>
          </p:cNvPr>
          <p:cNvSpPr>
            <a:spLocks noChangeArrowheads="1"/>
          </p:cNvSpPr>
          <p:nvPr/>
        </p:nvSpPr>
        <p:spPr bwMode="auto">
          <a:xfrm>
            <a:off x="451488" y="2347014"/>
            <a:ext cx="10720064" cy="156966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dirty="0">
                <a:ln>
                  <a:noFill/>
                </a:ln>
                <a:solidFill>
                  <a:schemeClr val="tx1"/>
                </a:solidFill>
                <a:effectLst/>
                <a:latin typeface="Poppins" panose="00000500000000000000" pitchFamily="2" charset="-94"/>
                <a:cs typeface="Poppins" panose="00000500000000000000" pitchFamily="2" charset="-94"/>
              </a:rPr>
              <a:t>.NET 10 adds support for new quantum-resistant algorithms: </a:t>
            </a:r>
            <a:r>
              <a:rPr kumimoji="0" lang="en-US" altLang="en-US" sz="1600" b="1" i="0" u="none" strike="noStrike" cap="none" normalizeH="0" baseline="0" dirty="0">
                <a:ln>
                  <a:noFill/>
                </a:ln>
                <a:solidFill>
                  <a:schemeClr val="tx1"/>
                </a:solidFill>
                <a:effectLst/>
                <a:latin typeface="Poppins" panose="00000500000000000000" pitchFamily="2" charset="-94"/>
                <a:cs typeface="Poppins" panose="00000500000000000000" pitchFamily="2" charset="-94"/>
              </a:rPr>
              <a:t>ML-KEM, ML-DSA, SLH-DSA</a:t>
            </a:r>
            <a:r>
              <a:rPr kumimoji="0" lang="en-US" altLang="en-US" sz="1600" b="0" i="0" u="none" strike="noStrike" cap="none" normalizeH="0" baseline="0" dirty="0">
                <a:ln>
                  <a:noFill/>
                </a:ln>
                <a:solidFill>
                  <a:schemeClr val="tx1"/>
                </a:solidFill>
                <a:effectLst/>
                <a:latin typeface="Poppins" panose="00000500000000000000" pitchFamily="2" charset="-94"/>
                <a:cs typeface="Poppins" panose="00000500000000000000" pitchFamily="2" charset="-94"/>
              </a:rPr>
              <a:t>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1600" dirty="0">
                <a:solidFill>
                  <a:schemeClr val="tx1"/>
                </a:solidFill>
                <a:latin typeface="Poppins" panose="00000500000000000000" pitchFamily="2" charset="-94"/>
                <a:cs typeface="Poppins" panose="00000500000000000000" pitchFamily="2" charset="-94"/>
              </a:rPr>
              <a:t>preparing .NET apps for the next generation of cryptography.</a:t>
            </a:r>
          </a:p>
          <a:p>
            <a:pPr marL="0" marR="0" lvl="0" indent="0" algn="l" defTabSz="914400" rtl="0" eaLnBrk="0" fontAlgn="base" latinLnBrk="0" hangingPunct="0">
              <a:lnSpc>
                <a:spcPct val="100000"/>
              </a:lnSpc>
              <a:spcBef>
                <a:spcPct val="0"/>
              </a:spcBef>
              <a:spcAft>
                <a:spcPct val="0"/>
              </a:spcAft>
              <a:buClrTx/>
              <a:buSzTx/>
              <a:buFontTx/>
              <a:buNone/>
              <a:tabLst/>
            </a:pPr>
            <a:br>
              <a:rPr lang="en-US" altLang="en-US" sz="1600" dirty="0">
                <a:solidFill>
                  <a:schemeClr val="tx1"/>
                </a:solidFill>
                <a:latin typeface="Poppins" panose="00000500000000000000" pitchFamily="2" charset="-94"/>
                <a:cs typeface="Poppins" panose="00000500000000000000" pitchFamily="2" charset="-94"/>
              </a:rPr>
            </a:br>
            <a:r>
              <a:rPr lang="en-US" altLang="en-US" sz="1600" dirty="0">
                <a:solidFill>
                  <a:schemeClr val="tx1"/>
                </a:solidFill>
                <a:latin typeface="Poppins" panose="00000500000000000000" pitchFamily="2" charset="-94"/>
                <a:cs typeface="Poppins" panose="00000500000000000000" pitchFamily="2" charset="-94"/>
              </a:rPr>
              <a:t>These can be used via new </a:t>
            </a:r>
            <a:r>
              <a:rPr lang="en-US" altLang="en-US" sz="1600" i="1" dirty="0" err="1">
                <a:solidFill>
                  <a:schemeClr val="tx1"/>
                </a:solidFill>
                <a:latin typeface="Poppins" panose="00000500000000000000" pitchFamily="2" charset="-94"/>
                <a:cs typeface="Poppins" panose="00000500000000000000" pitchFamily="2" charset="-94"/>
              </a:rPr>
              <a:t>System.Security.Cryptography</a:t>
            </a:r>
            <a:r>
              <a:rPr lang="en-US" altLang="en-US" sz="1600" dirty="0">
                <a:solidFill>
                  <a:schemeClr val="tx1"/>
                </a:solidFill>
                <a:latin typeface="Poppins" panose="00000500000000000000" pitchFamily="2" charset="-94"/>
                <a:cs typeface="Poppins" panose="00000500000000000000" pitchFamily="2" charset="-94"/>
              </a:rPr>
              <a:t> types.</a:t>
            </a:r>
            <a:br>
              <a:rPr lang="en-US" altLang="en-US" sz="1600" dirty="0">
                <a:solidFill>
                  <a:schemeClr val="tx1"/>
                </a:solidFill>
                <a:latin typeface="Poppins" panose="00000500000000000000" pitchFamily="2" charset="-94"/>
                <a:cs typeface="Poppins" panose="00000500000000000000" pitchFamily="2" charset="-94"/>
              </a:rPr>
            </a:br>
            <a:r>
              <a:rPr lang="en-US" altLang="en-US" sz="1600" dirty="0">
                <a:solidFill>
                  <a:schemeClr val="tx1"/>
                </a:solidFill>
                <a:latin typeface="Poppins" panose="00000500000000000000" pitchFamily="2" charset="-94"/>
                <a:cs typeface="Poppins" panose="00000500000000000000" pitchFamily="2" charset="-94"/>
              </a:rPr>
              <a:t>These are available when the OS supports PQC (OpenSSL 3.5+ or Windows CNG).</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600" b="0" i="0" u="none" strike="noStrike" cap="none" normalizeH="0" baseline="0" dirty="0">
              <a:ln>
                <a:noFill/>
              </a:ln>
              <a:solidFill>
                <a:schemeClr val="tx1"/>
              </a:solidFill>
              <a:effectLst/>
              <a:latin typeface="Poppins" panose="00000500000000000000" pitchFamily="2" charset="-94"/>
              <a:cs typeface="Poppins" panose="00000500000000000000" pitchFamily="2" charset="-94"/>
            </a:endParaRPr>
          </a:p>
        </p:txBody>
      </p:sp>
      <p:sp>
        <p:nvSpPr>
          <p:cNvPr id="5" name="TextBox 4">
            <a:extLst>
              <a:ext uri="{FF2B5EF4-FFF2-40B4-BE49-F238E27FC236}">
                <a16:creationId xmlns:a16="http://schemas.microsoft.com/office/drawing/2014/main" id="{B19F4668-4F61-4CBE-AB39-265B74442340}"/>
              </a:ext>
            </a:extLst>
          </p:cNvPr>
          <p:cNvSpPr txBox="1"/>
          <p:nvPr/>
        </p:nvSpPr>
        <p:spPr>
          <a:xfrm>
            <a:off x="638816" y="4800527"/>
            <a:ext cx="10720064" cy="1323439"/>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en-US" sz="1600" b="1" dirty="0">
                <a:solidFill>
                  <a:schemeClr val="tx1"/>
                </a:solidFill>
                <a:latin typeface="Poppins" panose="00000500000000000000" pitchFamily="2" charset="-94"/>
                <a:cs typeface="Poppins" panose="00000500000000000000" pitchFamily="2" charset="-94"/>
              </a:rPr>
              <a:t>✅ What this means:</a:t>
            </a:r>
          </a:p>
          <a:p>
            <a:pPr marL="0" marR="0" lvl="0" indent="0" algn="l" defTabSz="914400" rtl="0" eaLnBrk="0" fontAlgn="base" latinLnBrk="0" hangingPunct="0">
              <a:lnSpc>
                <a:spcPct val="100000"/>
              </a:lnSpc>
              <a:spcBef>
                <a:spcPct val="0"/>
              </a:spcBef>
              <a:spcAft>
                <a:spcPct val="0"/>
              </a:spcAft>
              <a:buClrTx/>
              <a:buSzTx/>
              <a:buFontTx/>
              <a:buNone/>
              <a:tabLst/>
            </a:pPr>
            <a:endParaRPr lang="en-US" altLang="en-US" sz="1600" b="1" dirty="0">
              <a:solidFill>
                <a:schemeClr val="tx1"/>
              </a:solidFill>
              <a:latin typeface="Poppins" panose="00000500000000000000" pitchFamily="2" charset="-94"/>
              <a:cs typeface="Poppins" panose="00000500000000000000" pitchFamily="2" charset="-94"/>
            </a:endParaRP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Future-proof cryptography support for modern security needs.</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Developers can start testing and validating PQC readiness.</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Keeps .NET aligned with emerging FIPS standards.</a:t>
            </a:r>
          </a:p>
        </p:txBody>
      </p:sp>
      <p:sp>
        <p:nvSpPr>
          <p:cNvPr id="3" name="Rectangle: Rounded Corners 2">
            <a:extLst>
              <a:ext uri="{FF2B5EF4-FFF2-40B4-BE49-F238E27FC236}">
                <a16:creationId xmlns:a16="http://schemas.microsoft.com/office/drawing/2014/main" id="{A89A345E-25FC-041B-3A57-DE8B6082E4D0}"/>
              </a:ext>
            </a:extLst>
          </p:cNvPr>
          <p:cNvSpPr/>
          <p:nvPr/>
        </p:nvSpPr>
        <p:spPr>
          <a:xfrm>
            <a:off x="451488" y="4602480"/>
            <a:ext cx="10007600" cy="1791057"/>
          </a:xfrm>
          <a:prstGeom prst="round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tr-TR"/>
          </a:p>
        </p:txBody>
      </p:sp>
    </p:spTree>
    <p:extLst>
      <p:ext uri="{BB962C8B-B14F-4D97-AF65-F5344CB8AC3E}">
        <p14:creationId xmlns:p14="http://schemas.microsoft.com/office/powerpoint/2010/main" val="11892704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p:cNvGrpSpPr/>
        <p:nvPr/>
      </p:nvGrpSpPr>
      <p:grpSpPr>
        <a:xfrm>
          <a:off x="0" y="0"/>
          <a:ext cx="0" cy="0"/>
          <a:chOff x="0" y="0"/>
          <a:chExt cx="0" cy="0"/>
        </a:xfrm>
      </p:grpSpPr>
      <p:sp>
        <p:nvSpPr>
          <p:cNvPr id="107" name="Google Shape;107;p2"/>
          <p:cNvSpPr txBox="1"/>
          <p:nvPr/>
        </p:nvSpPr>
        <p:spPr>
          <a:xfrm>
            <a:off x="451488" y="464463"/>
            <a:ext cx="10720064" cy="1138733"/>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200"/>
              <a:buFont typeface="Arial"/>
              <a:buNone/>
            </a:pPr>
            <a:r>
              <a:rPr lang="en-US" sz="3400" b="1" dirty="0">
                <a:solidFill>
                  <a:srgbClr val="292D33"/>
                </a:solidFill>
                <a:latin typeface="Lexend"/>
                <a:ea typeface="Lexend"/>
                <a:cs typeface="Lexend"/>
                <a:sym typeface="Lexend"/>
              </a:rPr>
              <a:t>.NET Libraries Improvements </a:t>
            </a:r>
          </a:p>
          <a:p>
            <a:pPr marR="0" lvl="0" algn="l" rtl="0">
              <a:lnSpc>
                <a:spcPct val="100000"/>
              </a:lnSpc>
              <a:spcBef>
                <a:spcPts val="0"/>
              </a:spcBef>
              <a:spcAft>
                <a:spcPts val="0"/>
              </a:spcAft>
              <a:buClr>
                <a:srgbClr val="000000"/>
              </a:buClr>
              <a:buSzPts val="3200"/>
            </a:pPr>
            <a:r>
              <a:rPr lang="en-US" sz="3400" dirty="0">
                <a:solidFill>
                  <a:srgbClr val="292D33"/>
                </a:solidFill>
                <a:latin typeface="Lexend"/>
                <a:ea typeface="Lexend"/>
                <a:cs typeface="Lexend"/>
                <a:sym typeface="Lexend"/>
              </a:rPr>
              <a:t>Numeric Ordering for String Comparison</a:t>
            </a:r>
          </a:p>
        </p:txBody>
      </p:sp>
      <p:sp>
        <p:nvSpPr>
          <p:cNvPr id="5" name="TextBox 4">
            <a:extLst>
              <a:ext uri="{FF2B5EF4-FFF2-40B4-BE49-F238E27FC236}">
                <a16:creationId xmlns:a16="http://schemas.microsoft.com/office/drawing/2014/main" id="{B19F4668-4F61-4CBE-AB39-265B74442340}"/>
              </a:ext>
            </a:extLst>
          </p:cNvPr>
          <p:cNvSpPr txBox="1"/>
          <p:nvPr/>
        </p:nvSpPr>
        <p:spPr>
          <a:xfrm>
            <a:off x="687392" y="4836288"/>
            <a:ext cx="10720064" cy="1323439"/>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en-US" sz="1600" b="1" dirty="0">
                <a:solidFill>
                  <a:schemeClr val="tx1"/>
                </a:solidFill>
                <a:latin typeface="Poppins" panose="00000500000000000000" pitchFamily="2" charset="-94"/>
                <a:cs typeface="Poppins" panose="00000500000000000000" pitchFamily="2" charset="-94"/>
              </a:rPr>
              <a:t>✅ What this means:</a:t>
            </a:r>
          </a:p>
          <a:p>
            <a:pPr marL="0" marR="0" lvl="0" indent="0" algn="l" defTabSz="914400" rtl="0" eaLnBrk="0" fontAlgn="base" latinLnBrk="0" hangingPunct="0">
              <a:lnSpc>
                <a:spcPct val="100000"/>
              </a:lnSpc>
              <a:spcBef>
                <a:spcPct val="0"/>
              </a:spcBef>
              <a:spcAft>
                <a:spcPct val="0"/>
              </a:spcAft>
              <a:buClrTx/>
              <a:buSzTx/>
              <a:buFontTx/>
              <a:buNone/>
              <a:tabLst/>
            </a:pPr>
            <a:endParaRPr lang="en-US" altLang="en-US" sz="1600" b="1" dirty="0">
              <a:solidFill>
                <a:schemeClr val="tx1"/>
              </a:solidFill>
              <a:latin typeface="Poppins" panose="00000500000000000000" pitchFamily="2" charset="-94"/>
              <a:cs typeface="Poppins" panose="00000500000000000000" pitchFamily="2" charset="-94"/>
            </a:endParaRP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Natural ordering for strings containing numbers (e.g., version names, product codes).</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Works seamlessly with </a:t>
            </a:r>
            <a:r>
              <a:rPr lang="en-US" altLang="en-US" sz="1600" i="1" dirty="0" err="1">
                <a:solidFill>
                  <a:schemeClr val="tx1"/>
                </a:solidFill>
                <a:latin typeface="Consolas" panose="020B0609020204030204" pitchFamily="49" charset="0"/>
                <a:cs typeface="Poppins" panose="00000500000000000000" pitchFamily="2" charset="-94"/>
              </a:rPr>
              <a:t>StringComparer</a:t>
            </a:r>
            <a:r>
              <a:rPr lang="en-US" altLang="en-US" sz="1600" dirty="0">
                <a:solidFill>
                  <a:schemeClr val="tx1"/>
                </a:solidFill>
                <a:latin typeface="Poppins" panose="00000500000000000000" pitchFamily="2" charset="-94"/>
                <a:cs typeface="Poppins" panose="00000500000000000000" pitchFamily="2" charset="-94"/>
              </a:rPr>
              <a:t> and </a:t>
            </a:r>
            <a:r>
              <a:rPr lang="en-US" altLang="en-US" sz="1600" i="1" dirty="0">
                <a:solidFill>
                  <a:schemeClr val="tx1"/>
                </a:solidFill>
                <a:latin typeface="Consolas" panose="020B0609020204030204" pitchFamily="49" charset="0"/>
                <a:cs typeface="Poppins" panose="00000500000000000000" pitchFamily="2" charset="-94"/>
              </a:rPr>
              <a:t>HashSet</a:t>
            </a:r>
            <a:r>
              <a:rPr lang="en-US" altLang="en-US" sz="1600" dirty="0">
                <a:solidFill>
                  <a:schemeClr val="tx1"/>
                </a:solidFill>
                <a:latin typeface="Poppins" panose="00000500000000000000" pitchFamily="2" charset="-94"/>
                <a:cs typeface="Poppins" panose="00000500000000000000" pitchFamily="2" charset="-94"/>
              </a:rPr>
              <a:t> using </a:t>
            </a:r>
            <a:r>
              <a:rPr lang="en-US" altLang="en-US" sz="1600" i="1" dirty="0" err="1">
                <a:solidFill>
                  <a:schemeClr val="tx1"/>
                </a:solidFill>
                <a:latin typeface="Consolas" panose="020B0609020204030204" pitchFamily="49" charset="0"/>
                <a:cs typeface="Poppins" panose="00000500000000000000" pitchFamily="2" charset="-94"/>
              </a:rPr>
              <a:t>CompareOptions.NumericOrdering</a:t>
            </a:r>
            <a:r>
              <a:rPr lang="en-US" altLang="en-US" sz="1600" dirty="0">
                <a:solidFill>
                  <a:schemeClr val="tx1"/>
                </a:solidFill>
                <a:latin typeface="Poppins" panose="00000500000000000000" pitchFamily="2" charset="-94"/>
                <a:cs typeface="Poppins" panose="00000500000000000000" pitchFamily="2" charset="-94"/>
              </a:rPr>
              <a:t>.</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Cleaner data sorting and filtering in apps.</a:t>
            </a:r>
          </a:p>
        </p:txBody>
      </p:sp>
      <p:sp>
        <p:nvSpPr>
          <p:cNvPr id="6" name="TextBox 5">
            <a:extLst>
              <a:ext uri="{FF2B5EF4-FFF2-40B4-BE49-F238E27FC236}">
                <a16:creationId xmlns:a16="http://schemas.microsoft.com/office/drawing/2014/main" id="{6CC06FC4-3AB5-4DF6-B2BB-9FBC739F58E5}"/>
              </a:ext>
            </a:extLst>
          </p:cNvPr>
          <p:cNvSpPr txBox="1"/>
          <p:nvPr/>
        </p:nvSpPr>
        <p:spPr>
          <a:xfrm>
            <a:off x="500064" y="2320740"/>
            <a:ext cx="11191872" cy="338554"/>
          </a:xfrm>
          <a:prstGeom prst="rect">
            <a:avLst/>
          </a:prstGeom>
          <a:noFill/>
        </p:spPr>
        <p:txBody>
          <a:bodyPr wrap="square">
            <a:spAutoFit/>
          </a:bodyPr>
          <a:lstStyle/>
          <a:p>
            <a:r>
              <a:rPr lang="en-US" sz="1600" dirty="0">
                <a:latin typeface="Poppins" panose="00000500000000000000" pitchFamily="2" charset="-94"/>
                <a:cs typeface="Poppins" panose="00000500000000000000" pitchFamily="2" charset="-94"/>
              </a:rPr>
              <a:t>.NET 10 introduces numeric-aware string comparison.</a:t>
            </a:r>
          </a:p>
        </p:txBody>
      </p:sp>
      <p:sp>
        <p:nvSpPr>
          <p:cNvPr id="2" name="Rectangle: Rounded Corners 1">
            <a:extLst>
              <a:ext uri="{FF2B5EF4-FFF2-40B4-BE49-F238E27FC236}">
                <a16:creationId xmlns:a16="http://schemas.microsoft.com/office/drawing/2014/main" id="{1FED13F7-DB0F-0162-6A5E-CCAF2F891EDD}"/>
              </a:ext>
            </a:extLst>
          </p:cNvPr>
          <p:cNvSpPr/>
          <p:nvPr/>
        </p:nvSpPr>
        <p:spPr>
          <a:xfrm>
            <a:off x="451488" y="4602480"/>
            <a:ext cx="10007600" cy="1791057"/>
          </a:xfrm>
          <a:prstGeom prst="round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tr-TR"/>
          </a:p>
        </p:txBody>
      </p:sp>
      <p:pic>
        <p:nvPicPr>
          <p:cNvPr id="11" name="Picture 10">
            <a:extLst>
              <a:ext uri="{FF2B5EF4-FFF2-40B4-BE49-F238E27FC236}">
                <a16:creationId xmlns:a16="http://schemas.microsoft.com/office/drawing/2014/main" id="{0A2459F2-D18C-C6EE-86E0-7F557BFA107A}"/>
              </a:ext>
            </a:extLst>
          </p:cNvPr>
          <p:cNvPicPr>
            <a:picLocks noChangeAspect="1"/>
          </p:cNvPicPr>
          <p:nvPr/>
        </p:nvPicPr>
        <p:blipFill>
          <a:blip r:embed="rId4"/>
          <a:stretch>
            <a:fillRect/>
          </a:stretch>
        </p:blipFill>
        <p:spPr>
          <a:xfrm>
            <a:off x="568962" y="2943224"/>
            <a:ext cx="9890125" cy="983229"/>
          </a:xfrm>
          <a:prstGeom prst="rect">
            <a:avLst/>
          </a:prstGeom>
        </p:spPr>
      </p:pic>
    </p:spTree>
    <p:extLst>
      <p:ext uri="{BB962C8B-B14F-4D97-AF65-F5344CB8AC3E}">
        <p14:creationId xmlns:p14="http://schemas.microsoft.com/office/powerpoint/2010/main" val="128734776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p:cNvGrpSpPr/>
        <p:nvPr/>
      </p:nvGrpSpPr>
      <p:grpSpPr>
        <a:xfrm>
          <a:off x="0" y="0"/>
          <a:ext cx="0" cy="0"/>
          <a:chOff x="0" y="0"/>
          <a:chExt cx="0" cy="0"/>
        </a:xfrm>
      </p:grpSpPr>
      <p:sp>
        <p:nvSpPr>
          <p:cNvPr id="107" name="Google Shape;107;p2"/>
          <p:cNvSpPr txBox="1"/>
          <p:nvPr/>
        </p:nvSpPr>
        <p:spPr>
          <a:xfrm>
            <a:off x="451488" y="464463"/>
            <a:ext cx="10720064" cy="1138733"/>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200"/>
              <a:buFont typeface="Arial"/>
              <a:buNone/>
            </a:pPr>
            <a:r>
              <a:rPr lang="en-US" sz="3400" b="1" dirty="0">
                <a:solidFill>
                  <a:srgbClr val="292D33"/>
                </a:solidFill>
                <a:latin typeface="Lexend"/>
                <a:ea typeface="Lexend"/>
                <a:cs typeface="Lexend"/>
                <a:sym typeface="Lexend"/>
              </a:rPr>
              <a:t>.NET Libraries Improvements </a:t>
            </a:r>
          </a:p>
          <a:p>
            <a:pPr marR="0" lvl="0" algn="l" rtl="0">
              <a:lnSpc>
                <a:spcPct val="100000"/>
              </a:lnSpc>
              <a:spcBef>
                <a:spcPts val="0"/>
              </a:spcBef>
              <a:spcAft>
                <a:spcPts val="0"/>
              </a:spcAft>
              <a:buClr>
                <a:srgbClr val="000000"/>
              </a:buClr>
              <a:buSzPts val="3200"/>
            </a:pPr>
            <a:r>
              <a:rPr lang="en-US" sz="3400" dirty="0">
                <a:solidFill>
                  <a:srgbClr val="292D33"/>
                </a:solidFill>
                <a:latin typeface="Lexend"/>
                <a:ea typeface="Lexend"/>
                <a:cs typeface="Lexend"/>
                <a:sym typeface="Lexend"/>
              </a:rPr>
              <a:t>String Normalization APIs for Spans</a:t>
            </a:r>
          </a:p>
        </p:txBody>
      </p:sp>
      <p:sp>
        <p:nvSpPr>
          <p:cNvPr id="5" name="TextBox 4">
            <a:extLst>
              <a:ext uri="{FF2B5EF4-FFF2-40B4-BE49-F238E27FC236}">
                <a16:creationId xmlns:a16="http://schemas.microsoft.com/office/drawing/2014/main" id="{B19F4668-4F61-4CBE-AB39-265B74442340}"/>
              </a:ext>
            </a:extLst>
          </p:cNvPr>
          <p:cNvSpPr txBox="1"/>
          <p:nvPr/>
        </p:nvSpPr>
        <p:spPr>
          <a:xfrm>
            <a:off x="735968" y="4836288"/>
            <a:ext cx="10720064" cy="1323439"/>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en-US" sz="1600" b="1" dirty="0">
                <a:solidFill>
                  <a:schemeClr val="tx1"/>
                </a:solidFill>
                <a:latin typeface="Poppins" panose="00000500000000000000" pitchFamily="2" charset="-94"/>
                <a:cs typeface="Poppins" panose="00000500000000000000" pitchFamily="2" charset="-94"/>
              </a:rPr>
              <a:t>✅ What this means:</a:t>
            </a:r>
          </a:p>
          <a:p>
            <a:pPr marL="0" marR="0" lvl="0" indent="0" algn="l" defTabSz="914400" rtl="0" eaLnBrk="0" fontAlgn="base" latinLnBrk="0" hangingPunct="0">
              <a:lnSpc>
                <a:spcPct val="100000"/>
              </a:lnSpc>
              <a:spcBef>
                <a:spcPct val="0"/>
              </a:spcBef>
              <a:spcAft>
                <a:spcPct val="0"/>
              </a:spcAft>
              <a:buClrTx/>
              <a:buSzTx/>
              <a:buFontTx/>
              <a:buNone/>
              <a:tabLst/>
            </a:pPr>
            <a:endParaRPr lang="en-US" altLang="en-US" sz="1600" b="1" dirty="0">
              <a:solidFill>
                <a:schemeClr val="tx1"/>
              </a:solidFill>
              <a:latin typeface="Poppins" panose="00000500000000000000" pitchFamily="2" charset="-94"/>
              <a:cs typeface="Poppins" panose="00000500000000000000" pitchFamily="2" charset="-94"/>
            </a:endParaRP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Less memory allocation in text-heavy code.</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Easier and faster normalization for streams and buffers.</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Great for libraries, parsers, and Unicode handling.</a:t>
            </a:r>
          </a:p>
        </p:txBody>
      </p:sp>
      <p:sp>
        <p:nvSpPr>
          <p:cNvPr id="6" name="TextBox 5">
            <a:extLst>
              <a:ext uri="{FF2B5EF4-FFF2-40B4-BE49-F238E27FC236}">
                <a16:creationId xmlns:a16="http://schemas.microsoft.com/office/drawing/2014/main" id="{4ECEFFF8-3A99-4D32-AF29-DB828AB5DABB}"/>
              </a:ext>
            </a:extLst>
          </p:cNvPr>
          <p:cNvSpPr txBox="1"/>
          <p:nvPr/>
        </p:nvSpPr>
        <p:spPr>
          <a:xfrm>
            <a:off x="451488" y="1943638"/>
            <a:ext cx="11003280" cy="369332"/>
          </a:xfrm>
          <a:prstGeom prst="rect">
            <a:avLst/>
          </a:prstGeom>
          <a:noFill/>
        </p:spPr>
        <p:txBody>
          <a:bodyPr wrap="square">
            <a:spAutoFit/>
          </a:bodyPr>
          <a:lstStyle/>
          <a:p>
            <a:r>
              <a:rPr lang="en-US" sz="1800" dirty="0">
                <a:latin typeface="Poppins" panose="00000500000000000000" pitchFamily="2" charset="-94"/>
                <a:cs typeface="Poppins" panose="00000500000000000000" pitchFamily="2" charset="-94"/>
              </a:rPr>
              <a:t>String normalization </a:t>
            </a:r>
            <a:r>
              <a:rPr lang="en-US" sz="1800" i="1" dirty="0" err="1">
                <a:latin typeface="Consolas" panose="020B0609020204030204" pitchFamily="49" charset="0"/>
                <a:cs typeface="Poppins" panose="00000500000000000000" pitchFamily="2" charset="-94"/>
              </a:rPr>
              <a:t>ReadOnlySpan</a:t>
            </a:r>
            <a:r>
              <a:rPr lang="en-US" sz="1800" i="1" dirty="0">
                <a:latin typeface="Consolas" panose="020B0609020204030204" pitchFamily="49" charset="0"/>
                <a:cs typeface="Poppins" panose="00000500000000000000" pitchFamily="2" charset="-94"/>
              </a:rPr>
              <a:t>&lt;char&gt;</a:t>
            </a:r>
            <a:r>
              <a:rPr lang="en-US" sz="1800" dirty="0">
                <a:latin typeface="Poppins" panose="00000500000000000000" pitchFamily="2" charset="-94"/>
                <a:cs typeface="Poppins" panose="00000500000000000000" pitchFamily="2" charset="-94"/>
              </a:rPr>
              <a:t> and </a:t>
            </a:r>
            <a:r>
              <a:rPr lang="en-US" sz="1800" i="1" dirty="0">
                <a:latin typeface="Consolas" panose="020B0609020204030204" pitchFamily="49" charset="0"/>
                <a:cs typeface="Poppins" panose="00000500000000000000" pitchFamily="2" charset="-94"/>
              </a:rPr>
              <a:t>Span&lt;char&gt;</a:t>
            </a:r>
            <a:endParaRPr lang="en-US" sz="1800" dirty="0">
              <a:latin typeface="Poppins" panose="00000500000000000000" pitchFamily="2" charset="-94"/>
              <a:cs typeface="Poppins" panose="00000500000000000000" pitchFamily="2" charset="-94"/>
            </a:endParaRPr>
          </a:p>
        </p:txBody>
      </p:sp>
      <p:sp>
        <p:nvSpPr>
          <p:cNvPr id="2" name="Rectangle: Rounded Corners 1">
            <a:extLst>
              <a:ext uri="{FF2B5EF4-FFF2-40B4-BE49-F238E27FC236}">
                <a16:creationId xmlns:a16="http://schemas.microsoft.com/office/drawing/2014/main" id="{D8A94BAE-2732-9606-6EFB-ADC665AF3B7B}"/>
              </a:ext>
            </a:extLst>
          </p:cNvPr>
          <p:cNvSpPr/>
          <p:nvPr/>
        </p:nvSpPr>
        <p:spPr>
          <a:xfrm>
            <a:off x="548640" y="4602480"/>
            <a:ext cx="10007600" cy="1791057"/>
          </a:xfrm>
          <a:prstGeom prst="round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tr-TR"/>
          </a:p>
        </p:txBody>
      </p:sp>
      <p:pic>
        <p:nvPicPr>
          <p:cNvPr id="4" name="Picture 3">
            <a:extLst>
              <a:ext uri="{FF2B5EF4-FFF2-40B4-BE49-F238E27FC236}">
                <a16:creationId xmlns:a16="http://schemas.microsoft.com/office/drawing/2014/main" id="{1175A08B-D9E6-058E-EFD7-52733DE5DEF6}"/>
              </a:ext>
            </a:extLst>
          </p:cNvPr>
          <p:cNvPicPr>
            <a:picLocks noChangeAspect="1"/>
          </p:cNvPicPr>
          <p:nvPr/>
        </p:nvPicPr>
        <p:blipFill>
          <a:blip r:embed="rId4"/>
          <a:stretch>
            <a:fillRect/>
          </a:stretch>
        </p:blipFill>
        <p:spPr>
          <a:xfrm>
            <a:off x="548640" y="2397987"/>
            <a:ext cx="9892147" cy="2062025"/>
          </a:xfrm>
          <a:prstGeom prst="rect">
            <a:avLst/>
          </a:prstGeom>
        </p:spPr>
      </p:pic>
    </p:spTree>
    <p:extLst>
      <p:ext uri="{BB962C8B-B14F-4D97-AF65-F5344CB8AC3E}">
        <p14:creationId xmlns:p14="http://schemas.microsoft.com/office/powerpoint/2010/main" val="55610422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p:cNvGrpSpPr/>
        <p:nvPr/>
      </p:nvGrpSpPr>
      <p:grpSpPr>
        <a:xfrm>
          <a:off x="0" y="0"/>
          <a:ext cx="0" cy="0"/>
          <a:chOff x="0" y="0"/>
          <a:chExt cx="0" cy="0"/>
        </a:xfrm>
      </p:grpSpPr>
      <p:sp>
        <p:nvSpPr>
          <p:cNvPr id="107" name="Google Shape;107;p2"/>
          <p:cNvSpPr txBox="1"/>
          <p:nvPr/>
        </p:nvSpPr>
        <p:spPr>
          <a:xfrm>
            <a:off x="451488" y="464463"/>
            <a:ext cx="10720064" cy="1138733"/>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200"/>
              <a:buFont typeface="Arial"/>
              <a:buNone/>
            </a:pPr>
            <a:r>
              <a:rPr lang="en-US" sz="3400" b="1" dirty="0">
                <a:solidFill>
                  <a:srgbClr val="292D33"/>
                </a:solidFill>
                <a:latin typeface="Lexend"/>
                <a:ea typeface="Lexend"/>
                <a:cs typeface="Lexend"/>
                <a:sym typeface="Lexend"/>
              </a:rPr>
              <a:t>.NET Libraries Improvements </a:t>
            </a:r>
          </a:p>
          <a:p>
            <a:pPr marR="0" lvl="0" algn="l" rtl="0">
              <a:lnSpc>
                <a:spcPct val="100000"/>
              </a:lnSpc>
              <a:spcBef>
                <a:spcPts val="0"/>
              </a:spcBef>
              <a:spcAft>
                <a:spcPts val="0"/>
              </a:spcAft>
              <a:buClr>
                <a:srgbClr val="000000"/>
              </a:buClr>
              <a:buSzPts val="3200"/>
            </a:pPr>
            <a:r>
              <a:rPr lang="en-US" sz="3400" dirty="0">
                <a:solidFill>
                  <a:srgbClr val="292D33"/>
                </a:solidFill>
                <a:latin typeface="Lexend"/>
                <a:ea typeface="Lexend"/>
                <a:cs typeface="Lexend"/>
                <a:sym typeface="Lexend"/>
              </a:rPr>
              <a:t>UTF-8 Support for Hex String Conversion</a:t>
            </a:r>
          </a:p>
        </p:txBody>
      </p:sp>
      <p:sp>
        <p:nvSpPr>
          <p:cNvPr id="5" name="TextBox 4">
            <a:extLst>
              <a:ext uri="{FF2B5EF4-FFF2-40B4-BE49-F238E27FC236}">
                <a16:creationId xmlns:a16="http://schemas.microsoft.com/office/drawing/2014/main" id="{B19F4668-4F61-4CBE-AB39-265B74442340}"/>
              </a:ext>
            </a:extLst>
          </p:cNvPr>
          <p:cNvSpPr txBox="1"/>
          <p:nvPr/>
        </p:nvSpPr>
        <p:spPr>
          <a:xfrm>
            <a:off x="744864" y="4836288"/>
            <a:ext cx="10720064" cy="1323439"/>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en-US" sz="1600" b="1" dirty="0">
                <a:solidFill>
                  <a:schemeClr val="tx1"/>
                </a:solidFill>
                <a:latin typeface="Poppins" panose="00000500000000000000" pitchFamily="2" charset="-94"/>
                <a:cs typeface="Poppins" panose="00000500000000000000" pitchFamily="2" charset="-94"/>
              </a:rPr>
              <a:t>✅ What this means:</a:t>
            </a:r>
          </a:p>
          <a:p>
            <a:pPr marL="0" marR="0" lvl="0" indent="0" algn="l" defTabSz="914400" rtl="0" eaLnBrk="0" fontAlgn="base" latinLnBrk="0" hangingPunct="0">
              <a:lnSpc>
                <a:spcPct val="100000"/>
              </a:lnSpc>
              <a:spcBef>
                <a:spcPct val="0"/>
              </a:spcBef>
              <a:spcAft>
                <a:spcPct val="0"/>
              </a:spcAft>
              <a:buClrTx/>
              <a:buSzTx/>
              <a:buFontTx/>
              <a:buNone/>
              <a:tabLst/>
            </a:pPr>
            <a:endParaRPr lang="en-US" altLang="en-US" sz="1600" b="1" dirty="0">
              <a:solidFill>
                <a:schemeClr val="tx1"/>
              </a:solidFill>
              <a:latin typeface="Poppins" panose="00000500000000000000" pitchFamily="2" charset="-94"/>
              <a:cs typeface="Poppins" panose="00000500000000000000" pitchFamily="2" charset="-94"/>
            </a:endParaRP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Direct UTF-8 → hex conversions.</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Faster serialization/deserialization.</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Useful for cryptography, networking, and binary protocols.</a:t>
            </a:r>
          </a:p>
        </p:txBody>
      </p:sp>
      <p:sp>
        <p:nvSpPr>
          <p:cNvPr id="2" name="Rectangle: Rounded Corners 1">
            <a:extLst>
              <a:ext uri="{FF2B5EF4-FFF2-40B4-BE49-F238E27FC236}">
                <a16:creationId xmlns:a16="http://schemas.microsoft.com/office/drawing/2014/main" id="{D914435E-2931-338D-3781-6053B54A100B}"/>
              </a:ext>
            </a:extLst>
          </p:cNvPr>
          <p:cNvSpPr/>
          <p:nvPr/>
        </p:nvSpPr>
        <p:spPr>
          <a:xfrm>
            <a:off x="548640" y="4602480"/>
            <a:ext cx="10007600" cy="1791057"/>
          </a:xfrm>
          <a:prstGeom prst="round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tr-TR"/>
          </a:p>
        </p:txBody>
      </p:sp>
      <p:pic>
        <p:nvPicPr>
          <p:cNvPr id="7" name="Picture 6">
            <a:extLst>
              <a:ext uri="{FF2B5EF4-FFF2-40B4-BE49-F238E27FC236}">
                <a16:creationId xmlns:a16="http://schemas.microsoft.com/office/drawing/2014/main" id="{681110A0-F61F-44FA-9406-06F90BA5E208}"/>
              </a:ext>
            </a:extLst>
          </p:cNvPr>
          <p:cNvPicPr>
            <a:picLocks noChangeAspect="1"/>
          </p:cNvPicPr>
          <p:nvPr/>
        </p:nvPicPr>
        <p:blipFill>
          <a:blip r:embed="rId4"/>
          <a:stretch>
            <a:fillRect/>
          </a:stretch>
        </p:blipFill>
        <p:spPr>
          <a:xfrm>
            <a:off x="528002" y="1837004"/>
            <a:ext cx="10048875" cy="2295525"/>
          </a:xfrm>
          <a:prstGeom prst="rect">
            <a:avLst/>
          </a:prstGeom>
        </p:spPr>
      </p:pic>
    </p:spTree>
    <p:extLst>
      <p:ext uri="{BB962C8B-B14F-4D97-AF65-F5344CB8AC3E}">
        <p14:creationId xmlns:p14="http://schemas.microsoft.com/office/powerpoint/2010/main" val="12707609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p:cNvGrpSpPr/>
        <p:nvPr/>
      </p:nvGrpSpPr>
      <p:grpSpPr>
        <a:xfrm>
          <a:off x="0" y="0"/>
          <a:ext cx="0" cy="0"/>
          <a:chOff x="0" y="0"/>
          <a:chExt cx="0" cy="0"/>
        </a:xfrm>
      </p:grpSpPr>
      <p:sp>
        <p:nvSpPr>
          <p:cNvPr id="107" name="Google Shape;107;p2"/>
          <p:cNvSpPr txBox="1"/>
          <p:nvPr/>
        </p:nvSpPr>
        <p:spPr>
          <a:xfrm>
            <a:off x="451488" y="453033"/>
            <a:ext cx="10720064" cy="1138733"/>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200"/>
              <a:buFont typeface="Arial"/>
              <a:buNone/>
            </a:pPr>
            <a:r>
              <a:rPr lang="en-US" sz="3400" b="1" dirty="0">
                <a:solidFill>
                  <a:srgbClr val="292D33"/>
                </a:solidFill>
                <a:latin typeface="Lexend"/>
                <a:ea typeface="Lexend"/>
                <a:cs typeface="Lexend"/>
                <a:sym typeface="Lexend"/>
              </a:rPr>
              <a:t>.NET Libraries Improvements </a:t>
            </a:r>
          </a:p>
          <a:p>
            <a:pPr marR="0" lvl="0" algn="l" rtl="0">
              <a:lnSpc>
                <a:spcPct val="100000"/>
              </a:lnSpc>
              <a:spcBef>
                <a:spcPts val="0"/>
              </a:spcBef>
              <a:spcAft>
                <a:spcPts val="0"/>
              </a:spcAft>
              <a:buClr>
                <a:srgbClr val="000000"/>
              </a:buClr>
              <a:buSzPts val="3200"/>
            </a:pPr>
            <a:r>
              <a:rPr lang="en-US" sz="3400" dirty="0">
                <a:solidFill>
                  <a:srgbClr val="292D33"/>
                </a:solidFill>
                <a:latin typeface="Lexend"/>
                <a:ea typeface="Lexend"/>
                <a:cs typeface="Lexend"/>
                <a:sym typeface="Lexend"/>
              </a:rPr>
              <a:t>Async ZIP APIs</a:t>
            </a:r>
          </a:p>
        </p:txBody>
      </p:sp>
      <p:sp>
        <p:nvSpPr>
          <p:cNvPr id="9" name="Arrow: Circular 8">
            <a:extLst>
              <a:ext uri="{FF2B5EF4-FFF2-40B4-BE49-F238E27FC236}">
                <a16:creationId xmlns:a16="http://schemas.microsoft.com/office/drawing/2014/main" id="{935A8224-6517-4919-B2F7-2E78F635B83F}"/>
              </a:ext>
            </a:extLst>
          </p:cNvPr>
          <p:cNvSpPr/>
          <p:nvPr/>
        </p:nvSpPr>
        <p:spPr>
          <a:xfrm>
            <a:off x="7377108" y="1005386"/>
            <a:ext cx="2182498" cy="2039959"/>
          </a:xfrm>
          <a:prstGeom prst="circular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5" name="TextBox 4">
            <a:extLst>
              <a:ext uri="{FF2B5EF4-FFF2-40B4-BE49-F238E27FC236}">
                <a16:creationId xmlns:a16="http://schemas.microsoft.com/office/drawing/2014/main" id="{B19F4668-4F61-4CBE-AB39-265B74442340}"/>
              </a:ext>
            </a:extLst>
          </p:cNvPr>
          <p:cNvSpPr txBox="1"/>
          <p:nvPr/>
        </p:nvSpPr>
        <p:spPr>
          <a:xfrm>
            <a:off x="735968" y="4906692"/>
            <a:ext cx="10720064" cy="1323439"/>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en-US" sz="1600" b="1" dirty="0">
                <a:solidFill>
                  <a:schemeClr val="tx1"/>
                </a:solidFill>
                <a:latin typeface="Poppins" panose="00000500000000000000" pitchFamily="2" charset="-94"/>
                <a:cs typeface="Poppins" panose="00000500000000000000" pitchFamily="2" charset="-94"/>
              </a:rPr>
              <a:t>✅ What this means:</a:t>
            </a:r>
          </a:p>
          <a:p>
            <a:pPr marL="0" marR="0" lvl="0" indent="0" algn="l" defTabSz="914400" rtl="0" eaLnBrk="0" fontAlgn="base" latinLnBrk="0" hangingPunct="0">
              <a:lnSpc>
                <a:spcPct val="100000"/>
              </a:lnSpc>
              <a:spcBef>
                <a:spcPct val="0"/>
              </a:spcBef>
              <a:spcAft>
                <a:spcPct val="0"/>
              </a:spcAft>
              <a:buClrTx/>
              <a:buSzTx/>
              <a:buFontTx/>
              <a:buNone/>
              <a:tabLst/>
            </a:pPr>
            <a:endParaRPr lang="en-US" altLang="en-US" sz="1600" b="1" dirty="0">
              <a:solidFill>
                <a:schemeClr val="tx1"/>
              </a:solidFill>
              <a:latin typeface="Poppins" panose="00000500000000000000" pitchFamily="2" charset="-94"/>
              <a:cs typeface="Poppins" panose="00000500000000000000" pitchFamily="2" charset="-94"/>
            </a:endParaRP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Simpler, high-level APIs for WebSocket I/O.</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Easy integration with </a:t>
            </a:r>
            <a:r>
              <a:rPr lang="en-US" altLang="en-US" sz="1600" i="1" dirty="0" err="1">
                <a:solidFill>
                  <a:schemeClr val="tx1"/>
                </a:solidFill>
                <a:latin typeface="Consolas" panose="020B0609020204030204" pitchFamily="49" charset="0"/>
                <a:cs typeface="Poppins" panose="00000500000000000000" pitchFamily="2" charset="-94"/>
              </a:rPr>
              <a:t>StreamReader</a:t>
            </a:r>
            <a:r>
              <a:rPr lang="en-US" altLang="en-US" sz="1600" dirty="0">
                <a:solidFill>
                  <a:schemeClr val="tx1"/>
                </a:solidFill>
                <a:latin typeface="Poppins" panose="00000500000000000000" pitchFamily="2" charset="-94"/>
                <a:cs typeface="Poppins" panose="00000500000000000000" pitchFamily="2" charset="-94"/>
              </a:rPr>
              <a:t>, </a:t>
            </a:r>
            <a:r>
              <a:rPr lang="en-US" altLang="en-US" sz="1600" i="1" dirty="0" err="1">
                <a:solidFill>
                  <a:schemeClr val="tx1"/>
                </a:solidFill>
                <a:latin typeface="Consolas" panose="020B0609020204030204" pitchFamily="49" charset="0"/>
                <a:cs typeface="Poppins" panose="00000500000000000000" pitchFamily="2" charset="-94"/>
              </a:rPr>
              <a:t>JsonSerializer</a:t>
            </a:r>
            <a:r>
              <a:rPr lang="en-US" altLang="en-US" sz="1600" dirty="0">
                <a:solidFill>
                  <a:schemeClr val="tx1"/>
                </a:solidFill>
                <a:latin typeface="Poppins" panose="00000500000000000000" pitchFamily="2" charset="-94"/>
                <a:cs typeface="Poppins" panose="00000500000000000000" pitchFamily="2" charset="-94"/>
              </a:rPr>
              <a:t>, and binary serializers.</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Great for real-time apps, event-driven APIs, and microservices.</a:t>
            </a:r>
          </a:p>
        </p:txBody>
      </p:sp>
      <p:sp>
        <p:nvSpPr>
          <p:cNvPr id="2" name="Rectangle: Rounded Corners 1">
            <a:extLst>
              <a:ext uri="{FF2B5EF4-FFF2-40B4-BE49-F238E27FC236}">
                <a16:creationId xmlns:a16="http://schemas.microsoft.com/office/drawing/2014/main" id="{51EE5417-8099-2C50-102C-CF3C8540D9C2}"/>
              </a:ext>
            </a:extLst>
          </p:cNvPr>
          <p:cNvSpPr/>
          <p:nvPr/>
        </p:nvSpPr>
        <p:spPr>
          <a:xfrm>
            <a:off x="530228" y="4702808"/>
            <a:ext cx="10007600" cy="1791057"/>
          </a:xfrm>
          <a:prstGeom prst="round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tr-TR"/>
          </a:p>
        </p:txBody>
      </p:sp>
      <p:pic>
        <p:nvPicPr>
          <p:cNvPr id="4" name="Picture 3">
            <a:extLst>
              <a:ext uri="{FF2B5EF4-FFF2-40B4-BE49-F238E27FC236}">
                <a16:creationId xmlns:a16="http://schemas.microsoft.com/office/drawing/2014/main" id="{F28AFC3B-1876-56E3-711F-DD52DAA27822}"/>
              </a:ext>
            </a:extLst>
          </p:cNvPr>
          <p:cNvPicPr>
            <a:picLocks noChangeAspect="1"/>
          </p:cNvPicPr>
          <p:nvPr/>
        </p:nvPicPr>
        <p:blipFill>
          <a:blip r:embed="rId4"/>
          <a:stretch>
            <a:fillRect/>
          </a:stretch>
        </p:blipFill>
        <p:spPr>
          <a:xfrm>
            <a:off x="530228" y="1629905"/>
            <a:ext cx="8145142" cy="2876018"/>
          </a:xfrm>
          <a:prstGeom prst="rect">
            <a:avLst/>
          </a:prstGeom>
        </p:spPr>
      </p:pic>
      <p:sp>
        <p:nvSpPr>
          <p:cNvPr id="13" name="TextBox 12">
            <a:extLst>
              <a:ext uri="{FF2B5EF4-FFF2-40B4-BE49-F238E27FC236}">
                <a16:creationId xmlns:a16="http://schemas.microsoft.com/office/drawing/2014/main" id="{D7ED0625-70B8-4204-9F58-56990F662C65}"/>
              </a:ext>
            </a:extLst>
          </p:cNvPr>
          <p:cNvSpPr txBox="1"/>
          <p:nvPr/>
        </p:nvSpPr>
        <p:spPr>
          <a:xfrm>
            <a:off x="8823960" y="2066255"/>
            <a:ext cx="1988820" cy="979090"/>
          </a:xfrm>
          <a:prstGeom prst="rect">
            <a:avLst/>
          </a:prstGeom>
          <a:noFill/>
        </p:spPr>
        <p:txBody>
          <a:bodyPr wrap="square">
            <a:spAutoFit/>
          </a:bodyPr>
          <a:lstStyle/>
          <a:p>
            <a:r>
              <a:rPr lang="en-US" sz="2800" dirty="0">
                <a:latin typeface="Bradley Hand ITC" panose="03070402050302030203" pitchFamily="66" charset="0"/>
              </a:rPr>
              <a:t>new </a:t>
            </a:r>
            <a:r>
              <a:rPr lang="en-US" sz="2800" b="1" dirty="0">
                <a:latin typeface="Bradley Hand ITC" panose="03070402050302030203" pitchFamily="66" charset="0"/>
              </a:rPr>
              <a:t>async</a:t>
            </a:r>
            <a:r>
              <a:rPr lang="en-US" sz="2800" dirty="0">
                <a:latin typeface="Bradley Hand ITC" panose="03070402050302030203" pitchFamily="66" charset="0"/>
              </a:rPr>
              <a:t> methods</a:t>
            </a:r>
          </a:p>
        </p:txBody>
      </p:sp>
    </p:spTree>
    <p:extLst>
      <p:ext uri="{BB962C8B-B14F-4D97-AF65-F5344CB8AC3E}">
        <p14:creationId xmlns:p14="http://schemas.microsoft.com/office/powerpoint/2010/main" val="397101810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p:cNvGrpSpPr/>
        <p:nvPr/>
      </p:nvGrpSpPr>
      <p:grpSpPr>
        <a:xfrm>
          <a:off x="0" y="0"/>
          <a:ext cx="0" cy="0"/>
          <a:chOff x="0" y="0"/>
          <a:chExt cx="0" cy="0"/>
        </a:xfrm>
      </p:grpSpPr>
      <p:sp>
        <p:nvSpPr>
          <p:cNvPr id="107" name="Google Shape;107;p2"/>
          <p:cNvSpPr txBox="1"/>
          <p:nvPr/>
        </p:nvSpPr>
        <p:spPr>
          <a:xfrm>
            <a:off x="451488" y="464463"/>
            <a:ext cx="10720064" cy="1138733"/>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200"/>
              <a:buFont typeface="Arial"/>
              <a:buNone/>
            </a:pPr>
            <a:r>
              <a:rPr lang="en-US" sz="3400" b="1" dirty="0">
                <a:solidFill>
                  <a:srgbClr val="292D33"/>
                </a:solidFill>
                <a:latin typeface="Lexend"/>
                <a:ea typeface="Lexend"/>
                <a:cs typeface="Lexend"/>
                <a:sym typeface="Lexend"/>
              </a:rPr>
              <a:t>.NET Libraries Improvements </a:t>
            </a:r>
          </a:p>
          <a:p>
            <a:pPr marR="0" lvl="0" algn="l" rtl="0">
              <a:lnSpc>
                <a:spcPct val="100000"/>
              </a:lnSpc>
              <a:spcBef>
                <a:spcPts val="0"/>
              </a:spcBef>
              <a:spcAft>
                <a:spcPts val="0"/>
              </a:spcAft>
              <a:buClr>
                <a:srgbClr val="000000"/>
              </a:buClr>
              <a:buSzPts val="3200"/>
            </a:pPr>
            <a:r>
              <a:rPr lang="en-US" sz="3400" dirty="0" err="1">
                <a:solidFill>
                  <a:srgbClr val="292D33"/>
                </a:solidFill>
                <a:latin typeface="Lexend"/>
                <a:ea typeface="Lexend"/>
                <a:cs typeface="Lexend"/>
                <a:sym typeface="Lexend"/>
              </a:rPr>
              <a:t>ZipArchive</a:t>
            </a:r>
            <a:r>
              <a:rPr lang="en-US" sz="3400" dirty="0">
                <a:solidFill>
                  <a:srgbClr val="292D33"/>
                </a:solidFill>
                <a:latin typeface="Lexend"/>
                <a:ea typeface="Lexend"/>
                <a:cs typeface="Lexend"/>
                <a:sym typeface="Lexend"/>
              </a:rPr>
              <a:t> Performance Improvements</a:t>
            </a:r>
          </a:p>
        </p:txBody>
      </p:sp>
      <p:sp>
        <p:nvSpPr>
          <p:cNvPr id="5" name="TextBox 4">
            <a:extLst>
              <a:ext uri="{FF2B5EF4-FFF2-40B4-BE49-F238E27FC236}">
                <a16:creationId xmlns:a16="http://schemas.microsoft.com/office/drawing/2014/main" id="{B19F4668-4F61-4CBE-AB39-265B74442340}"/>
              </a:ext>
            </a:extLst>
          </p:cNvPr>
          <p:cNvSpPr txBox="1"/>
          <p:nvPr/>
        </p:nvSpPr>
        <p:spPr>
          <a:xfrm>
            <a:off x="735968" y="4836288"/>
            <a:ext cx="10720064" cy="1323439"/>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en-US" sz="1600" b="1" dirty="0">
                <a:solidFill>
                  <a:schemeClr val="tx1"/>
                </a:solidFill>
                <a:latin typeface="Poppins" panose="00000500000000000000" pitchFamily="2" charset="-94"/>
                <a:cs typeface="Poppins" panose="00000500000000000000" pitchFamily="2" charset="-94"/>
              </a:rPr>
              <a:t>✅ What this means:</a:t>
            </a:r>
          </a:p>
          <a:p>
            <a:pPr marL="0" marR="0" lvl="0" indent="0" algn="l" defTabSz="914400" rtl="0" eaLnBrk="0" fontAlgn="base" latinLnBrk="0" hangingPunct="0">
              <a:lnSpc>
                <a:spcPct val="100000"/>
              </a:lnSpc>
              <a:spcBef>
                <a:spcPct val="0"/>
              </a:spcBef>
              <a:spcAft>
                <a:spcPct val="0"/>
              </a:spcAft>
              <a:buClrTx/>
              <a:buSzTx/>
              <a:buFontTx/>
              <a:buNone/>
              <a:tabLst/>
            </a:pPr>
            <a:endParaRPr lang="en-US" altLang="en-US" sz="1600" b="1" dirty="0">
              <a:solidFill>
                <a:schemeClr val="tx1"/>
              </a:solidFill>
              <a:latin typeface="Poppins" panose="00000500000000000000" pitchFamily="2" charset="-94"/>
              <a:cs typeface="Poppins" panose="00000500000000000000" pitchFamily="2" charset="-94"/>
            </a:endParaRP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Better performance in file-heavy workloads.</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Lower memory usage when updating or extracting archives.</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Ideal for tools, installers, and packaging systems</a:t>
            </a:r>
            <a:r>
              <a:rPr lang="en-US" altLang="en-US" sz="1600" b="1" dirty="0">
                <a:solidFill>
                  <a:schemeClr val="tx1"/>
                </a:solidFill>
                <a:latin typeface="Poppins" panose="00000500000000000000" pitchFamily="2" charset="-94"/>
                <a:cs typeface="Poppins" panose="00000500000000000000" pitchFamily="2" charset="-94"/>
              </a:rPr>
              <a:t>.</a:t>
            </a:r>
          </a:p>
        </p:txBody>
      </p:sp>
      <p:sp>
        <p:nvSpPr>
          <p:cNvPr id="6" name="TextBox 5">
            <a:extLst>
              <a:ext uri="{FF2B5EF4-FFF2-40B4-BE49-F238E27FC236}">
                <a16:creationId xmlns:a16="http://schemas.microsoft.com/office/drawing/2014/main" id="{990DCCDD-AF4F-4DBB-962B-F750857838F3}"/>
              </a:ext>
            </a:extLst>
          </p:cNvPr>
          <p:cNvSpPr txBox="1"/>
          <p:nvPr/>
        </p:nvSpPr>
        <p:spPr>
          <a:xfrm>
            <a:off x="451488" y="2690336"/>
            <a:ext cx="10836272" cy="584775"/>
          </a:xfrm>
          <a:prstGeom prst="rect">
            <a:avLst/>
          </a:prstGeom>
          <a:noFill/>
        </p:spPr>
        <p:txBody>
          <a:bodyPr wrap="square">
            <a:spAutoFit/>
          </a:bodyPr>
          <a:lstStyle/>
          <a:p>
            <a:r>
              <a:rPr lang="en-US" sz="1600" dirty="0">
                <a:latin typeface="Poppins" panose="00000500000000000000" pitchFamily="2" charset="-94"/>
                <a:cs typeface="Poppins" panose="00000500000000000000" pitchFamily="2" charset="-94"/>
              </a:rPr>
              <a:t>Reading, writing and extracting </a:t>
            </a:r>
            <a:r>
              <a:rPr lang="en-US" sz="1600" b="1" dirty="0">
                <a:latin typeface="Poppins" panose="00000500000000000000" pitchFamily="2" charset="-94"/>
                <a:cs typeface="Poppins" panose="00000500000000000000" pitchFamily="2" charset="-94"/>
              </a:rPr>
              <a:t>ZIP files</a:t>
            </a:r>
            <a:r>
              <a:rPr lang="en-US" sz="1600" dirty="0">
                <a:latin typeface="Poppins" panose="00000500000000000000" pitchFamily="2" charset="-94"/>
                <a:cs typeface="Poppins" panose="00000500000000000000" pitchFamily="2" charset="-94"/>
              </a:rPr>
              <a:t> is now </a:t>
            </a:r>
            <a:r>
              <a:rPr lang="en-US" sz="1600" b="1" dirty="0">
                <a:latin typeface="Poppins" panose="00000500000000000000" pitchFamily="2" charset="-94"/>
                <a:cs typeface="Poppins" panose="00000500000000000000" pitchFamily="2" charset="-94"/>
              </a:rPr>
              <a:t>faster and more memory-efficient</a:t>
            </a:r>
            <a:r>
              <a:rPr lang="en-US" sz="1600" dirty="0">
                <a:latin typeface="Poppins" panose="00000500000000000000" pitchFamily="2" charset="-94"/>
                <a:cs typeface="Poppins" panose="00000500000000000000" pitchFamily="2" charset="-94"/>
              </a:rPr>
              <a:t>.</a:t>
            </a:r>
            <a:br>
              <a:rPr lang="en-US" sz="1600" dirty="0">
                <a:latin typeface="Poppins" panose="00000500000000000000" pitchFamily="2" charset="-94"/>
                <a:cs typeface="Poppins" panose="00000500000000000000" pitchFamily="2" charset="-94"/>
              </a:rPr>
            </a:br>
            <a:r>
              <a:rPr lang="en-US" sz="1600" dirty="0">
                <a:latin typeface="Poppins" panose="00000500000000000000" pitchFamily="2" charset="-94"/>
                <a:cs typeface="Poppins" panose="00000500000000000000" pitchFamily="2" charset="-94"/>
              </a:rPr>
              <a:t>Parallel extraction and reduced memory pressure significantly speed up large archive operations.</a:t>
            </a:r>
          </a:p>
        </p:txBody>
      </p:sp>
      <p:sp>
        <p:nvSpPr>
          <p:cNvPr id="2" name="Rectangle: Rounded Corners 1">
            <a:extLst>
              <a:ext uri="{FF2B5EF4-FFF2-40B4-BE49-F238E27FC236}">
                <a16:creationId xmlns:a16="http://schemas.microsoft.com/office/drawing/2014/main" id="{A1CE128D-7BC2-5BC5-8ABC-2E846AF6C71F}"/>
              </a:ext>
            </a:extLst>
          </p:cNvPr>
          <p:cNvSpPr/>
          <p:nvPr/>
        </p:nvSpPr>
        <p:spPr>
          <a:xfrm>
            <a:off x="548640" y="4602480"/>
            <a:ext cx="10007600" cy="1791057"/>
          </a:xfrm>
          <a:prstGeom prst="round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tr-TR"/>
          </a:p>
        </p:txBody>
      </p:sp>
    </p:spTree>
    <p:extLst>
      <p:ext uri="{BB962C8B-B14F-4D97-AF65-F5344CB8AC3E}">
        <p14:creationId xmlns:p14="http://schemas.microsoft.com/office/powerpoint/2010/main" val="55449820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p:cNvGrpSpPr/>
        <p:nvPr/>
      </p:nvGrpSpPr>
      <p:grpSpPr>
        <a:xfrm>
          <a:off x="0" y="0"/>
          <a:ext cx="0" cy="0"/>
          <a:chOff x="0" y="0"/>
          <a:chExt cx="0" cy="0"/>
        </a:xfrm>
      </p:grpSpPr>
      <p:sp>
        <p:nvSpPr>
          <p:cNvPr id="107" name="Google Shape;107;p2"/>
          <p:cNvSpPr txBox="1"/>
          <p:nvPr/>
        </p:nvSpPr>
        <p:spPr>
          <a:xfrm>
            <a:off x="451488" y="464463"/>
            <a:ext cx="10720064" cy="1138733"/>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200"/>
              <a:buFont typeface="Arial"/>
              <a:buNone/>
            </a:pPr>
            <a:r>
              <a:rPr lang="en-US" sz="3400" b="1" dirty="0">
                <a:solidFill>
                  <a:srgbClr val="292D33"/>
                </a:solidFill>
                <a:latin typeface="Lexend"/>
                <a:ea typeface="Lexend"/>
                <a:cs typeface="Lexend"/>
                <a:sym typeface="Lexend"/>
              </a:rPr>
              <a:t>.NET Libraries Improvements </a:t>
            </a:r>
          </a:p>
          <a:p>
            <a:pPr marR="0" lvl="0" algn="l" rtl="0">
              <a:lnSpc>
                <a:spcPct val="100000"/>
              </a:lnSpc>
              <a:spcBef>
                <a:spcPts val="0"/>
              </a:spcBef>
              <a:spcAft>
                <a:spcPts val="0"/>
              </a:spcAft>
              <a:buClr>
                <a:srgbClr val="000000"/>
              </a:buClr>
              <a:buSzPts val="3200"/>
            </a:pPr>
            <a:r>
              <a:rPr lang="en-US" sz="3400" dirty="0">
                <a:solidFill>
                  <a:srgbClr val="292D33"/>
                </a:solidFill>
                <a:latin typeface="Lexend"/>
                <a:ea typeface="Lexend"/>
                <a:cs typeface="Lexend"/>
                <a:sym typeface="Lexend"/>
              </a:rPr>
              <a:t>TLS 1.3 Support on macOS (Client)</a:t>
            </a:r>
          </a:p>
        </p:txBody>
      </p:sp>
      <p:sp>
        <p:nvSpPr>
          <p:cNvPr id="5" name="TextBox 4">
            <a:extLst>
              <a:ext uri="{FF2B5EF4-FFF2-40B4-BE49-F238E27FC236}">
                <a16:creationId xmlns:a16="http://schemas.microsoft.com/office/drawing/2014/main" id="{B19F4668-4F61-4CBE-AB39-265B74442340}"/>
              </a:ext>
            </a:extLst>
          </p:cNvPr>
          <p:cNvSpPr txBox="1"/>
          <p:nvPr/>
        </p:nvSpPr>
        <p:spPr>
          <a:xfrm>
            <a:off x="702632" y="4836288"/>
            <a:ext cx="10720064" cy="1323439"/>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en-US" sz="1600" b="1" dirty="0">
                <a:solidFill>
                  <a:schemeClr val="tx1"/>
                </a:solidFill>
                <a:latin typeface="Poppins" panose="00000500000000000000" pitchFamily="2" charset="-94"/>
                <a:cs typeface="Poppins" panose="00000500000000000000" pitchFamily="2" charset="-94"/>
              </a:rPr>
              <a:t>✅ What this means:</a:t>
            </a:r>
          </a:p>
          <a:p>
            <a:pPr marL="0" marR="0" lvl="0" indent="0" algn="l" defTabSz="914400" rtl="0" eaLnBrk="0" fontAlgn="base" latinLnBrk="0" hangingPunct="0">
              <a:lnSpc>
                <a:spcPct val="100000"/>
              </a:lnSpc>
              <a:spcBef>
                <a:spcPct val="0"/>
              </a:spcBef>
              <a:spcAft>
                <a:spcPct val="0"/>
              </a:spcAft>
              <a:buClrTx/>
              <a:buSzTx/>
              <a:buFontTx/>
              <a:buNone/>
              <a:tabLst/>
            </a:pPr>
            <a:endParaRPr lang="en-US" altLang="en-US" sz="1600" b="1" dirty="0">
              <a:solidFill>
                <a:schemeClr val="tx1"/>
              </a:solidFill>
              <a:latin typeface="Poppins" panose="00000500000000000000" pitchFamily="2" charset="-94"/>
              <a:cs typeface="Poppins" panose="00000500000000000000" pitchFamily="2" charset="-94"/>
            </a:endParaRP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Stronger security on macOS clients.</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Faster and more efficient TLS handshakes.</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Aligns macOS networking with Windows and Linux TLS 1.3 support.</a:t>
            </a:r>
          </a:p>
        </p:txBody>
      </p:sp>
      <p:sp>
        <p:nvSpPr>
          <p:cNvPr id="2" name="Rectangle: Rounded Corners 1">
            <a:extLst>
              <a:ext uri="{FF2B5EF4-FFF2-40B4-BE49-F238E27FC236}">
                <a16:creationId xmlns:a16="http://schemas.microsoft.com/office/drawing/2014/main" id="{577E6AC5-A3C7-C633-4ADB-2185950666C5}"/>
              </a:ext>
            </a:extLst>
          </p:cNvPr>
          <p:cNvSpPr/>
          <p:nvPr/>
        </p:nvSpPr>
        <p:spPr>
          <a:xfrm>
            <a:off x="548640" y="4602480"/>
            <a:ext cx="10007600" cy="1791057"/>
          </a:xfrm>
          <a:prstGeom prst="round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tr-TR"/>
          </a:p>
        </p:txBody>
      </p:sp>
      <p:pic>
        <p:nvPicPr>
          <p:cNvPr id="12" name="Picture 11">
            <a:extLst>
              <a:ext uri="{FF2B5EF4-FFF2-40B4-BE49-F238E27FC236}">
                <a16:creationId xmlns:a16="http://schemas.microsoft.com/office/drawing/2014/main" id="{F3BF53A3-C5BF-EF63-6908-30A9E557A02A}"/>
              </a:ext>
            </a:extLst>
          </p:cNvPr>
          <p:cNvPicPr>
            <a:picLocks noChangeAspect="1"/>
          </p:cNvPicPr>
          <p:nvPr/>
        </p:nvPicPr>
        <p:blipFill>
          <a:blip r:embed="rId4"/>
          <a:stretch>
            <a:fillRect/>
          </a:stretch>
        </p:blipFill>
        <p:spPr>
          <a:xfrm>
            <a:off x="548640" y="1970564"/>
            <a:ext cx="7195927" cy="1305085"/>
          </a:xfrm>
          <a:prstGeom prst="rect">
            <a:avLst/>
          </a:prstGeom>
        </p:spPr>
      </p:pic>
      <p:pic>
        <p:nvPicPr>
          <p:cNvPr id="14" name="Picture 13">
            <a:extLst>
              <a:ext uri="{FF2B5EF4-FFF2-40B4-BE49-F238E27FC236}">
                <a16:creationId xmlns:a16="http://schemas.microsoft.com/office/drawing/2014/main" id="{D56A6B50-1A13-0D4D-1C38-F388E1291D1A}"/>
              </a:ext>
            </a:extLst>
          </p:cNvPr>
          <p:cNvPicPr>
            <a:picLocks noChangeAspect="1"/>
          </p:cNvPicPr>
          <p:nvPr/>
        </p:nvPicPr>
        <p:blipFill>
          <a:blip r:embed="rId5"/>
          <a:stretch>
            <a:fillRect/>
          </a:stretch>
        </p:blipFill>
        <p:spPr>
          <a:xfrm>
            <a:off x="548640" y="3346892"/>
            <a:ext cx="5453698" cy="1138684"/>
          </a:xfrm>
          <a:prstGeom prst="rect">
            <a:avLst/>
          </a:prstGeom>
        </p:spPr>
      </p:pic>
      <p:sp>
        <p:nvSpPr>
          <p:cNvPr id="3" name="Thought Bubble: Cloud 2">
            <a:extLst>
              <a:ext uri="{FF2B5EF4-FFF2-40B4-BE49-F238E27FC236}">
                <a16:creationId xmlns:a16="http://schemas.microsoft.com/office/drawing/2014/main" id="{211A953A-ADA8-4DC9-9D58-64E998321092}"/>
              </a:ext>
            </a:extLst>
          </p:cNvPr>
          <p:cNvSpPr/>
          <p:nvPr/>
        </p:nvSpPr>
        <p:spPr>
          <a:xfrm>
            <a:off x="8515034" y="1720100"/>
            <a:ext cx="2907662" cy="2075866"/>
          </a:xfrm>
          <a:prstGeom prst="cloudCallout">
            <a:avLst>
              <a:gd name="adj1" fmla="val -70401"/>
              <a:gd name="adj2" fmla="val 2400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latin typeface="Kalam" panose="02000000000000000000" pitchFamily="2" charset="-94"/>
                <a:cs typeface="Kalam" panose="02000000000000000000" pitchFamily="2" charset="-94"/>
              </a:rPr>
              <a:t>📢 macOS Users!</a:t>
            </a:r>
            <a:br>
              <a:rPr lang="en-US" sz="1600" dirty="0">
                <a:latin typeface="Kalam" panose="02000000000000000000" pitchFamily="2" charset="-94"/>
                <a:cs typeface="Kalam" panose="02000000000000000000" pitchFamily="2" charset="-94"/>
              </a:rPr>
            </a:br>
            <a:r>
              <a:rPr lang="en-US" sz="1600" dirty="0">
                <a:latin typeface="Kalam" panose="02000000000000000000" pitchFamily="2" charset="-94"/>
                <a:cs typeface="Kalam" panose="02000000000000000000" pitchFamily="2" charset="-94"/>
              </a:rPr>
              <a:t>Opt-in TLS 1.3 via code and Environment Variable</a:t>
            </a:r>
          </a:p>
        </p:txBody>
      </p:sp>
    </p:spTree>
    <p:extLst>
      <p:ext uri="{BB962C8B-B14F-4D97-AF65-F5344CB8AC3E}">
        <p14:creationId xmlns:p14="http://schemas.microsoft.com/office/powerpoint/2010/main" val="341639385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p:cNvGrpSpPr/>
        <p:nvPr/>
      </p:nvGrpSpPr>
      <p:grpSpPr>
        <a:xfrm>
          <a:off x="0" y="0"/>
          <a:ext cx="0" cy="0"/>
          <a:chOff x="0" y="0"/>
          <a:chExt cx="0" cy="0"/>
        </a:xfrm>
      </p:grpSpPr>
      <p:sp>
        <p:nvSpPr>
          <p:cNvPr id="107" name="Google Shape;107;p2"/>
          <p:cNvSpPr txBox="1"/>
          <p:nvPr/>
        </p:nvSpPr>
        <p:spPr>
          <a:xfrm>
            <a:off x="451488" y="464463"/>
            <a:ext cx="10720064" cy="1138733"/>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200"/>
              <a:buFont typeface="Arial"/>
              <a:buNone/>
            </a:pPr>
            <a:r>
              <a:rPr lang="en-US" sz="3400" b="1" dirty="0">
                <a:solidFill>
                  <a:srgbClr val="292D33"/>
                </a:solidFill>
                <a:latin typeface="Lexend"/>
                <a:ea typeface="Lexend"/>
                <a:cs typeface="Lexend"/>
                <a:sym typeface="Lexend"/>
              </a:rPr>
              <a:t>.NET Libraries Improvements </a:t>
            </a:r>
          </a:p>
          <a:p>
            <a:pPr marR="0" lvl="0" algn="l" rtl="0">
              <a:lnSpc>
                <a:spcPct val="100000"/>
              </a:lnSpc>
              <a:spcBef>
                <a:spcPts val="0"/>
              </a:spcBef>
              <a:spcAft>
                <a:spcPts val="0"/>
              </a:spcAft>
              <a:buClr>
                <a:srgbClr val="000000"/>
              </a:buClr>
              <a:buSzPts val="3200"/>
            </a:pPr>
            <a:r>
              <a:rPr lang="en-US" sz="3400" dirty="0">
                <a:solidFill>
                  <a:srgbClr val="292D33"/>
                </a:solidFill>
                <a:latin typeface="Lexend"/>
                <a:ea typeface="Lexend"/>
                <a:cs typeface="Lexend"/>
                <a:sym typeface="Lexend"/>
              </a:rPr>
              <a:t>Diagnostics: Telemetry Schema URLs</a:t>
            </a:r>
          </a:p>
        </p:txBody>
      </p:sp>
      <p:sp>
        <p:nvSpPr>
          <p:cNvPr id="5" name="TextBox 4">
            <a:extLst>
              <a:ext uri="{FF2B5EF4-FFF2-40B4-BE49-F238E27FC236}">
                <a16:creationId xmlns:a16="http://schemas.microsoft.com/office/drawing/2014/main" id="{B19F4668-4F61-4CBE-AB39-265B74442340}"/>
              </a:ext>
            </a:extLst>
          </p:cNvPr>
          <p:cNvSpPr txBox="1"/>
          <p:nvPr/>
        </p:nvSpPr>
        <p:spPr>
          <a:xfrm>
            <a:off x="735968" y="4836288"/>
            <a:ext cx="10720064" cy="1323439"/>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en-US" sz="1600" b="1" dirty="0">
                <a:solidFill>
                  <a:schemeClr val="tx1"/>
                </a:solidFill>
                <a:latin typeface="Poppins" panose="00000500000000000000" pitchFamily="2" charset="-94"/>
                <a:cs typeface="Poppins" panose="00000500000000000000" pitchFamily="2" charset="-94"/>
              </a:rPr>
              <a:t>✅ What this means:</a:t>
            </a:r>
          </a:p>
          <a:p>
            <a:pPr marL="0" marR="0" lvl="0" indent="0" algn="l" defTabSz="914400" rtl="0" eaLnBrk="0" fontAlgn="base" latinLnBrk="0" hangingPunct="0">
              <a:lnSpc>
                <a:spcPct val="100000"/>
              </a:lnSpc>
              <a:spcBef>
                <a:spcPct val="0"/>
              </a:spcBef>
              <a:spcAft>
                <a:spcPct val="0"/>
              </a:spcAft>
              <a:buClrTx/>
              <a:buSzTx/>
              <a:buFontTx/>
              <a:buNone/>
              <a:tabLst/>
            </a:pPr>
            <a:endParaRPr lang="en-US" altLang="en-US" sz="1600" b="1" dirty="0">
              <a:solidFill>
                <a:schemeClr val="tx1"/>
              </a:solidFill>
              <a:latin typeface="Poppins" panose="00000500000000000000" pitchFamily="2" charset="-94"/>
              <a:cs typeface="Poppins" panose="00000500000000000000" pitchFamily="2" charset="-94"/>
            </a:endParaRP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Easier integration with </a:t>
            </a:r>
            <a:r>
              <a:rPr lang="en-US" sz="1600" i="1" dirty="0" err="1">
                <a:latin typeface="Consolas" panose="020B0609020204030204" pitchFamily="49" charset="0"/>
                <a:cs typeface="Poppins" panose="00000500000000000000" pitchFamily="2" charset="-94"/>
              </a:rPr>
              <a:t>OpenTelemetry</a:t>
            </a:r>
            <a:r>
              <a:rPr lang="en-US" altLang="en-US" sz="1600" dirty="0">
                <a:solidFill>
                  <a:schemeClr val="tx1"/>
                </a:solidFill>
                <a:latin typeface="Poppins" panose="00000500000000000000" pitchFamily="2" charset="-94"/>
                <a:cs typeface="Poppins" panose="00000500000000000000" pitchFamily="2" charset="-94"/>
              </a:rPr>
              <a:t> pipelines.</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Better interoperability with observability tools (Grafana, Prometheus, etc.).</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Cleaner, schema-aware tracing in distributed systems.</a:t>
            </a:r>
          </a:p>
        </p:txBody>
      </p:sp>
      <p:sp>
        <p:nvSpPr>
          <p:cNvPr id="2" name="Rectangle: Rounded Corners 1">
            <a:extLst>
              <a:ext uri="{FF2B5EF4-FFF2-40B4-BE49-F238E27FC236}">
                <a16:creationId xmlns:a16="http://schemas.microsoft.com/office/drawing/2014/main" id="{CB6CDF9A-2803-DDCF-37D0-7C7660FC24B4}"/>
              </a:ext>
            </a:extLst>
          </p:cNvPr>
          <p:cNvSpPr/>
          <p:nvPr/>
        </p:nvSpPr>
        <p:spPr>
          <a:xfrm>
            <a:off x="548640" y="4602480"/>
            <a:ext cx="10007600" cy="1791057"/>
          </a:xfrm>
          <a:prstGeom prst="round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tr-TR"/>
          </a:p>
        </p:txBody>
      </p:sp>
      <p:pic>
        <p:nvPicPr>
          <p:cNvPr id="4" name="Picture 3">
            <a:extLst>
              <a:ext uri="{FF2B5EF4-FFF2-40B4-BE49-F238E27FC236}">
                <a16:creationId xmlns:a16="http://schemas.microsoft.com/office/drawing/2014/main" id="{5A604520-8F5A-50C3-C4F2-86A7099CA226}"/>
              </a:ext>
            </a:extLst>
          </p:cNvPr>
          <p:cNvPicPr>
            <a:picLocks noChangeAspect="1"/>
          </p:cNvPicPr>
          <p:nvPr/>
        </p:nvPicPr>
        <p:blipFill>
          <a:blip r:embed="rId4"/>
          <a:stretch>
            <a:fillRect/>
          </a:stretch>
        </p:blipFill>
        <p:spPr>
          <a:xfrm>
            <a:off x="548640" y="1837004"/>
            <a:ext cx="6496702" cy="2531666"/>
          </a:xfrm>
          <a:prstGeom prst="rect">
            <a:avLst/>
          </a:prstGeom>
        </p:spPr>
      </p:pic>
    </p:spTree>
    <p:extLst>
      <p:ext uri="{BB962C8B-B14F-4D97-AF65-F5344CB8AC3E}">
        <p14:creationId xmlns:p14="http://schemas.microsoft.com/office/powerpoint/2010/main" val="243801326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p:cNvGrpSpPr/>
        <p:nvPr/>
      </p:nvGrpSpPr>
      <p:grpSpPr>
        <a:xfrm>
          <a:off x="0" y="0"/>
          <a:ext cx="0" cy="0"/>
          <a:chOff x="0" y="0"/>
          <a:chExt cx="0" cy="0"/>
        </a:xfrm>
      </p:grpSpPr>
      <p:sp>
        <p:nvSpPr>
          <p:cNvPr id="107" name="Google Shape;107;p2"/>
          <p:cNvSpPr txBox="1"/>
          <p:nvPr/>
        </p:nvSpPr>
        <p:spPr>
          <a:xfrm>
            <a:off x="451488" y="464463"/>
            <a:ext cx="10720064" cy="1138733"/>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200"/>
              <a:buFont typeface="Arial"/>
              <a:buNone/>
            </a:pPr>
            <a:r>
              <a:rPr lang="en-US" sz="3400" b="1" dirty="0">
                <a:solidFill>
                  <a:srgbClr val="292D33"/>
                </a:solidFill>
                <a:latin typeface="Lexend"/>
                <a:ea typeface="Lexend"/>
                <a:cs typeface="Lexend"/>
                <a:sym typeface="Lexend"/>
              </a:rPr>
              <a:t>.NET Libraries Improvements </a:t>
            </a:r>
          </a:p>
          <a:p>
            <a:pPr marR="0" lvl="0" algn="l" rtl="0">
              <a:lnSpc>
                <a:spcPct val="100000"/>
              </a:lnSpc>
              <a:spcBef>
                <a:spcPts val="0"/>
              </a:spcBef>
              <a:spcAft>
                <a:spcPts val="0"/>
              </a:spcAft>
              <a:buClr>
                <a:srgbClr val="000000"/>
              </a:buClr>
              <a:buSzPts val="3200"/>
            </a:pPr>
            <a:r>
              <a:rPr lang="en-US" sz="3400" dirty="0" err="1">
                <a:solidFill>
                  <a:srgbClr val="292D33"/>
                </a:solidFill>
                <a:latin typeface="Lexend"/>
                <a:ea typeface="Lexend"/>
                <a:cs typeface="Lexend"/>
                <a:sym typeface="Lexend"/>
              </a:rPr>
              <a:t>OrderedDictionary</a:t>
            </a:r>
            <a:r>
              <a:rPr lang="en-US" sz="3400" dirty="0">
                <a:solidFill>
                  <a:srgbClr val="292D33"/>
                </a:solidFill>
                <a:latin typeface="Lexend"/>
                <a:ea typeface="Lexend"/>
                <a:cs typeface="Lexend"/>
                <a:sym typeface="Lexend"/>
              </a:rPr>
              <a:t> Performance Boost</a:t>
            </a:r>
          </a:p>
        </p:txBody>
      </p:sp>
      <p:sp>
        <p:nvSpPr>
          <p:cNvPr id="5" name="TextBox 4">
            <a:extLst>
              <a:ext uri="{FF2B5EF4-FFF2-40B4-BE49-F238E27FC236}">
                <a16:creationId xmlns:a16="http://schemas.microsoft.com/office/drawing/2014/main" id="{B19F4668-4F61-4CBE-AB39-265B74442340}"/>
              </a:ext>
            </a:extLst>
          </p:cNvPr>
          <p:cNvSpPr txBox="1"/>
          <p:nvPr/>
        </p:nvSpPr>
        <p:spPr>
          <a:xfrm>
            <a:off x="735968" y="4836288"/>
            <a:ext cx="10720064" cy="1323439"/>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en-US" sz="1600" b="1" dirty="0">
                <a:solidFill>
                  <a:schemeClr val="tx1"/>
                </a:solidFill>
                <a:latin typeface="Poppins" panose="00000500000000000000" pitchFamily="2" charset="-94"/>
                <a:cs typeface="Poppins" panose="00000500000000000000" pitchFamily="2" charset="-94"/>
              </a:rPr>
              <a:t>✅ What this means:</a:t>
            </a:r>
          </a:p>
          <a:p>
            <a:pPr marL="0" marR="0" lvl="0" indent="0" algn="l" defTabSz="914400" rtl="0" eaLnBrk="0" fontAlgn="base" latinLnBrk="0" hangingPunct="0">
              <a:lnSpc>
                <a:spcPct val="100000"/>
              </a:lnSpc>
              <a:spcBef>
                <a:spcPct val="0"/>
              </a:spcBef>
              <a:spcAft>
                <a:spcPct val="0"/>
              </a:spcAft>
              <a:buClrTx/>
              <a:buSzTx/>
              <a:buFontTx/>
              <a:buNone/>
              <a:tabLst/>
            </a:pPr>
            <a:endParaRPr lang="en-US" altLang="en-US" sz="1600" b="1" dirty="0">
              <a:solidFill>
                <a:schemeClr val="tx1"/>
              </a:solidFill>
              <a:latin typeface="Poppins" panose="00000500000000000000" pitchFamily="2" charset="-94"/>
              <a:cs typeface="Poppins" panose="00000500000000000000" pitchFamily="2" charset="-94"/>
            </a:endParaRP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Up to 10–20% faster JSON property updates.</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More efficient dictionary operations for developers using </a:t>
            </a:r>
            <a:r>
              <a:rPr lang="en-US" altLang="en-US" sz="1600" i="1" dirty="0" err="1">
                <a:solidFill>
                  <a:schemeClr val="tx1"/>
                </a:solidFill>
                <a:latin typeface="Consolas" panose="020B0609020204030204" pitchFamily="49" charset="0"/>
                <a:cs typeface="Poppins" panose="00000500000000000000" pitchFamily="2" charset="-94"/>
              </a:rPr>
              <a:t>OrderedDictionary</a:t>
            </a:r>
            <a:r>
              <a:rPr lang="en-US" altLang="en-US" sz="1600" dirty="0">
                <a:solidFill>
                  <a:schemeClr val="tx1"/>
                </a:solidFill>
                <a:latin typeface="Poppins" panose="00000500000000000000" pitchFamily="2" charset="-94"/>
                <a:cs typeface="Poppins" panose="00000500000000000000" pitchFamily="2" charset="-94"/>
              </a:rPr>
              <a:t>.</a:t>
            </a:r>
          </a:p>
          <a:p>
            <a:pPr marL="0" marR="0" lvl="0" indent="0" algn="l" defTabSz="914400" rtl="0" eaLnBrk="0" fontAlgn="base" latinLnBrk="0" hangingPunct="0">
              <a:lnSpc>
                <a:spcPct val="100000"/>
              </a:lnSpc>
              <a:spcBef>
                <a:spcPct val="0"/>
              </a:spcBef>
              <a:spcAft>
                <a:spcPct val="0"/>
              </a:spcAft>
              <a:buClrTx/>
              <a:buSzTx/>
              <a:buFontTx/>
              <a:buNone/>
              <a:tabLst/>
            </a:pPr>
            <a:endParaRPr lang="en-US" altLang="en-US" sz="1600" b="1" dirty="0">
              <a:solidFill>
                <a:schemeClr val="tx1"/>
              </a:solidFill>
              <a:latin typeface="Poppins" panose="00000500000000000000" pitchFamily="2" charset="-94"/>
              <a:cs typeface="Poppins" panose="00000500000000000000" pitchFamily="2" charset="-94"/>
            </a:endParaRPr>
          </a:p>
        </p:txBody>
      </p:sp>
      <p:sp>
        <p:nvSpPr>
          <p:cNvPr id="2" name="Rectangle: Rounded Corners 1">
            <a:extLst>
              <a:ext uri="{FF2B5EF4-FFF2-40B4-BE49-F238E27FC236}">
                <a16:creationId xmlns:a16="http://schemas.microsoft.com/office/drawing/2014/main" id="{D3413CCE-991C-4D74-A03B-1213CD7993B9}"/>
              </a:ext>
            </a:extLst>
          </p:cNvPr>
          <p:cNvSpPr/>
          <p:nvPr/>
        </p:nvSpPr>
        <p:spPr>
          <a:xfrm>
            <a:off x="548640" y="4602480"/>
            <a:ext cx="10007600" cy="1791057"/>
          </a:xfrm>
          <a:prstGeom prst="round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tr-TR"/>
          </a:p>
        </p:txBody>
      </p:sp>
      <p:pic>
        <p:nvPicPr>
          <p:cNvPr id="9" name="Picture 8">
            <a:extLst>
              <a:ext uri="{FF2B5EF4-FFF2-40B4-BE49-F238E27FC236}">
                <a16:creationId xmlns:a16="http://schemas.microsoft.com/office/drawing/2014/main" id="{01666C31-1576-4743-8B4B-A52D63D92E45}"/>
              </a:ext>
            </a:extLst>
          </p:cNvPr>
          <p:cNvPicPr>
            <a:picLocks noChangeAspect="1"/>
          </p:cNvPicPr>
          <p:nvPr/>
        </p:nvPicPr>
        <p:blipFill>
          <a:blip r:embed="rId4"/>
          <a:stretch>
            <a:fillRect/>
          </a:stretch>
        </p:blipFill>
        <p:spPr>
          <a:xfrm>
            <a:off x="6365237" y="1837003"/>
            <a:ext cx="5223916" cy="1791057"/>
          </a:xfrm>
          <a:prstGeom prst="rect">
            <a:avLst/>
          </a:prstGeom>
        </p:spPr>
      </p:pic>
      <p:pic>
        <p:nvPicPr>
          <p:cNvPr id="11" name="Picture 10">
            <a:extLst>
              <a:ext uri="{FF2B5EF4-FFF2-40B4-BE49-F238E27FC236}">
                <a16:creationId xmlns:a16="http://schemas.microsoft.com/office/drawing/2014/main" id="{12DCD7EA-CDCC-423E-937A-6EBC4AD83417}"/>
              </a:ext>
            </a:extLst>
          </p:cNvPr>
          <p:cNvPicPr>
            <a:picLocks noChangeAspect="1"/>
          </p:cNvPicPr>
          <p:nvPr/>
        </p:nvPicPr>
        <p:blipFill>
          <a:blip r:embed="rId5"/>
          <a:stretch>
            <a:fillRect/>
          </a:stretch>
        </p:blipFill>
        <p:spPr>
          <a:xfrm>
            <a:off x="451488" y="1837003"/>
            <a:ext cx="5867524" cy="1372008"/>
          </a:xfrm>
          <a:prstGeom prst="rect">
            <a:avLst/>
          </a:prstGeom>
        </p:spPr>
      </p:pic>
    </p:spTree>
    <p:extLst>
      <p:ext uri="{BB962C8B-B14F-4D97-AF65-F5344CB8AC3E}">
        <p14:creationId xmlns:p14="http://schemas.microsoft.com/office/powerpoint/2010/main" val="4575486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p:cNvGrpSpPr/>
        <p:nvPr/>
      </p:nvGrpSpPr>
      <p:grpSpPr>
        <a:xfrm>
          <a:off x="0" y="0"/>
          <a:ext cx="0" cy="0"/>
          <a:chOff x="0" y="0"/>
          <a:chExt cx="0" cy="0"/>
        </a:xfrm>
      </p:grpSpPr>
      <p:sp>
        <p:nvSpPr>
          <p:cNvPr id="107" name="Google Shape;107;p2"/>
          <p:cNvSpPr txBox="1"/>
          <p:nvPr/>
        </p:nvSpPr>
        <p:spPr>
          <a:xfrm>
            <a:off x="0" y="3429000"/>
            <a:ext cx="12192000" cy="830956"/>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3200"/>
              <a:buFont typeface="Arial"/>
              <a:buNone/>
            </a:pPr>
            <a:r>
              <a:rPr lang="en-US" sz="4800" b="1" dirty="0">
                <a:solidFill>
                  <a:srgbClr val="292D33"/>
                </a:solidFill>
                <a:latin typeface="Lexend"/>
                <a:ea typeface="Lexend"/>
                <a:cs typeface="Lexend"/>
                <a:sym typeface="Lexend"/>
              </a:rPr>
              <a:t>Runtime Improvements</a:t>
            </a:r>
          </a:p>
        </p:txBody>
      </p:sp>
      <p:pic>
        <p:nvPicPr>
          <p:cNvPr id="5" name="Picture 4">
            <a:extLst>
              <a:ext uri="{FF2B5EF4-FFF2-40B4-BE49-F238E27FC236}">
                <a16:creationId xmlns:a16="http://schemas.microsoft.com/office/drawing/2014/main" id="{2EA72902-365B-4283-B448-C37470AA8217}"/>
              </a:ext>
            </a:extLst>
          </p:cNvPr>
          <p:cNvPicPr>
            <a:picLocks noChangeAspect="1"/>
          </p:cNvPicPr>
          <p:nvPr/>
        </p:nvPicPr>
        <p:blipFill>
          <a:blip r:embed="rId4"/>
          <a:stretch>
            <a:fillRect/>
          </a:stretch>
        </p:blipFill>
        <p:spPr>
          <a:xfrm>
            <a:off x="4002881" y="1250869"/>
            <a:ext cx="4186238" cy="1585913"/>
          </a:xfrm>
          <a:prstGeom prst="rect">
            <a:avLst/>
          </a:prstGeom>
          <a:ln w="127000" cap="rnd">
            <a:solidFill>
              <a:srgbClr val="FFFFFF"/>
            </a:solidFill>
          </a:ln>
          <a:effectLst>
            <a:outerShdw blurRad="76200" dist="95250" dir="10500000" sx="97000" sy="23000" kx="900000" algn="br" rotWithShape="0">
              <a:srgbClr val="000000">
                <a:alpha val="20000"/>
              </a:srgbClr>
            </a:outerShdw>
          </a:effectLst>
          <a:scene3d>
            <a:camera prst="orthographicFront"/>
            <a:lightRig rig="twoPt" dir="t">
              <a:rot lat="0" lon="0" rev="7800000"/>
            </a:lightRig>
          </a:scene3d>
          <a:sp3d contourW="6350">
            <a:bevelT w="50800" h="16510"/>
            <a:contourClr>
              <a:srgbClr val="C0C0C0"/>
            </a:contourClr>
          </a:sp3d>
        </p:spPr>
      </p:pic>
    </p:spTree>
    <p:extLst>
      <p:ext uri="{BB962C8B-B14F-4D97-AF65-F5344CB8AC3E}">
        <p14:creationId xmlns:p14="http://schemas.microsoft.com/office/powerpoint/2010/main" val="334639164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p:cNvGrpSpPr/>
        <p:nvPr/>
      </p:nvGrpSpPr>
      <p:grpSpPr>
        <a:xfrm>
          <a:off x="0" y="0"/>
          <a:ext cx="0" cy="0"/>
          <a:chOff x="0" y="0"/>
          <a:chExt cx="0" cy="0"/>
        </a:xfrm>
      </p:grpSpPr>
      <p:sp>
        <p:nvSpPr>
          <p:cNvPr id="3" name="Thought Bubble: Cloud 2">
            <a:extLst>
              <a:ext uri="{FF2B5EF4-FFF2-40B4-BE49-F238E27FC236}">
                <a16:creationId xmlns:a16="http://schemas.microsoft.com/office/drawing/2014/main" id="{A8929AFE-46C8-4225-A036-108A122DEC70}"/>
              </a:ext>
            </a:extLst>
          </p:cNvPr>
          <p:cNvSpPr/>
          <p:nvPr/>
        </p:nvSpPr>
        <p:spPr>
          <a:xfrm>
            <a:off x="7579998" y="834496"/>
            <a:ext cx="2976242" cy="1905814"/>
          </a:xfrm>
          <a:prstGeom prst="cloudCallout">
            <a:avLst>
              <a:gd name="adj1" fmla="val -58468"/>
              <a:gd name="adj2" fmla="val 27115"/>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 Previously</a:t>
            </a:r>
            <a:r>
              <a:rPr lang="en-US" sz="1600" b="0" i="0" dirty="0">
                <a:solidFill>
                  <a:srgbClr val="FFFFFF"/>
                </a:solidFill>
                <a:effectLst/>
                <a:latin typeface="Segoe UI" panose="020B0502040204020203" pitchFamily="34" charset="0"/>
              </a:rPr>
              <a:t> JIT compiler stores the values first to memory, then load into CPU registers</a:t>
            </a:r>
            <a:endParaRPr lang="en-US" sz="1600" dirty="0"/>
          </a:p>
        </p:txBody>
      </p:sp>
      <p:sp>
        <p:nvSpPr>
          <p:cNvPr id="107" name="Google Shape;107;p2"/>
          <p:cNvSpPr txBox="1"/>
          <p:nvPr/>
        </p:nvSpPr>
        <p:spPr>
          <a:xfrm>
            <a:off x="451488" y="464463"/>
            <a:ext cx="10720064" cy="1077178"/>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200"/>
              <a:buFont typeface="Arial"/>
              <a:buNone/>
            </a:pPr>
            <a:r>
              <a:rPr lang="en-US" sz="3200" b="1" dirty="0">
                <a:solidFill>
                  <a:srgbClr val="292D33"/>
                </a:solidFill>
                <a:latin typeface="Lexend"/>
                <a:ea typeface="Lexend"/>
                <a:cs typeface="Lexend"/>
                <a:sym typeface="Lexend"/>
              </a:rPr>
              <a:t>.NET Runtime Improvements </a:t>
            </a:r>
          </a:p>
          <a:p>
            <a:pPr marR="0" lvl="0" algn="l" rtl="0">
              <a:lnSpc>
                <a:spcPct val="100000"/>
              </a:lnSpc>
              <a:spcBef>
                <a:spcPts val="0"/>
              </a:spcBef>
              <a:spcAft>
                <a:spcPts val="0"/>
              </a:spcAft>
              <a:buClr>
                <a:srgbClr val="000000"/>
              </a:buClr>
              <a:buSzPts val="3200"/>
            </a:pPr>
            <a:r>
              <a:rPr lang="en-US" sz="3200" dirty="0">
                <a:solidFill>
                  <a:srgbClr val="292D33"/>
                </a:solidFill>
                <a:latin typeface="Lexend"/>
                <a:ea typeface="Lexend"/>
                <a:cs typeface="Lexend"/>
                <a:sym typeface="Lexend"/>
              </a:rPr>
              <a:t>JIT Compiler: Faster Structs</a:t>
            </a:r>
          </a:p>
        </p:txBody>
      </p:sp>
      <p:sp>
        <p:nvSpPr>
          <p:cNvPr id="10" name="TextBox 9">
            <a:extLst>
              <a:ext uri="{FF2B5EF4-FFF2-40B4-BE49-F238E27FC236}">
                <a16:creationId xmlns:a16="http://schemas.microsoft.com/office/drawing/2014/main" id="{49C804A8-E41B-47CB-BE9F-C3495B839346}"/>
              </a:ext>
            </a:extLst>
          </p:cNvPr>
          <p:cNvSpPr txBox="1"/>
          <p:nvPr/>
        </p:nvSpPr>
        <p:spPr>
          <a:xfrm>
            <a:off x="675008" y="4836288"/>
            <a:ext cx="11252832" cy="1323439"/>
          </a:xfrm>
          <a:prstGeom prst="rect">
            <a:avLst/>
          </a:prstGeom>
          <a:noFill/>
        </p:spPr>
        <p:txBody>
          <a:bodyPr wrap="square">
            <a:spAutoFit/>
          </a:bodyPr>
          <a:lstStyle/>
          <a:p>
            <a:r>
              <a:rPr lang="en-US" sz="1600" dirty="0">
                <a:latin typeface="Poppins" panose="00000500000000000000" pitchFamily="2" charset="-94"/>
                <a:cs typeface="Poppins" panose="00000500000000000000" pitchFamily="2" charset="-94"/>
              </a:rPr>
              <a:t>✅ </a:t>
            </a:r>
            <a:r>
              <a:rPr lang="en-US" sz="1600" b="1" dirty="0">
                <a:latin typeface="Poppins" panose="00000500000000000000" pitchFamily="2" charset="-94"/>
                <a:cs typeface="Poppins" panose="00000500000000000000" pitchFamily="2" charset="-94"/>
              </a:rPr>
              <a:t>What it means:</a:t>
            </a:r>
          </a:p>
          <a:p>
            <a:endParaRPr lang="en-US" sz="1600" dirty="0">
              <a:latin typeface="Poppins" panose="00000500000000000000" pitchFamily="2" charset="-94"/>
              <a:cs typeface="Poppins" panose="00000500000000000000" pitchFamily="2" charset="-94"/>
            </a:endParaRPr>
          </a:p>
          <a:p>
            <a:pPr marL="285750" indent="-285750">
              <a:buFont typeface="Arial" panose="020B0604020202020204" pitchFamily="34" charset="0"/>
              <a:buChar char="•"/>
            </a:pPr>
            <a:r>
              <a:rPr lang="en-US" sz="1600" dirty="0">
                <a:latin typeface="Poppins" panose="00000500000000000000" pitchFamily="2" charset="-94"/>
                <a:cs typeface="Poppins" panose="00000500000000000000" pitchFamily="2" charset="-94"/>
              </a:rPr>
              <a:t>Less memory access → faster execution.</a:t>
            </a:r>
          </a:p>
          <a:p>
            <a:pPr marL="285750" indent="-285750">
              <a:buFont typeface="Arial" panose="020B0604020202020204" pitchFamily="34" charset="0"/>
              <a:buChar char="•"/>
            </a:pPr>
            <a:r>
              <a:rPr lang="en-US" sz="1600" dirty="0">
                <a:latin typeface="Poppins" panose="00000500000000000000" pitchFamily="2" charset="-94"/>
                <a:cs typeface="Poppins" panose="00000500000000000000" pitchFamily="2" charset="-94"/>
              </a:rPr>
              <a:t>More efficient generated assembly.</a:t>
            </a:r>
          </a:p>
          <a:p>
            <a:pPr marL="285750" indent="-285750">
              <a:buFont typeface="Arial" panose="020B0604020202020204" pitchFamily="34" charset="0"/>
              <a:buChar char="•"/>
            </a:pPr>
            <a:r>
              <a:rPr lang="en-US" sz="1600" dirty="0">
                <a:latin typeface="Poppins" panose="00000500000000000000" pitchFamily="2" charset="-94"/>
                <a:cs typeface="Poppins" panose="00000500000000000000" pitchFamily="2" charset="-94"/>
              </a:rPr>
              <a:t>Small but meaningful performance gain in tight loops or high-frequency method calls.</a:t>
            </a:r>
          </a:p>
        </p:txBody>
      </p:sp>
      <p:sp>
        <p:nvSpPr>
          <p:cNvPr id="2" name="Rectangle: Rounded Corners 1">
            <a:extLst>
              <a:ext uri="{FF2B5EF4-FFF2-40B4-BE49-F238E27FC236}">
                <a16:creationId xmlns:a16="http://schemas.microsoft.com/office/drawing/2014/main" id="{81C6AD7F-C4D5-AA0F-5295-5F2F32951A79}"/>
              </a:ext>
            </a:extLst>
          </p:cNvPr>
          <p:cNvSpPr/>
          <p:nvPr/>
        </p:nvSpPr>
        <p:spPr>
          <a:xfrm>
            <a:off x="548640" y="4602480"/>
            <a:ext cx="10007600" cy="1791057"/>
          </a:xfrm>
          <a:prstGeom prst="round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tr-TR"/>
          </a:p>
        </p:txBody>
      </p:sp>
      <p:pic>
        <p:nvPicPr>
          <p:cNvPr id="4" name="Picture 3">
            <a:extLst>
              <a:ext uri="{FF2B5EF4-FFF2-40B4-BE49-F238E27FC236}">
                <a16:creationId xmlns:a16="http://schemas.microsoft.com/office/drawing/2014/main" id="{77840DA7-4F17-1032-E8D5-F48D7A39268E}"/>
              </a:ext>
            </a:extLst>
          </p:cNvPr>
          <p:cNvPicPr>
            <a:picLocks noChangeAspect="1"/>
          </p:cNvPicPr>
          <p:nvPr/>
        </p:nvPicPr>
        <p:blipFill>
          <a:blip r:embed="rId4"/>
          <a:stretch>
            <a:fillRect/>
          </a:stretch>
        </p:blipFill>
        <p:spPr>
          <a:xfrm>
            <a:off x="548640" y="1873931"/>
            <a:ext cx="7368525" cy="2361515"/>
          </a:xfrm>
          <a:prstGeom prst="rect">
            <a:avLst/>
          </a:prstGeom>
        </p:spPr>
      </p:pic>
      <p:sp>
        <p:nvSpPr>
          <p:cNvPr id="9" name="Thought Bubble: Cloud 8">
            <a:extLst>
              <a:ext uri="{FF2B5EF4-FFF2-40B4-BE49-F238E27FC236}">
                <a16:creationId xmlns:a16="http://schemas.microsoft.com/office/drawing/2014/main" id="{034DECB8-A7BD-4FE9-A619-1B2183A4CEED}"/>
              </a:ext>
            </a:extLst>
          </p:cNvPr>
          <p:cNvSpPr/>
          <p:nvPr/>
        </p:nvSpPr>
        <p:spPr>
          <a:xfrm rot="572243">
            <a:off x="7748581" y="2951116"/>
            <a:ext cx="2976242" cy="1905814"/>
          </a:xfrm>
          <a:prstGeom prst="cloudCallout">
            <a:avLst>
              <a:gd name="adj1" fmla="val -68244"/>
              <a:gd name="adj2" fmla="val 3503"/>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800" dirty="0"/>
              <a:t>🤗 Now </a:t>
            </a:r>
            <a:r>
              <a:rPr lang="en-US" sz="1800" b="0" i="0" dirty="0">
                <a:solidFill>
                  <a:srgbClr val="FFFFFF"/>
                </a:solidFill>
                <a:effectLst/>
                <a:latin typeface="Segoe UI" panose="020B0502040204020203" pitchFamily="34" charset="0"/>
              </a:rPr>
              <a:t>JIT compiler stores directly in CPU registers</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p:cNvGrpSpPr/>
        <p:nvPr/>
      </p:nvGrpSpPr>
      <p:grpSpPr>
        <a:xfrm>
          <a:off x="0" y="0"/>
          <a:ext cx="0" cy="0"/>
          <a:chOff x="0" y="0"/>
          <a:chExt cx="0" cy="0"/>
        </a:xfrm>
      </p:grpSpPr>
      <p:sp>
        <p:nvSpPr>
          <p:cNvPr id="107" name="Google Shape;107;p2"/>
          <p:cNvSpPr txBox="1"/>
          <p:nvPr/>
        </p:nvSpPr>
        <p:spPr>
          <a:xfrm>
            <a:off x="451488" y="464463"/>
            <a:ext cx="11684000" cy="1138733"/>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200"/>
              <a:buFont typeface="Arial"/>
              <a:buNone/>
            </a:pPr>
            <a:r>
              <a:rPr lang="en-US" sz="3400" b="1" dirty="0">
                <a:solidFill>
                  <a:srgbClr val="292D33"/>
                </a:solidFill>
                <a:latin typeface="Lexend"/>
                <a:ea typeface="Lexend"/>
                <a:cs typeface="Lexend"/>
                <a:sym typeface="Lexend"/>
              </a:rPr>
              <a:t>.NET Runtime Improvements </a:t>
            </a:r>
          </a:p>
          <a:p>
            <a:pPr marR="0" lvl="0" algn="l" rtl="0">
              <a:lnSpc>
                <a:spcPct val="100000"/>
              </a:lnSpc>
              <a:spcBef>
                <a:spcPts val="0"/>
              </a:spcBef>
              <a:spcAft>
                <a:spcPts val="0"/>
              </a:spcAft>
              <a:buClr>
                <a:srgbClr val="000000"/>
              </a:buClr>
              <a:buSzPts val="3200"/>
            </a:pPr>
            <a:r>
              <a:rPr lang="en-US" sz="3400" dirty="0">
                <a:solidFill>
                  <a:srgbClr val="292D33"/>
                </a:solidFill>
                <a:latin typeface="Lexend"/>
                <a:ea typeface="Lexend"/>
                <a:cs typeface="Lexend"/>
                <a:sym typeface="Lexend"/>
              </a:rPr>
              <a:t>JIT Compiler: Array Interface Method </a:t>
            </a:r>
            <a:r>
              <a:rPr lang="en-US" sz="3400" dirty="0" err="1">
                <a:solidFill>
                  <a:srgbClr val="292D33"/>
                </a:solidFill>
                <a:latin typeface="Lexend"/>
                <a:ea typeface="Lexend"/>
                <a:cs typeface="Lexend"/>
                <a:sym typeface="Lexend"/>
              </a:rPr>
              <a:t>Devirtualization</a:t>
            </a:r>
            <a:endParaRPr lang="en-US" sz="3400" dirty="0">
              <a:solidFill>
                <a:srgbClr val="292D33"/>
              </a:solidFill>
              <a:latin typeface="Lexend"/>
              <a:ea typeface="Lexend"/>
              <a:cs typeface="Lexend"/>
              <a:sym typeface="Lexend"/>
            </a:endParaRPr>
          </a:p>
        </p:txBody>
      </p:sp>
      <p:sp>
        <p:nvSpPr>
          <p:cNvPr id="10" name="TextBox 9">
            <a:extLst>
              <a:ext uri="{FF2B5EF4-FFF2-40B4-BE49-F238E27FC236}">
                <a16:creationId xmlns:a16="http://schemas.microsoft.com/office/drawing/2014/main" id="{49C804A8-E41B-47CB-BE9F-C3495B839346}"/>
              </a:ext>
            </a:extLst>
          </p:cNvPr>
          <p:cNvSpPr txBox="1"/>
          <p:nvPr/>
        </p:nvSpPr>
        <p:spPr>
          <a:xfrm>
            <a:off x="667072" y="4836288"/>
            <a:ext cx="7349168" cy="1323439"/>
          </a:xfrm>
          <a:prstGeom prst="rect">
            <a:avLst/>
          </a:prstGeom>
          <a:noFill/>
        </p:spPr>
        <p:txBody>
          <a:bodyPr wrap="square">
            <a:spAutoFit/>
          </a:bodyPr>
          <a:lstStyle/>
          <a:p>
            <a:r>
              <a:rPr lang="en-US" sz="1600" dirty="0">
                <a:latin typeface="Poppins" panose="00000500000000000000" pitchFamily="2" charset="-94"/>
                <a:cs typeface="Poppins" panose="00000500000000000000" pitchFamily="2" charset="-94"/>
              </a:rPr>
              <a:t>✅ </a:t>
            </a:r>
            <a:r>
              <a:rPr lang="en-US" sz="1600" b="1" dirty="0">
                <a:latin typeface="Poppins" panose="00000500000000000000" pitchFamily="2" charset="-94"/>
                <a:cs typeface="Poppins" panose="00000500000000000000" pitchFamily="2" charset="-94"/>
              </a:rPr>
              <a:t>What it means:</a:t>
            </a:r>
          </a:p>
          <a:p>
            <a:endParaRPr lang="en-US" sz="1600" dirty="0">
              <a:latin typeface="Poppins" panose="00000500000000000000" pitchFamily="2" charset="-94"/>
              <a:cs typeface="Poppins" panose="00000500000000000000" pitchFamily="2" charset="-94"/>
            </a:endParaRPr>
          </a:p>
          <a:p>
            <a:pPr marL="285750" indent="-285750">
              <a:buFont typeface="Arial" panose="020B0604020202020204" pitchFamily="34" charset="0"/>
              <a:buChar char="•"/>
            </a:pPr>
            <a:r>
              <a:rPr lang="en-US" sz="1600" dirty="0">
                <a:latin typeface="Poppins" panose="00000500000000000000" pitchFamily="2" charset="-94"/>
                <a:cs typeface="Poppins" panose="00000500000000000000" pitchFamily="2" charset="-94"/>
              </a:rPr>
              <a:t>foreach loops on arrays are now almost as fast as for loops.</a:t>
            </a:r>
          </a:p>
          <a:p>
            <a:pPr marL="285750" indent="-285750">
              <a:buFont typeface="Arial" panose="020B0604020202020204" pitchFamily="34" charset="0"/>
              <a:buChar char="•"/>
            </a:pPr>
            <a:r>
              <a:rPr lang="en-US" sz="1600" dirty="0">
                <a:latin typeface="Poppins" panose="00000500000000000000" pitchFamily="2" charset="-94"/>
                <a:cs typeface="Poppins" panose="00000500000000000000" pitchFamily="2" charset="-94"/>
              </a:rPr>
              <a:t>Better </a:t>
            </a:r>
            <a:r>
              <a:rPr lang="en-US" sz="1600" dirty="0" err="1">
                <a:latin typeface="Poppins" panose="00000500000000000000" pitchFamily="2" charset="-94"/>
                <a:cs typeface="Poppins" panose="00000500000000000000" pitchFamily="2" charset="-94"/>
              </a:rPr>
              <a:t>inlining</a:t>
            </a:r>
            <a:r>
              <a:rPr lang="en-US" sz="1600" dirty="0">
                <a:latin typeface="Poppins" panose="00000500000000000000" pitchFamily="2" charset="-94"/>
                <a:cs typeface="Poppins" panose="00000500000000000000" pitchFamily="2" charset="-94"/>
              </a:rPr>
              <a:t> and stack allocation.</a:t>
            </a:r>
          </a:p>
          <a:p>
            <a:pPr marL="285750" indent="-285750">
              <a:buFont typeface="Arial" panose="020B0604020202020204" pitchFamily="34" charset="0"/>
              <a:buChar char="•"/>
            </a:pPr>
            <a:r>
              <a:rPr lang="en-US" sz="1600" dirty="0">
                <a:latin typeface="Poppins" panose="00000500000000000000" pitchFamily="2" charset="-94"/>
                <a:cs typeface="Poppins" panose="00000500000000000000" pitchFamily="2" charset="-94"/>
              </a:rPr>
              <a:t>Step toward eliminating unnecessary abstraction costs in .NET.</a:t>
            </a:r>
            <a:endParaRPr lang="en-US" sz="1600" b="1" dirty="0">
              <a:latin typeface="Poppins" panose="00000500000000000000" pitchFamily="2" charset="-94"/>
              <a:cs typeface="Poppins" panose="00000500000000000000" pitchFamily="2" charset="-94"/>
            </a:endParaRPr>
          </a:p>
        </p:txBody>
      </p:sp>
      <p:sp>
        <p:nvSpPr>
          <p:cNvPr id="2" name="Rectangle: Rounded Corners 1">
            <a:extLst>
              <a:ext uri="{FF2B5EF4-FFF2-40B4-BE49-F238E27FC236}">
                <a16:creationId xmlns:a16="http://schemas.microsoft.com/office/drawing/2014/main" id="{2C3A5AF8-BFBF-4C1C-11CF-57BDBEA43528}"/>
              </a:ext>
            </a:extLst>
          </p:cNvPr>
          <p:cNvSpPr/>
          <p:nvPr/>
        </p:nvSpPr>
        <p:spPr>
          <a:xfrm>
            <a:off x="548640" y="4602480"/>
            <a:ext cx="7010400" cy="1791057"/>
          </a:xfrm>
          <a:prstGeom prst="round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tr-TR"/>
          </a:p>
        </p:txBody>
      </p:sp>
      <p:pic>
        <p:nvPicPr>
          <p:cNvPr id="4" name="Picture 3">
            <a:extLst>
              <a:ext uri="{FF2B5EF4-FFF2-40B4-BE49-F238E27FC236}">
                <a16:creationId xmlns:a16="http://schemas.microsoft.com/office/drawing/2014/main" id="{860143A0-A8DF-2288-7ACB-85F141CFC138}"/>
              </a:ext>
            </a:extLst>
          </p:cNvPr>
          <p:cNvPicPr>
            <a:picLocks noChangeAspect="1"/>
          </p:cNvPicPr>
          <p:nvPr/>
        </p:nvPicPr>
        <p:blipFill>
          <a:blip r:embed="rId4"/>
          <a:stretch>
            <a:fillRect/>
          </a:stretch>
        </p:blipFill>
        <p:spPr>
          <a:xfrm>
            <a:off x="667072" y="1612718"/>
            <a:ext cx="4639027" cy="2836899"/>
          </a:xfrm>
          <a:prstGeom prst="rect">
            <a:avLst/>
          </a:prstGeom>
        </p:spPr>
      </p:pic>
      <p:sp>
        <p:nvSpPr>
          <p:cNvPr id="7" name="Thought Bubble: Cloud 6">
            <a:extLst>
              <a:ext uri="{FF2B5EF4-FFF2-40B4-BE49-F238E27FC236}">
                <a16:creationId xmlns:a16="http://schemas.microsoft.com/office/drawing/2014/main" id="{CF5DAB91-B2D2-405D-A623-2D27E8FA3F76}"/>
              </a:ext>
            </a:extLst>
          </p:cNvPr>
          <p:cNvSpPr/>
          <p:nvPr/>
        </p:nvSpPr>
        <p:spPr>
          <a:xfrm rot="213816">
            <a:off x="7234082" y="2027294"/>
            <a:ext cx="3714383" cy="2707604"/>
          </a:xfrm>
          <a:prstGeom prst="cloudCallout">
            <a:avLst>
              <a:gd name="adj1" fmla="val -90968"/>
              <a:gd name="adj2" fmla="val -14858"/>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800" dirty="0"/>
              <a:t>😎 Now JIT </a:t>
            </a:r>
            <a:r>
              <a:rPr lang="en-US" sz="1800" b="1" dirty="0" err="1">
                <a:latin typeface="Poppins" panose="00000500000000000000" pitchFamily="2" charset="-94"/>
                <a:cs typeface="Poppins" panose="00000500000000000000" pitchFamily="2" charset="-94"/>
              </a:rPr>
              <a:t>devirtualizes</a:t>
            </a:r>
            <a:r>
              <a:rPr lang="en-US" sz="1800" dirty="0">
                <a:latin typeface="Poppins" panose="00000500000000000000" pitchFamily="2" charset="-94"/>
                <a:cs typeface="Poppins" panose="00000500000000000000" pitchFamily="2" charset="-94"/>
              </a:rPr>
              <a:t> array interface method calls…skips the virtual call overhead.</a:t>
            </a:r>
            <a:endParaRPr lang="en-US" sz="1800" dirty="0"/>
          </a:p>
        </p:txBody>
      </p:sp>
    </p:spTree>
    <p:extLst>
      <p:ext uri="{BB962C8B-B14F-4D97-AF65-F5344CB8AC3E}">
        <p14:creationId xmlns:p14="http://schemas.microsoft.com/office/powerpoint/2010/main" val="67797181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bg>
      <p:bgPr>
        <a:blipFill dpi="0" rotWithShape="1">
          <a:blip r:embed="rId3">
            <a:lum/>
          </a:blip>
          <a:srcRect/>
          <a:stretch>
            <a:fillRect/>
          </a:stretch>
        </a:blipFill>
        <a:effectLst/>
      </p:bgPr>
    </p:bg>
    <p:spTree>
      <p:nvGrpSpPr>
        <p:cNvPr id="1" name="Shape 106"/>
        <p:cNvGrpSpPr/>
        <p:nvPr/>
      </p:nvGrpSpPr>
      <p:grpSpPr>
        <a:xfrm>
          <a:off x="0" y="0"/>
          <a:ext cx="0" cy="0"/>
          <a:chOff x="0" y="0"/>
          <a:chExt cx="0" cy="0"/>
        </a:xfrm>
      </p:grpSpPr>
      <p:sp>
        <p:nvSpPr>
          <p:cNvPr id="107" name="Google Shape;107;p2"/>
          <p:cNvSpPr txBox="1"/>
          <p:nvPr/>
        </p:nvSpPr>
        <p:spPr>
          <a:xfrm>
            <a:off x="451488" y="464463"/>
            <a:ext cx="10720064" cy="1661953"/>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200"/>
              <a:buFont typeface="Arial"/>
              <a:buNone/>
            </a:pPr>
            <a:r>
              <a:rPr lang="en-US" sz="3400" b="1" dirty="0">
                <a:solidFill>
                  <a:srgbClr val="292D33"/>
                </a:solidFill>
                <a:latin typeface="Lexend"/>
                <a:ea typeface="Lexend"/>
                <a:cs typeface="Lexend"/>
                <a:sym typeface="Lexend"/>
              </a:rPr>
              <a:t>.NET Runtime Improvements </a:t>
            </a:r>
          </a:p>
          <a:p>
            <a:pPr marR="0" lvl="0" algn="l" rtl="0">
              <a:lnSpc>
                <a:spcPct val="100000"/>
              </a:lnSpc>
              <a:spcBef>
                <a:spcPts val="0"/>
              </a:spcBef>
              <a:spcAft>
                <a:spcPts val="0"/>
              </a:spcAft>
              <a:buClr>
                <a:srgbClr val="000000"/>
              </a:buClr>
              <a:buSzPts val="3200"/>
            </a:pPr>
            <a:r>
              <a:rPr lang="en-US" sz="3400" dirty="0">
                <a:solidFill>
                  <a:srgbClr val="292D33"/>
                </a:solidFill>
                <a:latin typeface="Lexend"/>
                <a:ea typeface="Lexend"/>
                <a:cs typeface="Lexend"/>
                <a:sym typeface="Lexend"/>
              </a:rPr>
              <a:t>JIT Compiler: Array Enumeration De-abstraction</a:t>
            </a:r>
          </a:p>
          <a:p>
            <a:pPr marR="0" lvl="0" algn="l" rtl="0">
              <a:lnSpc>
                <a:spcPct val="100000"/>
              </a:lnSpc>
              <a:spcBef>
                <a:spcPts val="0"/>
              </a:spcBef>
              <a:spcAft>
                <a:spcPts val="0"/>
              </a:spcAft>
              <a:buClr>
                <a:srgbClr val="000000"/>
              </a:buClr>
              <a:buSzPts val="3200"/>
            </a:pPr>
            <a:endParaRPr lang="en-US" sz="3400" dirty="0">
              <a:solidFill>
                <a:srgbClr val="292D33"/>
              </a:solidFill>
              <a:latin typeface="Lexend"/>
              <a:ea typeface="Lexend"/>
              <a:cs typeface="Lexend"/>
              <a:sym typeface="Lexend"/>
            </a:endParaRPr>
          </a:p>
        </p:txBody>
      </p:sp>
      <p:sp>
        <p:nvSpPr>
          <p:cNvPr id="2" name="Rectangle 1">
            <a:extLst>
              <a:ext uri="{FF2B5EF4-FFF2-40B4-BE49-F238E27FC236}">
                <a16:creationId xmlns:a16="http://schemas.microsoft.com/office/drawing/2014/main" id="{EB5EFF4A-70B0-4984-9E05-0EDA83B74914}"/>
              </a:ext>
            </a:extLst>
          </p:cNvPr>
          <p:cNvSpPr>
            <a:spLocks noChangeArrowheads="1"/>
          </p:cNvSpPr>
          <p:nvPr/>
        </p:nvSpPr>
        <p:spPr bwMode="auto">
          <a:xfrm>
            <a:off x="701040" y="4731585"/>
            <a:ext cx="10470512" cy="1569660"/>
          </a:xfrm>
          <a:prstGeom prst="rect">
            <a:avLst/>
          </a:prstGeom>
          <a:noFill/>
        </p:spPr>
        <p:txBody>
          <a:bodyPr wrap="square">
            <a:spAutoFit/>
          </a:bodyPr>
          <a:lstStyle/>
          <a:p>
            <a:r>
              <a:rPr lang="en-US" altLang="en-US" sz="1600" b="1" dirty="0">
                <a:latin typeface="Poppins" panose="00000500000000000000" pitchFamily="2" charset="-94"/>
                <a:cs typeface="Poppins" panose="00000500000000000000" pitchFamily="2" charset="-94"/>
              </a:rPr>
              <a:t>✅ What this means:</a:t>
            </a:r>
          </a:p>
          <a:p>
            <a:endParaRPr lang="en-US" altLang="en-US" sz="1600" b="1" dirty="0">
              <a:latin typeface="Poppins" panose="00000500000000000000" pitchFamily="2" charset="-94"/>
              <a:cs typeface="Poppins" panose="00000500000000000000" pitchFamily="2" charset="-94"/>
            </a:endParaRPr>
          </a:p>
          <a:p>
            <a:pPr marL="285750" indent="-285750">
              <a:buFont typeface="Arial" panose="020B0604020202020204" pitchFamily="34" charset="0"/>
              <a:buChar char="•"/>
            </a:pPr>
            <a:r>
              <a:rPr lang="en-US" altLang="en-US" sz="1600" dirty="0">
                <a:latin typeface="Poppins" panose="00000500000000000000" pitchFamily="2" charset="-94"/>
                <a:cs typeface="Poppins" panose="00000500000000000000" pitchFamily="2" charset="-94"/>
              </a:rPr>
              <a:t>foreach over arrays is now closer in performance to for loops.</a:t>
            </a:r>
          </a:p>
          <a:p>
            <a:pPr marL="285750" indent="-285750">
              <a:buFont typeface="Arial" panose="020B0604020202020204" pitchFamily="34" charset="0"/>
              <a:buChar char="•"/>
            </a:pPr>
            <a:r>
              <a:rPr lang="en-US" altLang="en-US" sz="1600" dirty="0">
                <a:latin typeface="Poppins" panose="00000500000000000000" pitchFamily="2" charset="-94"/>
                <a:cs typeface="Poppins" panose="00000500000000000000" pitchFamily="2" charset="-94"/>
              </a:rPr>
              <a:t>Fewer heap allocations → less GC pressure.</a:t>
            </a:r>
          </a:p>
          <a:p>
            <a:pPr marL="285750" indent="-285750">
              <a:buFont typeface="Arial" panose="020B0604020202020204" pitchFamily="34" charset="0"/>
              <a:buChar char="•"/>
            </a:pPr>
            <a:r>
              <a:rPr lang="en-US" altLang="en-US" sz="1600" dirty="0">
                <a:latin typeface="Poppins" panose="00000500000000000000" pitchFamily="2" charset="-94"/>
                <a:cs typeface="Poppins" panose="00000500000000000000" pitchFamily="2" charset="-94"/>
              </a:rPr>
              <a:t>Smoother iteration for collections and LINQ operations</a:t>
            </a:r>
          </a:p>
          <a:p>
            <a:endParaRPr lang="en-US" altLang="en-US" sz="1600" dirty="0">
              <a:latin typeface="Poppins" panose="00000500000000000000" pitchFamily="2" charset="-94"/>
              <a:cs typeface="Poppins" panose="00000500000000000000" pitchFamily="2" charset="-94"/>
            </a:endParaRPr>
          </a:p>
        </p:txBody>
      </p:sp>
      <p:sp>
        <p:nvSpPr>
          <p:cNvPr id="5" name="TextBox 4">
            <a:extLst>
              <a:ext uri="{FF2B5EF4-FFF2-40B4-BE49-F238E27FC236}">
                <a16:creationId xmlns:a16="http://schemas.microsoft.com/office/drawing/2014/main" id="{E17D29F5-8023-44AF-9243-089F0653A3B2}"/>
              </a:ext>
            </a:extLst>
          </p:cNvPr>
          <p:cNvSpPr txBox="1"/>
          <p:nvPr/>
        </p:nvSpPr>
        <p:spPr>
          <a:xfrm>
            <a:off x="451488" y="2780882"/>
            <a:ext cx="10551792" cy="830997"/>
          </a:xfrm>
          <a:prstGeom prst="rect">
            <a:avLst/>
          </a:prstGeom>
          <a:noFill/>
        </p:spPr>
        <p:txBody>
          <a:bodyPr wrap="square">
            <a:spAutoFit/>
          </a:bodyPr>
          <a:lstStyle>
            <a:defPPr marR="0" lvl="0" algn="l" rtl="0">
              <a:lnSpc>
                <a:spcPct val="100000"/>
              </a:lnSpc>
              <a:spcBef>
                <a:spcPts val="0"/>
              </a:spcBef>
              <a:spcAft>
                <a:spcPts val="0"/>
              </a:spcAft>
            </a:defPPr>
            <a:lvl1pPr>
              <a:defRPr sz="1600">
                <a:latin typeface="Poppins" panose="00000500000000000000" pitchFamily="2" charset="-94"/>
                <a:cs typeface="Poppins" panose="00000500000000000000" pitchFamily="2" charset="-94"/>
              </a:defRPr>
            </a:lvl1pPr>
          </a:lstStyle>
          <a:p>
            <a:r>
              <a:rPr lang="en-US" altLang="en-US" dirty="0"/>
              <a:t>Reducing the hidden overhead in foreach loops over arrays and </a:t>
            </a:r>
            <a:r>
              <a:rPr lang="en-US" altLang="en-US" i="1" dirty="0" err="1">
                <a:latin typeface="Consolas" panose="020B0609020204030204" pitchFamily="49" charset="0"/>
              </a:rPr>
              <a:t>IEnumerable</a:t>
            </a:r>
            <a:r>
              <a:rPr lang="en-US" altLang="en-US" dirty="0"/>
              <a:t> types.</a:t>
            </a:r>
            <a:br>
              <a:rPr lang="en-US" altLang="en-US" dirty="0"/>
            </a:br>
            <a:r>
              <a:rPr lang="en-US" altLang="en-US" dirty="0"/>
              <a:t>The JIT can now inline and stack-allocate array enumerators more effectively, minimizing allocations and improving loop speed.</a:t>
            </a:r>
          </a:p>
        </p:txBody>
      </p:sp>
      <p:sp>
        <p:nvSpPr>
          <p:cNvPr id="3" name="Rectangle: Rounded Corners 2">
            <a:extLst>
              <a:ext uri="{FF2B5EF4-FFF2-40B4-BE49-F238E27FC236}">
                <a16:creationId xmlns:a16="http://schemas.microsoft.com/office/drawing/2014/main" id="{5DD5C365-6C4A-2737-2571-C784C0E580A3}"/>
              </a:ext>
            </a:extLst>
          </p:cNvPr>
          <p:cNvSpPr/>
          <p:nvPr/>
        </p:nvSpPr>
        <p:spPr>
          <a:xfrm>
            <a:off x="548640" y="4602480"/>
            <a:ext cx="10007600" cy="1791057"/>
          </a:xfrm>
          <a:prstGeom prst="round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tr-TR"/>
          </a:p>
        </p:txBody>
      </p:sp>
    </p:spTree>
    <p:extLst>
      <p:ext uri="{BB962C8B-B14F-4D97-AF65-F5344CB8AC3E}">
        <p14:creationId xmlns:p14="http://schemas.microsoft.com/office/powerpoint/2010/main" val="399489821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bg>
      <p:bgPr>
        <a:blipFill dpi="0" rotWithShape="1">
          <a:blip r:embed="rId3">
            <a:lum/>
          </a:blip>
          <a:srcRect/>
          <a:stretch>
            <a:fillRect/>
          </a:stretch>
        </a:blipFill>
        <a:effectLst/>
      </p:bgPr>
    </p:bg>
    <p:spTree>
      <p:nvGrpSpPr>
        <p:cNvPr id="1" name="Shape 106"/>
        <p:cNvGrpSpPr/>
        <p:nvPr/>
      </p:nvGrpSpPr>
      <p:grpSpPr>
        <a:xfrm>
          <a:off x="0" y="0"/>
          <a:ext cx="0" cy="0"/>
          <a:chOff x="0" y="0"/>
          <a:chExt cx="0" cy="0"/>
        </a:xfrm>
      </p:grpSpPr>
      <p:sp>
        <p:nvSpPr>
          <p:cNvPr id="107" name="Google Shape;107;p2"/>
          <p:cNvSpPr txBox="1"/>
          <p:nvPr/>
        </p:nvSpPr>
        <p:spPr>
          <a:xfrm>
            <a:off x="451488" y="464463"/>
            <a:ext cx="10720064" cy="1138733"/>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200"/>
              <a:buFont typeface="Arial"/>
              <a:buNone/>
            </a:pPr>
            <a:r>
              <a:rPr lang="en-US" sz="3400" b="1" dirty="0">
                <a:solidFill>
                  <a:srgbClr val="292D33"/>
                </a:solidFill>
                <a:latin typeface="Lexend"/>
                <a:ea typeface="Lexend"/>
                <a:cs typeface="Lexend"/>
                <a:sym typeface="Lexend"/>
              </a:rPr>
              <a:t>.NET Runtime Improvements </a:t>
            </a:r>
          </a:p>
          <a:p>
            <a:pPr marR="0" lvl="0" algn="l" rtl="0">
              <a:lnSpc>
                <a:spcPct val="100000"/>
              </a:lnSpc>
              <a:spcBef>
                <a:spcPts val="0"/>
              </a:spcBef>
              <a:spcAft>
                <a:spcPts val="0"/>
              </a:spcAft>
              <a:buClr>
                <a:srgbClr val="000000"/>
              </a:buClr>
              <a:buSzPts val="3200"/>
            </a:pPr>
            <a:r>
              <a:rPr lang="en-US" sz="3400" dirty="0">
                <a:solidFill>
                  <a:srgbClr val="292D33"/>
                </a:solidFill>
                <a:latin typeface="Lexend"/>
                <a:ea typeface="Lexend"/>
                <a:cs typeface="Lexend"/>
                <a:sym typeface="Lexend"/>
              </a:rPr>
              <a:t>JIT Compiler: Improved Code Layout</a:t>
            </a:r>
          </a:p>
        </p:txBody>
      </p:sp>
      <p:sp>
        <p:nvSpPr>
          <p:cNvPr id="4" name="TextBox 3">
            <a:extLst>
              <a:ext uri="{FF2B5EF4-FFF2-40B4-BE49-F238E27FC236}">
                <a16:creationId xmlns:a16="http://schemas.microsoft.com/office/drawing/2014/main" id="{31566947-2DFA-49A8-912D-89C58B64CD3F}"/>
              </a:ext>
            </a:extLst>
          </p:cNvPr>
          <p:cNvSpPr txBox="1"/>
          <p:nvPr/>
        </p:nvSpPr>
        <p:spPr>
          <a:xfrm>
            <a:off x="502288" y="2758778"/>
            <a:ext cx="11267440" cy="830997"/>
          </a:xfrm>
          <a:prstGeom prst="rect">
            <a:avLst/>
          </a:prstGeom>
          <a:noFill/>
        </p:spPr>
        <p:txBody>
          <a:bodyPr wrap="square">
            <a:spAutoFit/>
          </a:bodyPr>
          <a:lstStyle/>
          <a:p>
            <a:r>
              <a:rPr lang="en-US" sz="1600" dirty="0">
                <a:latin typeface="Poppins" panose="00000500000000000000" pitchFamily="2" charset="-94"/>
                <a:cs typeface="Poppins" panose="00000500000000000000" pitchFamily="2" charset="-94"/>
              </a:rPr>
              <a:t>The JIT now uses a </a:t>
            </a:r>
            <a:r>
              <a:rPr lang="en-US" sz="1600" b="1" dirty="0">
                <a:latin typeface="Poppins" panose="00000500000000000000" pitchFamily="2" charset="-94"/>
                <a:cs typeface="Poppins" panose="00000500000000000000" pitchFamily="2" charset="-94"/>
              </a:rPr>
              <a:t>smarter algorithm</a:t>
            </a:r>
            <a:r>
              <a:rPr lang="en-US" sz="1600" dirty="0">
                <a:latin typeface="Poppins" panose="00000500000000000000" pitchFamily="2" charset="-94"/>
                <a:cs typeface="Poppins" panose="00000500000000000000" pitchFamily="2" charset="-94"/>
              </a:rPr>
              <a:t> (</a:t>
            </a:r>
            <a:r>
              <a:rPr lang="en-US" sz="1600" i="1" dirty="0">
                <a:latin typeface="Poppins" panose="00000500000000000000" pitchFamily="2" charset="-94"/>
                <a:cs typeface="Poppins" panose="00000500000000000000" pitchFamily="2" charset="-94"/>
              </a:rPr>
              <a:t>based on a 3-opt Traveling Salesman heuristic</a:t>
            </a:r>
            <a:r>
              <a:rPr lang="en-US" sz="1600" dirty="0">
                <a:latin typeface="Poppins" panose="00000500000000000000" pitchFamily="2" charset="-94"/>
                <a:cs typeface="Poppins" panose="00000500000000000000" pitchFamily="2" charset="-94"/>
              </a:rPr>
              <a:t>) to organize compiled code. This ensures that “</a:t>
            </a:r>
            <a:r>
              <a:rPr lang="en-US" sz="1600" i="1" dirty="0">
                <a:latin typeface="Poppins" panose="00000500000000000000" pitchFamily="2" charset="-94"/>
                <a:cs typeface="Poppins" panose="00000500000000000000" pitchFamily="2" charset="-94"/>
              </a:rPr>
              <a:t>hot</a:t>
            </a:r>
            <a:r>
              <a:rPr lang="en-US" sz="1600" dirty="0">
                <a:latin typeface="Poppins" panose="00000500000000000000" pitchFamily="2" charset="-94"/>
                <a:cs typeface="Poppins" panose="00000500000000000000" pitchFamily="2" charset="-94"/>
              </a:rPr>
              <a:t>” execution paths are placed close together in memory, improving branch prediction and cache efficiency.</a:t>
            </a:r>
          </a:p>
        </p:txBody>
      </p:sp>
      <p:sp>
        <p:nvSpPr>
          <p:cNvPr id="5" name="TextBox 4">
            <a:extLst>
              <a:ext uri="{FF2B5EF4-FFF2-40B4-BE49-F238E27FC236}">
                <a16:creationId xmlns:a16="http://schemas.microsoft.com/office/drawing/2014/main" id="{F0367421-1CA9-466F-A8B4-09E09370CD28}"/>
              </a:ext>
            </a:extLst>
          </p:cNvPr>
          <p:cNvSpPr txBox="1"/>
          <p:nvPr/>
        </p:nvSpPr>
        <p:spPr>
          <a:xfrm>
            <a:off x="676272" y="4836288"/>
            <a:ext cx="10678160" cy="1323439"/>
          </a:xfrm>
          <a:prstGeom prst="rect">
            <a:avLst/>
          </a:prstGeom>
          <a:noFill/>
        </p:spPr>
        <p:txBody>
          <a:bodyPr wrap="square">
            <a:spAutoFit/>
          </a:bodyPr>
          <a:lstStyle/>
          <a:p>
            <a:r>
              <a:rPr lang="en-US" sz="1600" dirty="0">
                <a:latin typeface="Poppins" panose="00000500000000000000" pitchFamily="2" charset="-94"/>
                <a:cs typeface="Poppins" panose="00000500000000000000" pitchFamily="2" charset="-94"/>
              </a:rPr>
              <a:t>✅ </a:t>
            </a:r>
            <a:r>
              <a:rPr lang="en-US" sz="1600" b="1" dirty="0">
                <a:latin typeface="Poppins" panose="00000500000000000000" pitchFamily="2" charset="-94"/>
                <a:cs typeface="Poppins" panose="00000500000000000000" pitchFamily="2" charset="-94"/>
              </a:rPr>
              <a:t>What this means:</a:t>
            </a:r>
          </a:p>
          <a:p>
            <a:endParaRPr lang="en-US" sz="1600" dirty="0">
              <a:latin typeface="Poppins" panose="00000500000000000000" pitchFamily="2" charset="-94"/>
              <a:cs typeface="Poppins" panose="00000500000000000000" pitchFamily="2" charset="-94"/>
            </a:endParaRPr>
          </a:p>
          <a:p>
            <a:pPr marL="285750" indent="-285750">
              <a:buFont typeface="Arial" panose="020B0604020202020204" pitchFamily="34" charset="0"/>
              <a:buChar char="•"/>
            </a:pPr>
            <a:r>
              <a:rPr lang="en-US" sz="1600" dirty="0">
                <a:latin typeface="Poppins" panose="00000500000000000000" pitchFamily="2" charset="-94"/>
                <a:cs typeface="Poppins" panose="00000500000000000000" pitchFamily="2" charset="-94"/>
              </a:rPr>
              <a:t>Faster method execution due to better CPU instruction locality.</a:t>
            </a:r>
          </a:p>
          <a:p>
            <a:pPr marL="285750" indent="-285750">
              <a:buFont typeface="Arial" panose="020B0604020202020204" pitchFamily="34" charset="0"/>
              <a:buChar char="•"/>
            </a:pPr>
            <a:r>
              <a:rPr lang="en-US" sz="1600" dirty="0">
                <a:latin typeface="Poppins" panose="00000500000000000000" pitchFamily="2" charset="-94"/>
                <a:cs typeface="Poppins" panose="00000500000000000000" pitchFamily="2" charset="-94"/>
              </a:rPr>
              <a:t>Light performance gains for apps with complex branching logic.</a:t>
            </a:r>
          </a:p>
          <a:p>
            <a:pPr marL="285750" indent="-285750">
              <a:buFont typeface="Arial" panose="020B0604020202020204" pitchFamily="34" charset="0"/>
              <a:buChar char="•"/>
            </a:pPr>
            <a:r>
              <a:rPr lang="en-US" sz="1600" dirty="0">
                <a:latin typeface="Poppins" panose="00000500000000000000" pitchFamily="2" charset="-94"/>
                <a:cs typeface="Poppins" panose="00000500000000000000" pitchFamily="2" charset="-94"/>
              </a:rPr>
              <a:t>Automatically optimized code layout — no developer action needed.</a:t>
            </a:r>
          </a:p>
        </p:txBody>
      </p:sp>
      <p:sp>
        <p:nvSpPr>
          <p:cNvPr id="2" name="Rectangle: Rounded Corners 1">
            <a:extLst>
              <a:ext uri="{FF2B5EF4-FFF2-40B4-BE49-F238E27FC236}">
                <a16:creationId xmlns:a16="http://schemas.microsoft.com/office/drawing/2014/main" id="{CDF7547B-C817-31F6-5063-CF208FADF1ED}"/>
              </a:ext>
            </a:extLst>
          </p:cNvPr>
          <p:cNvSpPr/>
          <p:nvPr/>
        </p:nvSpPr>
        <p:spPr>
          <a:xfrm>
            <a:off x="548640" y="4602480"/>
            <a:ext cx="10007600" cy="1791057"/>
          </a:xfrm>
          <a:prstGeom prst="round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tr-TR"/>
          </a:p>
        </p:txBody>
      </p:sp>
    </p:spTree>
    <p:extLst>
      <p:ext uri="{BB962C8B-B14F-4D97-AF65-F5344CB8AC3E}">
        <p14:creationId xmlns:p14="http://schemas.microsoft.com/office/powerpoint/2010/main" val="227000091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p:cNvGrpSpPr/>
        <p:nvPr/>
      </p:nvGrpSpPr>
      <p:grpSpPr>
        <a:xfrm>
          <a:off x="0" y="0"/>
          <a:ext cx="0" cy="0"/>
          <a:chOff x="0" y="0"/>
          <a:chExt cx="0" cy="0"/>
        </a:xfrm>
      </p:grpSpPr>
      <p:sp>
        <p:nvSpPr>
          <p:cNvPr id="107" name="Google Shape;107;p2"/>
          <p:cNvSpPr txBox="1"/>
          <p:nvPr/>
        </p:nvSpPr>
        <p:spPr>
          <a:xfrm>
            <a:off x="451488" y="464463"/>
            <a:ext cx="10720064" cy="1138733"/>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200"/>
              <a:buFont typeface="Arial"/>
              <a:buNone/>
            </a:pPr>
            <a:r>
              <a:rPr lang="en-US" sz="3400" b="1" dirty="0">
                <a:solidFill>
                  <a:srgbClr val="292D33"/>
                </a:solidFill>
                <a:latin typeface="Lexend"/>
                <a:ea typeface="Lexend"/>
                <a:cs typeface="Lexend"/>
                <a:sym typeface="Lexend"/>
              </a:rPr>
              <a:t>.NET Runtime Improvements </a:t>
            </a:r>
          </a:p>
          <a:p>
            <a:pPr marR="0" lvl="0" algn="l" rtl="0">
              <a:lnSpc>
                <a:spcPct val="100000"/>
              </a:lnSpc>
              <a:spcBef>
                <a:spcPts val="0"/>
              </a:spcBef>
              <a:spcAft>
                <a:spcPts val="0"/>
              </a:spcAft>
              <a:buClr>
                <a:srgbClr val="000000"/>
              </a:buClr>
              <a:buSzPts val="3200"/>
            </a:pPr>
            <a:r>
              <a:rPr lang="en-US" sz="3400" dirty="0">
                <a:solidFill>
                  <a:srgbClr val="292D33"/>
                </a:solidFill>
                <a:latin typeface="Lexend"/>
                <a:ea typeface="Lexend"/>
                <a:cs typeface="Lexend"/>
                <a:sym typeface="Lexend"/>
              </a:rPr>
              <a:t>JIT Compiler: </a:t>
            </a:r>
            <a:r>
              <a:rPr lang="en-US" sz="3400" dirty="0" err="1">
                <a:solidFill>
                  <a:srgbClr val="292D33"/>
                </a:solidFill>
                <a:latin typeface="Lexend"/>
                <a:ea typeface="Lexend"/>
                <a:cs typeface="Lexend"/>
                <a:sym typeface="Lexend"/>
              </a:rPr>
              <a:t>Inlining</a:t>
            </a:r>
            <a:r>
              <a:rPr lang="en-US" sz="3400" dirty="0">
                <a:solidFill>
                  <a:srgbClr val="292D33"/>
                </a:solidFill>
                <a:latin typeface="Lexend"/>
                <a:ea typeface="Lexend"/>
                <a:cs typeface="Lexend"/>
                <a:sym typeface="Lexend"/>
              </a:rPr>
              <a:t> Improvements</a:t>
            </a:r>
          </a:p>
        </p:txBody>
      </p:sp>
      <p:sp>
        <p:nvSpPr>
          <p:cNvPr id="2" name="Rectangle 1">
            <a:extLst>
              <a:ext uri="{FF2B5EF4-FFF2-40B4-BE49-F238E27FC236}">
                <a16:creationId xmlns:a16="http://schemas.microsoft.com/office/drawing/2014/main" id="{A1AC3717-CC29-43C0-8A18-CECA140D65B4}"/>
              </a:ext>
            </a:extLst>
          </p:cNvPr>
          <p:cNvSpPr>
            <a:spLocks noChangeArrowheads="1"/>
          </p:cNvSpPr>
          <p:nvPr/>
        </p:nvSpPr>
        <p:spPr bwMode="auto">
          <a:xfrm>
            <a:off x="614048" y="4762363"/>
            <a:ext cx="11191872" cy="17543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800" b="0" i="0" u="none" strike="noStrike" cap="none" normalizeH="0" baseline="0" dirty="0">
                <a:ln>
                  <a:noFill/>
                </a:ln>
                <a:solidFill>
                  <a:schemeClr val="tx1"/>
                </a:solidFill>
                <a:effectLst/>
                <a:latin typeface="Arial" panose="020B0604020202020204" pitchFamily="34" charset="0"/>
              </a:rPr>
              <a:t>. </a:t>
            </a:r>
            <a:r>
              <a:rPr kumimoji="0" lang="en-US" altLang="en-US" sz="1800" b="0" i="0" u="none" strike="noStrike" cap="none" normalizeH="0" baseline="0" dirty="0">
                <a:ln>
                  <a:noFill/>
                </a:ln>
                <a:solidFill>
                  <a:schemeClr val="tx1"/>
                </a:solidFill>
                <a:effectLst/>
                <a:latin typeface="Arial" panose="020B0604020202020204" pitchFamily="34" charset="0"/>
              </a:rPr>
              <a:t>✅ </a:t>
            </a:r>
            <a:r>
              <a:rPr kumimoji="0" lang="en-US" altLang="en-US" sz="1800" b="1" i="0" u="none" strike="noStrike" cap="none" normalizeH="0" baseline="0" dirty="0">
                <a:ln>
                  <a:noFill/>
                </a:ln>
                <a:solidFill>
                  <a:schemeClr val="tx1"/>
                </a:solidFill>
                <a:effectLst/>
                <a:latin typeface="Arial" panose="020B0604020202020204" pitchFamily="34" charset="0"/>
              </a:rPr>
              <a:t>What this means:</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More aggressive and intelligent </a:t>
            </a:r>
            <a:r>
              <a:rPr kumimoji="0" lang="en-US" altLang="en-US" sz="1800" b="0" i="0" u="none" strike="noStrike" cap="none" normalizeH="0" baseline="0" dirty="0" err="1">
                <a:ln>
                  <a:noFill/>
                </a:ln>
                <a:solidFill>
                  <a:schemeClr val="tx1"/>
                </a:solidFill>
                <a:effectLst/>
                <a:latin typeface="Arial" panose="020B0604020202020204" pitchFamily="34" charset="0"/>
              </a:rPr>
              <a:t>inlining</a:t>
            </a:r>
            <a:r>
              <a:rPr kumimoji="0" lang="en-US" altLang="en-US" sz="1800" b="0" i="0" u="none" strike="noStrike" cap="none" normalizeH="0" baseline="0" dirty="0">
                <a:ln>
                  <a:noFill/>
                </a:ln>
                <a:solidFill>
                  <a:schemeClr val="tx1"/>
                </a:solidFill>
                <a:effectLst/>
                <a:latin typeface="Arial" panose="020B0604020202020204" pitchFamily="34" charset="0"/>
              </a:rPr>
              <a:t> = faster method calls.</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Better optimization in real-world (hot-path) code.</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Reduced overhead for frequently executed helper methods.</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5" name="TextBox 4">
            <a:extLst>
              <a:ext uri="{FF2B5EF4-FFF2-40B4-BE49-F238E27FC236}">
                <a16:creationId xmlns:a16="http://schemas.microsoft.com/office/drawing/2014/main" id="{9018F229-5733-46F3-953E-01CEC2EBD28F}"/>
              </a:ext>
            </a:extLst>
          </p:cNvPr>
          <p:cNvSpPr txBox="1"/>
          <p:nvPr/>
        </p:nvSpPr>
        <p:spPr>
          <a:xfrm>
            <a:off x="451488" y="2767281"/>
            <a:ext cx="11354432" cy="830997"/>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dirty="0">
                <a:ln>
                  <a:noFill/>
                </a:ln>
                <a:solidFill>
                  <a:schemeClr val="tx1"/>
                </a:solidFill>
                <a:effectLst/>
                <a:latin typeface="Poppins" panose="00000500000000000000" pitchFamily="2" charset="-94"/>
                <a:cs typeface="Poppins" panose="00000500000000000000" pitchFamily="2" charset="-94"/>
              </a:rPr>
              <a:t>NET 10 extends what the JIT can inline, including methods with </a:t>
            </a:r>
            <a:r>
              <a:rPr kumimoji="0" lang="en-US" altLang="en-US" sz="1600" b="0" i="1" u="none" strike="noStrike" cap="none" normalizeH="0" baseline="0" dirty="0">
                <a:ln>
                  <a:noFill/>
                </a:ln>
                <a:solidFill>
                  <a:schemeClr val="tx1"/>
                </a:solidFill>
                <a:effectLst/>
                <a:latin typeface="Consolas" panose="020B0609020204030204" pitchFamily="49" charset="0"/>
                <a:cs typeface="Poppins" panose="00000500000000000000" pitchFamily="2" charset="-94"/>
              </a:rPr>
              <a:t>try-finally</a:t>
            </a:r>
            <a:r>
              <a:rPr kumimoji="0" lang="en-US" altLang="en-US" sz="1600" b="0" i="0" u="none" strike="noStrike" cap="none" normalizeH="0" baseline="0" dirty="0">
                <a:ln>
                  <a:noFill/>
                </a:ln>
                <a:solidFill>
                  <a:schemeClr val="tx1"/>
                </a:solidFill>
                <a:effectLst/>
                <a:latin typeface="Poppins" panose="00000500000000000000" pitchFamily="2" charset="-94"/>
                <a:cs typeface="Poppins" panose="00000500000000000000" pitchFamily="2" charset="-94"/>
              </a:rPr>
              <a:t>, those discovered after </a:t>
            </a:r>
            <a:r>
              <a:rPr kumimoji="0" lang="en-US" altLang="en-US" sz="1600" b="0" i="0" u="none" strike="noStrike" cap="none" normalizeH="0" baseline="0" dirty="0" err="1">
                <a:ln>
                  <a:noFill/>
                </a:ln>
                <a:solidFill>
                  <a:schemeClr val="tx1"/>
                </a:solidFill>
                <a:effectLst/>
                <a:latin typeface="Poppins" panose="00000500000000000000" pitchFamily="2" charset="-94"/>
                <a:cs typeface="Poppins" panose="00000500000000000000" pitchFamily="2" charset="-94"/>
              </a:rPr>
              <a:t>devirtualization</a:t>
            </a:r>
            <a:r>
              <a:rPr kumimoji="0" lang="en-US" altLang="en-US" sz="1600" b="0" i="0" u="none" strike="noStrike" cap="none" normalizeH="0" baseline="0" dirty="0">
                <a:ln>
                  <a:noFill/>
                </a:ln>
                <a:solidFill>
                  <a:schemeClr val="tx1"/>
                </a:solidFill>
                <a:effectLst/>
                <a:latin typeface="Poppins" panose="00000500000000000000" pitchFamily="2" charset="-94"/>
                <a:cs typeface="Poppins" panose="00000500000000000000" pitchFamily="2" charset="-94"/>
              </a:rPr>
              <a:t>, and small array-returning methods.</a:t>
            </a:r>
            <a:br>
              <a:rPr kumimoji="0" lang="en-US" altLang="en-US" sz="1600" b="0" i="0" u="none" strike="noStrike" cap="none" normalizeH="0" baseline="0" dirty="0">
                <a:ln>
                  <a:noFill/>
                </a:ln>
                <a:solidFill>
                  <a:schemeClr val="tx1"/>
                </a:solidFill>
                <a:effectLst/>
                <a:latin typeface="Poppins" panose="00000500000000000000" pitchFamily="2" charset="-94"/>
                <a:cs typeface="Poppins" panose="00000500000000000000" pitchFamily="2" charset="-94"/>
              </a:rPr>
            </a:br>
            <a:r>
              <a:rPr kumimoji="0" lang="en-US" altLang="en-US" sz="1600" b="0" i="0" u="none" strike="noStrike" cap="none" normalizeH="0" baseline="0" dirty="0">
                <a:ln>
                  <a:noFill/>
                </a:ln>
                <a:solidFill>
                  <a:schemeClr val="tx1"/>
                </a:solidFill>
                <a:effectLst/>
                <a:latin typeface="Poppins" panose="00000500000000000000" pitchFamily="2" charset="-94"/>
                <a:cs typeface="Poppins" panose="00000500000000000000" pitchFamily="2" charset="-94"/>
              </a:rPr>
              <a:t>It also uses </a:t>
            </a:r>
            <a:r>
              <a:rPr kumimoji="0" lang="en-US" altLang="en-US" sz="1600" b="1" i="0" u="none" strike="noStrike" cap="none" normalizeH="0" baseline="0" dirty="0">
                <a:ln>
                  <a:noFill/>
                </a:ln>
                <a:solidFill>
                  <a:schemeClr val="tx1"/>
                </a:solidFill>
                <a:effectLst/>
                <a:latin typeface="Poppins" panose="00000500000000000000" pitchFamily="2" charset="-94"/>
                <a:cs typeface="Poppins" panose="00000500000000000000" pitchFamily="2" charset="-94"/>
              </a:rPr>
              <a:t>runtime profile data</a:t>
            </a:r>
            <a:r>
              <a:rPr kumimoji="0" lang="en-US" altLang="en-US" sz="1600" b="0" i="0" u="none" strike="noStrike" cap="none" normalizeH="0" baseline="0" dirty="0">
                <a:ln>
                  <a:noFill/>
                </a:ln>
                <a:solidFill>
                  <a:schemeClr val="tx1"/>
                </a:solidFill>
                <a:effectLst/>
                <a:latin typeface="Poppins" panose="00000500000000000000" pitchFamily="2" charset="-94"/>
                <a:cs typeface="Poppins" panose="00000500000000000000" pitchFamily="2" charset="-94"/>
              </a:rPr>
              <a:t> to decide more intelligently when </a:t>
            </a:r>
            <a:r>
              <a:rPr kumimoji="0" lang="en-US" altLang="en-US" sz="1600" b="0" i="0" u="none" strike="noStrike" cap="none" normalizeH="0" baseline="0" dirty="0" err="1">
                <a:ln>
                  <a:noFill/>
                </a:ln>
                <a:solidFill>
                  <a:schemeClr val="tx1"/>
                </a:solidFill>
                <a:effectLst/>
                <a:latin typeface="Poppins" panose="00000500000000000000" pitchFamily="2" charset="-94"/>
                <a:cs typeface="Poppins" panose="00000500000000000000" pitchFamily="2" charset="-94"/>
              </a:rPr>
              <a:t>inlining</a:t>
            </a:r>
            <a:r>
              <a:rPr kumimoji="0" lang="en-US" altLang="en-US" sz="1600" b="0" i="0" u="none" strike="noStrike" cap="none" normalizeH="0" baseline="0" dirty="0">
                <a:ln>
                  <a:noFill/>
                </a:ln>
                <a:solidFill>
                  <a:schemeClr val="tx1"/>
                </a:solidFill>
                <a:effectLst/>
                <a:latin typeface="Poppins" panose="00000500000000000000" pitchFamily="2" charset="-94"/>
                <a:cs typeface="Poppins" panose="00000500000000000000" pitchFamily="2" charset="-94"/>
              </a:rPr>
              <a:t> is worthwhile.</a:t>
            </a:r>
          </a:p>
        </p:txBody>
      </p:sp>
      <p:sp>
        <p:nvSpPr>
          <p:cNvPr id="3" name="Rectangle: Rounded Corners 2">
            <a:extLst>
              <a:ext uri="{FF2B5EF4-FFF2-40B4-BE49-F238E27FC236}">
                <a16:creationId xmlns:a16="http://schemas.microsoft.com/office/drawing/2014/main" id="{72CC9338-5995-AE80-CBF4-5D519018238C}"/>
              </a:ext>
            </a:extLst>
          </p:cNvPr>
          <p:cNvSpPr/>
          <p:nvPr/>
        </p:nvSpPr>
        <p:spPr>
          <a:xfrm>
            <a:off x="548640" y="4602480"/>
            <a:ext cx="10007600" cy="1791057"/>
          </a:xfrm>
          <a:prstGeom prst="round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tr-TR"/>
          </a:p>
        </p:txBody>
      </p:sp>
    </p:spTree>
    <p:extLst>
      <p:ext uri="{BB962C8B-B14F-4D97-AF65-F5344CB8AC3E}">
        <p14:creationId xmlns:p14="http://schemas.microsoft.com/office/powerpoint/2010/main" val="244543846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p:cNvGrpSpPr/>
        <p:nvPr/>
      </p:nvGrpSpPr>
      <p:grpSpPr>
        <a:xfrm>
          <a:off x="0" y="0"/>
          <a:ext cx="0" cy="0"/>
          <a:chOff x="0" y="0"/>
          <a:chExt cx="0" cy="0"/>
        </a:xfrm>
      </p:grpSpPr>
      <p:sp>
        <p:nvSpPr>
          <p:cNvPr id="107" name="Google Shape;107;p2"/>
          <p:cNvSpPr txBox="1"/>
          <p:nvPr/>
        </p:nvSpPr>
        <p:spPr>
          <a:xfrm>
            <a:off x="451488" y="464463"/>
            <a:ext cx="10720064" cy="1138733"/>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200"/>
              <a:buFont typeface="Arial"/>
              <a:buNone/>
            </a:pPr>
            <a:r>
              <a:rPr lang="en-US" sz="3400" b="1" dirty="0">
                <a:solidFill>
                  <a:srgbClr val="292D33"/>
                </a:solidFill>
                <a:latin typeface="Lexend"/>
                <a:ea typeface="Lexend"/>
                <a:cs typeface="Lexend"/>
                <a:sym typeface="Lexend"/>
              </a:rPr>
              <a:t>.NET Runtime Improvements </a:t>
            </a:r>
          </a:p>
          <a:p>
            <a:pPr marR="0" lvl="0" algn="l" rtl="0">
              <a:lnSpc>
                <a:spcPct val="100000"/>
              </a:lnSpc>
              <a:spcBef>
                <a:spcPts val="0"/>
              </a:spcBef>
              <a:spcAft>
                <a:spcPts val="0"/>
              </a:spcAft>
              <a:buClr>
                <a:srgbClr val="000000"/>
              </a:buClr>
              <a:buSzPts val="3200"/>
            </a:pPr>
            <a:r>
              <a:rPr lang="en-US" sz="3400" dirty="0">
                <a:solidFill>
                  <a:srgbClr val="292D33"/>
                </a:solidFill>
                <a:latin typeface="Lexend"/>
                <a:ea typeface="Lexend"/>
                <a:cs typeface="Lexend"/>
                <a:sym typeface="Lexend"/>
              </a:rPr>
              <a:t>Stack allocation</a:t>
            </a:r>
          </a:p>
        </p:txBody>
      </p:sp>
      <p:sp>
        <p:nvSpPr>
          <p:cNvPr id="4" name="TextBox 3">
            <a:extLst>
              <a:ext uri="{FF2B5EF4-FFF2-40B4-BE49-F238E27FC236}">
                <a16:creationId xmlns:a16="http://schemas.microsoft.com/office/drawing/2014/main" id="{A104402E-E46E-4C6E-8AD2-6A75AB04CCDB}"/>
              </a:ext>
            </a:extLst>
          </p:cNvPr>
          <p:cNvSpPr txBox="1"/>
          <p:nvPr/>
        </p:nvSpPr>
        <p:spPr>
          <a:xfrm>
            <a:off x="375920" y="2428706"/>
            <a:ext cx="11216640" cy="1323439"/>
          </a:xfrm>
          <a:prstGeom prst="rect">
            <a:avLst/>
          </a:prstGeom>
          <a:noFill/>
        </p:spPr>
        <p:txBody>
          <a:bodyPr wrap="square">
            <a:spAutoFit/>
          </a:bodyPr>
          <a:lstStyle/>
          <a:p>
            <a:r>
              <a:rPr lang="en-US" sz="1600" dirty="0">
                <a:latin typeface="Poppins" panose="00000500000000000000" pitchFamily="2" charset="-94"/>
                <a:cs typeface="Poppins" panose="00000500000000000000" pitchFamily="2" charset="-94"/>
              </a:rPr>
              <a:t>Stack allocation is now smarter and more widely applied.</a:t>
            </a:r>
            <a:br>
              <a:rPr lang="en-US" sz="1600" dirty="0">
                <a:latin typeface="Poppins" panose="00000500000000000000" pitchFamily="2" charset="-94"/>
                <a:cs typeface="Poppins" panose="00000500000000000000" pitchFamily="2" charset="-94"/>
              </a:rPr>
            </a:br>
            <a:r>
              <a:rPr lang="en-US" sz="1600" dirty="0">
                <a:latin typeface="Poppins" panose="00000500000000000000" pitchFamily="2" charset="-94"/>
                <a:cs typeface="Poppins" panose="00000500000000000000" pitchFamily="2" charset="-94"/>
              </a:rPr>
              <a:t>.NET 10 introduces stack allocation for </a:t>
            </a:r>
            <a:r>
              <a:rPr lang="en-US" sz="1600" b="1" dirty="0">
                <a:latin typeface="Poppins" panose="00000500000000000000" pitchFamily="2" charset="-94"/>
                <a:cs typeface="Poppins" panose="00000500000000000000" pitchFamily="2" charset="-94"/>
              </a:rPr>
              <a:t>small arrays of both value and reference types</a:t>
            </a:r>
            <a:r>
              <a:rPr lang="en-US" sz="1600" dirty="0">
                <a:latin typeface="Poppins" panose="00000500000000000000" pitchFamily="2" charset="-94"/>
                <a:cs typeface="Poppins" panose="00000500000000000000" pitchFamily="2" charset="-94"/>
              </a:rPr>
              <a:t>, and adds </a:t>
            </a:r>
            <a:r>
              <a:rPr lang="en-US" sz="1600" b="1" dirty="0">
                <a:latin typeface="Poppins" panose="00000500000000000000" pitchFamily="2" charset="-94"/>
                <a:cs typeface="Poppins" panose="00000500000000000000" pitchFamily="2" charset="-94"/>
              </a:rPr>
              <a:t>escape analysis</a:t>
            </a:r>
            <a:r>
              <a:rPr lang="en-US" sz="1600" dirty="0">
                <a:latin typeface="Poppins" panose="00000500000000000000" pitchFamily="2" charset="-94"/>
                <a:cs typeface="Poppins" panose="00000500000000000000" pitchFamily="2" charset="-94"/>
              </a:rPr>
              <a:t> for local struct fields and delegates — letting more short-lived objects live on the stack instead of the heap.</a:t>
            </a:r>
          </a:p>
          <a:p>
            <a:endParaRPr lang="en-US" sz="1600" dirty="0">
              <a:latin typeface="Poppins" panose="00000500000000000000" pitchFamily="2" charset="-94"/>
              <a:cs typeface="Poppins" panose="00000500000000000000" pitchFamily="2" charset="-94"/>
            </a:endParaRPr>
          </a:p>
        </p:txBody>
      </p:sp>
      <p:sp>
        <p:nvSpPr>
          <p:cNvPr id="5" name="TextBox 4">
            <a:extLst>
              <a:ext uri="{FF2B5EF4-FFF2-40B4-BE49-F238E27FC236}">
                <a16:creationId xmlns:a16="http://schemas.microsoft.com/office/drawing/2014/main" id="{B92143E3-9173-4564-AC4F-4A032677E69C}"/>
              </a:ext>
            </a:extLst>
          </p:cNvPr>
          <p:cNvSpPr txBox="1"/>
          <p:nvPr/>
        </p:nvSpPr>
        <p:spPr>
          <a:xfrm>
            <a:off x="698184" y="4836288"/>
            <a:ext cx="10795632" cy="1323439"/>
          </a:xfrm>
          <a:prstGeom prst="rect">
            <a:avLst/>
          </a:prstGeom>
          <a:noFill/>
        </p:spPr>
        <p:txBody>
          <a:bodyPr wrap="square">
            <a:spAutoFit/>
          </a:bodyPr>
          <a:lstStyle/>
          <a:p>
            <a:r>
              <a:rPr lang="en-US" sz="1600" dirty="0">
                <a:latin typeface="Poppins" panose="00000500000000000000" pitchFamily="2" charset="-94"/>
                <a:cs typeface="Poppins" panose="00000500000000000000" pitchFamily="2" charset="-94"/>
              </a:rPr>
              <a:t>✅ </a:t>
            </a:r>
            <a:r>
              <a:rPr lang="en-US" sz="1600" b="1" dirty="0">
                <a:latin typeface="Poppins" panose="00000500000000000000" pitchFamily="2" charset="-94"/>
                <a:cs typeface="Poppins" panose="00000500000000000000" pitchFamily="2" charset="-94"/>
              </a:rPr>
              <a:t>What this means:</a:t>
            </a:r>
          </a:p>
          <a:p>
            <a:endParaRPr lang="en-US" sz="1600" dirty="0">
              <a:latin typeface="Poppins" panose="00000500000000000000" pitchFamily="2" charset="-94"/>
              <a:cs typeface="Poppins" panose="00000500000000000000" pitchFamily="2" charset="-94"/>
            </a:endParaRPr>
          </a:p>
          <a:p>
            <a:pPr marL="285750" indent="-285750">
              <a:buFont typeface="Arial" panose="020B0604020202020204" pitchFamily="34" charset="0"/>
              <a:buChar char="•"/>
            </a:pPr>
            <a:r>
              <a:rPr lang="en-US" sz="1600" dirty="0">
                <a:latin typeface="Poppins" panose="00000500000000000000" pitchFamily="2" charset="-94"/>
                <a:cs typeface="Poppins" panose="00000500000000000000" pitchFamily="2" charset="-94"/>
              </a:rPr>
              <a:t>Fewer heap allocations → less GC work and faster execution.</a:t>
            </a:r>
          </a:p>
          <a:p>
            <a:pPr marL="285750" indent="-285750">
              <a:buFont typeface="Arial" panose="020B0604020202020204" pitchFamily="34" charset="0"/>
              <a:buChar char="•"/>
            </a:pPr>
            <a:r>
              <a:rPr lang="en-US" sz="1600" dirty="0">
                <a:latin typeface="Poppins" panose="00000500000000000000" pitchFamily="2" charset="-94"/>
                <a:cs typeface="Poppins" panose="00000500000000000000" pitchFamily="2" charset="-94"/>
              </a:rPr>
              <a:t>Temporary arrays and delegates are now cheaper to create.</a:t>
            </a:r>
          </a:p>
          <a:p>
            <a:pPr marL="285750" indent="-285750">
              <a:buFont typeface="Arial" panose="020B0604020202020204" pitchFamily="34" charset="0"/>
              <a:buChar char="•"/>
            </a:pPr>
            <a:r>
              <a:rPr lang="en-US" sz="1600" dirty="0">
                <a:latin typeface="Poppins" panose="00000500000000000000" pitchFamily="2" charset="-94"/>
                <a:cs typeface="Poppins" panose="00000500000000000000" pitchFamily="2" charset="-94"/>
              </a:rPr>
              <a:t>Significant performance boost in tight loops and short-lived operations.</a:t>
            </a:r>
          </a:p>
        </p:txBody>
      </p:sp>
      <p:sp>
        <p:nvSpPr>
          <p:cNvPr id="2" name="Rectangle: Rounded Corners 1">
            <a:extLst>
              <a:ext uri="{FF2B5EF4-FFF2-40B4-BE49-F238E27FC236}">
                <a16:creationId xmlns:a16="http://schemas.microsoft.com/office/drawing/2014/main" id="{B362FBBD-6767-F73D-4D47-550DD0878C7A}"/>
              </a:ext>
            </a:extLst>
          </p:cNvPr>
          <p:cNvSpPr/>
          <p:nvPr/>
        </p:nvSpPr>
        <p:spPr>
          <a:xfrm>
            <a:off x="548640" y="4602480"/>
            <a:ext cx="10007600" cy="1791057"/>
          </a:xfrm>
          <a:prstGeom prst="round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tr-TR"/>
          </a:p>
        </p:txBody>
      </p:sp>
    </p:spTree>
    <p:extLst>
      <p:ext uri="{BB962C8B-B14F-4D97-AF65-F5344CB8AC3E}">
        <p14:creationId xmlns:p14="http://schemas.microsoft.com/office/powerpoint/2010/main" val="86219789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p:cNvGrpSpPr/>
        <p:nvPr/>
      </p:nvGrpSpPr>
      <p:grpSpPr>
        <a:xfrm>
          <a:off x="0" y="0"/>
          <a:ext cx="0" cy="0"/>
          <a:chOff x="0" y="0"/>
          <a:chExt cx="0" cy="0"/>
        </a:xfrm>
      </p:grpSpPr>
      <p:sp>
        <p:nvSpPr>
          <p:cNvPr id="107" name="Google Shape;107;p2"/>
          <p:cNvSpPr txBox="1"/>
          <p:nvPr/>
        </p:nvSpPr>
        <p:spPr>
          <a:xfrm>
            <a:off x="451488" y="464463"/>
            <a:ext cx="10720064" cy="1138733"/>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200"/>
              <a:buFont typeface="Arial"/>
              <a:buNone/>
            </a:pPr>
            <a:r>
              <a:rPr lang="en-US" sz="3400" b="1" dirty="0">
                <a:solidFill>
                  <a:srgbClr val="292D33"/>
                </a:solidFill>
                <a:latin typeface="Lexend"/>
                <a:ea typeface="Lexend"/>
                <a:cs typeface="Lexend"/>
                <a:sym typeface="Lexend"/>
              </a:rPr>
              <a:t>.NET Runtime Improvements </a:t>
            </a:r>
          </a:p>
          <a:p>
            <a:pPr marR="0" lvl="0" algn="l" rtl="0">
              <a:lnSpc>
                <a:spcPct val="100000"/>
              </a:lnSpc>
              <a:spcBef>
                <a:spcPts val="0"/>
              </a:spcBef>
              <a:spcAft>
                <a:spcPts val="0"/>
              </a:spcAft>
              <a:buClr>
                <a:srgbClr val="000000"/>
              </a:buClr>
              <a:buSzPts val="3200"/>
            </a:pPr>
            <a:r>
              <a:rPr lang="en-US" sz="3400" dirty="0">
                <a:solidFill>
                  <a:srgbClr val="292D33"/>
                </a:solidFill>
                <a:latin typeface="Lexend"/>
                <a:ea typeface="Lexend"/>
                <a:cs typeface="Lexend"/>
                <a:sym typeface="Lexend"/>
              </a:rPr>
              <a:t>Stack allocation: Escape Analysis </a:t>
            </a:r>
          </a:p>
        </p:txBody>
      </p:sp>
      <p:sp>
        <p:nvSpPr>
          <p:cNvPr id="4" name="TextBox 3">
            <a:extLst>
              <a:ext uri="{FF2B5EF4-FFF2-40B4-BE49-F238E27FC236}">
                <a16:creationId xmlns:a16="http://schemas.microsoft.com/office/drawing/2014/main" id="{B31C5C58-3121-4F59-A9BF-C5B28AE6298B}"/>
              </a:ext>
            </a:extLst>
          </p:cNvPr>
          <p:cNvSpPr txBox="1"/>
          <p:nvPr/>
        </p:nvSpPr>
        <p:spPr>
          <a:xfrm>
            <a:off x="451488" y="2844225"/>
            <a:ext cx="11080112" cy="584775"/>
          </a:xfrm>
          <a:prstGeom prst="rect">
            <a:avLst/>
          </a:prstGeom>
          <a:noFill/>
        </p:spPr>
        <p:txBody>
          <a:bodyPr wrap="square">
            <a:spAutoFit/>
          </a:bodyPr>
          <a:lstStyle/>
          <a:p>
            <a:r>
              <a:rPr lang="en-US" sz="1600" dirty="0">
                <a:latin typeface="Poppins" panose="00000500000000000000" pitchFamily="2" charset="-94"/>
                <a:cs typeface="Poppins" panose="00000500000000000000" pitchFamily="2" charset="-94"/>
              </a:rPr>
              <a:t>The JIT can now track whether objects stored inside structs or delegates “escape” their method scope.</a:t>
            </a:r>
            <a:br>
              <a:rPr lang="en-US" sz="1600" dirty="0">
                <a:latin typeface="Poppins" panose="00000500000000000000" pitchFamily="2" charset="-94"/>
                <a:cs typeface="Poppins" panose="00000500000000000000" pitchFamily="2" charset="-94"/>
              </a:rPr>
            </a:br>
            <a:r>
              <a:rPr lang="en-US" sz="1600" dirty="0">
                <a:latin typeface="Poppins" panose="00000500000000000000" pitchFamily="2" charset="-94"/>
                <a:cs typeface="Poppins" panose="00000500000000000000" pitchFamily="2" charset="-94"/>
              </a:rPr>
              <a:t>If they don’t, those objects can be </a:t>
            </a:r>
            <a:r>
              <a:rPr lang="en-US" sz="1600" b="1" dirty="0">
                <a:latin typeface="Poppins" panose="00000500000000000000" pitchFamily="2" charset="-94"/>
                <a:cs typeface="Poppins" panose="00000500000000000000" pitchFamily="2" charset="-94"/>
              </a:rPr>
              <a:t>stack-allocated</a:t>
            </a:r>
            <a:r>
              <a:rPr lang="en-US" sz="1600" dirty="0">
                <a:latin typeface="Poppins" panose="00000500000000000000" pitchFamily="2" charset="-94"/>
                <a:cs typeface="Poppins" panose="00000500000000000000" pitchFamily="2" charset="-94"/>
              </a:rPr>
              <a:t> safely.</a:t>
            </a:r>
          </a:p>
        </p:txBody>
      </p:sp>
      <p:sp>
        <p:nvSpPr>
          <p:cNvPr id="5" name="TextBox 4">
            <a:extLst>
              <a:ext uri="{FF2B5EF4-FFF2-40B4-BE49-F238E27FC236}">
                <a16:creationId xmlns:a16="http://schemas.microsoft.com/office/drawing/2014/main" id="{7A4D0A6E-B94E-4E30-8A2B-F40B7F6F692A}"/>
              </a:ext>
            </a:extLst>
          </p:cNvPr>
          <p:cNvSpPr txBox="1"/>
          <p:nvPr/>
        </p:nvSpPr>
        <p:spPr>
          <a:xfrm>
            <a:off x="735968" y="4836288"/>
            <a:ext cx="10720064" cy="1323439"/>
          </a:xfrm>
          <a:prstGeom prst="rect">
            <a:avLst/>
          </a:prstGeom>
          <a:noFill/>
        </p:spPr>
        <p:txBody>
          <a:bodyPr wrap="square">
            <a:spAutoFit/>
          </a:bodyPr>
          <a:lstStyle/>
          <a:p>
            <a:r>
              <a:rPr lang="en-US" sz="1600" dirty="0">
                <a:latin typeface="Poppins" panose="00000500000000000000" pitchFamily="2" charset="-94"/>
                <a:cs typeface="Poppins" panose="00000500000000000000" pitchFamily="2" charset="-94"/>
              </a:rPr>
              <a:t>✅ </a:t>
            </a:r>
            <a:r>
              <a:rPr lang="en-US" sz="1600" b="1" dirty="0">
                <a:latin typeface="Poppins" panose="00000500000000000000" pitchFamily="2" charset="-94"/>
                <a:cs typeface="Poppins" panose="00000500000000000000" pitchFamily="2" charset="-94"/>
              </a:rPr>
              <a:t>What this means:</a:t>
            </a:r>
          </a:p>
          <a:p>
            <a:endParaRPr lang="en-US" sz="1600" dirty="0">
              <a:latin typeface="Poppins" panose="00000500000000000000" pitchFamily="2" charset="-94"/>
              <a:cs typeface="Poppins" panose="00000500000000000000" pitchFamily="2" charset="-94"/>
            </a:endParaRPr>
          </a:p>
          <a:p>
            <a:pPr marL="285750" indent="-285750">
              <a:buFont typeface="Arial" panose="020B0604020202020204" pitchFamily="34" charset="0"/>
              <a:buChar char="•"/>
            </a:pPr>
            <a:r>
              <a:rPr lang="en-US" sz="1600" dirty="0">
                <a:latin typeface="Poppins" panose="00000500000000000000" pitchFamily="2" charset="-94"/>
                <a:cs typeface="Poppins" panose="00000500000000000000" pitchFamily="2" charset="-94"/>
              </a:rPr>
              <a:t>Less heap allocation for structs and lambda expressions.</a:t>
            </a:r>
          </a:p>
          <a:p>
            <a:pPr marL="285750" indent="-285750">
              <a:buFont typeface="Arial" panose="020B0604020202020204" pitchFamily="34" charset="0"/>
              <a:buChar char="•"/>
            </a:pPr>
            <a:r>
              <a:rPr lang="en-US" sz="1600" dirty="0">
                <a:latin typeface="Poppins" panose="00000500000000000000" pitchFamily="2" charset="-94"/>
                <a:cs typeface="Poppins" panose="00000500000000000000" pitchFamily="2" charset="-94"/>
              </a:rPr>
              <a:t>Reduced GC activity and lower memory churn.</a:t>
            </a:r>
          </a:p>
          <a:p>
            <a:pPr marL="285750" indent="-285750">
              <a:buFont typeface="Arial" panose="020B0604020202020204" pitchFamily="34" charset="0"/>
              <a:buChar char="•"/>
            </a:pPr>
            <a:r>
              <a:rPr lang="en-US" sz="1600" dirty="0">
                <a:latin typeface="Poppins" panose="00000500000000000000" pitchFamily="2" charset="-94"/>
                <a:cs typeface="Poppins" panose="00000500000000000000" pitchFamily="2" charset="-94"/>
              </a:rPr>
              <a:t>Cleaner, faster execution of methods using local structs or small lambdas.</a:t>
            </a:r>
          </a:p>
        </p:txBody>
      </p:sp>
      <p:sp>
        <p:nvSpPr>
          <p:cNvPr id="2" name="Rectangle: Rounded Corners 1">
            <a:extLst>
              <a:ext uri="{FF2B5EF4-FFF2-40B4-BE49-F238E27FC236}">
                <a16:creationId xmlns:a16="http://schemas.microsoft.com/office/drawing/2014/main" id="{9D2494D4-C856-45E3-4665-D7DB82F6DE1B}"/>
              </a:ext>
            </a:extLst>
          </p:cNvPr>
          <p:cNvSpPr/>
          <p:nvPr/>
        </p:nvSpPr>
        <p:spPr>
          <a:xfrm>
            <a:off x="548640" y="4602480"/>
            <a:ext cx="10007600" cy="1791057"/>
          </a:xfrm>
          <a:prstGeom prst="round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tr-TR"/>
          </a:p>
        </p:txBody>
      </p:sp>
    </p:spTree>
    <p:extLst>
      <p:ext uri="{BB962C8B-B14F-4D97-AF65-F5344CB8AC3E}">
        <p14:creationId xmlns:p14="http://schemas.microsoft.com/office/powerpoint/2010/main" val="1864555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bg>
      <p:bgPr>
        <a:blipFill dpi="0" rotWithShape="1">
          <a:blip r:embed="rId3">
            <a:lum/>
          </a:blip>
          <a:srcRect/>
          <a:stretch>
            <a:fillRect/>
          </a:stretch>
        </a:blipFill>
        <a:effectLst/>
      </p:bgPr>
    </p:bg>
    <p:spTree>
      <p:nvGrpSpPr>
        <p:cNvPr id="1" name="Shape 106"/>
        <p:cNvGrpSpPr/>
        <p:nvPr/>
      </p:nvGrpSpPr>
      <p:grpSpPr>
        <a:xfrm>
          <a:off x="0" y="0"/>
          <a:ext cx="0" cy="0"/>
          <a:chOff x="0" y="0"/>
          <a:chExt cx="0" cy="0"/>
        </a:xfrm>
      </p:grpSpPr>
      <p:sp>
        <p:nvSpPr>
          <p:cNvPr id="107" name="Google Shape;107;p2"/>
          <p:cNvSpPr txBox="1"/>
          <p:nvPr/>
        </p:nvSpPr>
        <p:spPr>
          <a:xfrm>
            <a:off x="451488" y="464463"/>
            <a:ext cx="10720064" cy="1138733"/>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200"/>
              <a:buFont typeface="Arial"/>
              <a:buNone/>
            </a:pPr>
            <a:r>
              <a:rPr lang="en-US" sz="3400" b="1" dirty="0">
                <a:solidFill>
                  <a:srgbClr val="292D33"/>
                </a:solidFill>
                <a:latin typeface="Lexend"/>
                <a:ea typeface="Lexend"/>
                <a:cs typeface="Lexend"/>
                <a:sym typeface="Lexend"/>
              </a:rPr>
              <a:t>.NET Runtime Improvements </a:t>
            </a:r>
          </a:p>
          <a:p>
            <a:pPr marR="0" lvl="0" algn="l" rtl="0">
              <a:lnSpc>
                <a:spcPct val="100000"/>
              </a:lnSpc>
              <a:spcBef>
                <a:spcPts val="0"/>
              </a:spcBef>
              <a:spcAft>
                <a:spcPts val="0"/>
              </a:spcAft>
              <a:buClr>
                <a:srgbClr val="000000"/>
              </a:buClr>
              <a:buSzPts val="3200"/>
            </a:pPr>
            <a:r>
              <a:rPr lang="en-US" sz="3400" dirty="0">
                <a:solidFill>
                  <a:srgbClr val="292D33"/>
                </a:solidFill>
                <a:latin typeface="Lexend"/>
                <a:ea typeface="Lexend"/>
                <a:cs typeface="Lexend"/>
                <a:sym typeface="Lexend"/>
              </a:rPr>
              <a:t>Arm64 write-barrier improvements</a:t>
            </a:r>
          </a:p>
        </p:txBody>
      </p:sp>
      <p:sp>
        <p:nvSpPr>
          <p:cNvPr id="4" name="TextBox 3">
            <a:extLst>
              <a:ext uri="{FF2B5EF4-FFF2-40B4-BE49-F238E27FC236}">
                <a16:creationId xmlns:a16="http://schemas.microsoft.com/office/drawing/2014/main" id="{D3095CC8-9F6F-4415-97F1-23407E3B8F48}"/>
              </a:ext>
            </a:extLst>
          </p:cNvPr>
          <p:cNvSpPr txBox="1"/>
          <p:nvPr/>
        </p:nvSpPr>
        <p:spPr>
          <a:xfrm>
            <a:off x="451488" y="2856339"/>
            <a:ext cx="11080112" cy="830997"/>
          </a:xfrm>
          <a:prstGeom prst="rect">
            <a:avLst/>
          </a:prstGeom>
          <a:noFill/>
        </p:spPr>
        <p:txBody>
          <a:bodyPr wrap="square">
            <a:spAutoFit/>
          </a:bodyPr>
          <a:lstStyle/>
          <a:p>
            <a:r>
              <a:rPr lang="en-US" sz="1600" dirty="0">
                <a:latin typeface="Poppins" panose="00000500000000000000" pitchFamily="2" charset="-94"/>
                <a:cs typeface="Poppins" panose="00000500000000000000" pitchFamily="2" charset="-94"/>
              </a:rPr>
              <a:t>The garbage collector’s </a:t>
            </a:r>
            <a:r>
              <a:rPr lang="en-US" sz="1600" b="1" dirty="0">
                <a:latin typeface="Poppins" panose="00000500000000000000" pitchFamily="2" charset="-94"/>
                <a:cs typeface="Poppins" panose="00000500000000000000" pitchFamily="2" charset="-94"/>
              </a:rPr>
              <a:t>write-barrier logic,</a:t>
            </a:r>
            <a:r>
              <a:rPr lang="en-US" sz="1600" dirty="0">
                <a:latin typeface="Poppins" panose="00000500000000000000" pitchFamily="2" charset="-94"/>
                <a:cs typeface="Poppins" panose="00000500000000000000" pitchFamily="2" charset="-94"/>
              </a:rPr>
              <a:t> which tracks references between generations, </a:t>
            </a:r>
            <a:br>
              <a:rPr lang="en-US" sz="1600" dirty="0">
                <a:latin typeface="Poppins" panose="00000500000000000000" pitchFamily="2" charset="-94"/>
                <a:cs typeface="Poppins" panose="00000500000000000000" pitchFamily="2" charset="-94"/>
              </a:rPr>
            </a:br>
            <a:r>
              <a:rPr lang="en-US" sz="1600" dirty="0">
                <a:latin typeface="Poppins" panose="00000500000000000000" pitchFamily="2" charset="-94"/>
                <a:cs typeface="Poppins" panose="00000500000000000000" pitchFamily="2" charset="-94"/>
              </a:rPr>
              <a:t>is now smarter on Arm64 processors.</a:t>
            </a:r>
            <a:br>
              <a:rPr lang="en-US" sz="1600" dirty="0">
                <a:latin typeface="Poppins" panose="00000500000000000000" pitchFamily="2" charset="-94"/>
                <a:cs typeface="Poppins" panose="00000500000000000000" pitchFamily="2" charset="-94"/>
              </a:rPr>
            </a:br>
            <a:r>
              <a:rPr lang="en-US" sz="1600" dirty="0">
                <a:latin typeface="Poppins" panose="00000500000000000000" pitchFamily="2" charset="-94"/>
                <a:cs typeface="Poppins" panose="00000500000000000000" pitchFamily="2" charset="-94"/>
              </a:rPr>
              <a:t>It reduces unnecessary scanning of memory regions during GC cycles.</a:t>
            </a:r>
          </a:p>
        </p:txBody>
      </p:sp>
      <p:sp>
        <p:nvSpPr>
          <p:cNvPr id="5" name="TextBox 4">
            <a:extLst>
              <a:ext uri="{FF2B5EF4-FFF2-40B4-BE49-F238E27FC236}">
                <a16:creationId xmlns:a16="http://schemas.microsoft.com/office/drawing/2014/main" id="{4B30E1EA-C7BC-4506-9FA5-01EBD7CB9467}"/>
              </a:ext>
            </a:extLst>
          </p:cNvPr>
          <p:cNvSpPr txBox="1"/>
          <p:nvPr/>
        </p:nvSpPr>
        <p:spPr>
          <a:xfrm>
            <a:off x="695328" y="4836288"/>
            <a:ext cx="10948032" cy="1323439"/>
          </a:xfrm>
          <a:prstGeom prst="rect">
            <a:avLst/>
          </a:prstGeom>
          <a:noFill/>
        </p:spPr>
        <p:txBody>
          <a:bodyPr wrap="square">
            <a:spAutoFit/>
          </a:bodyPr>
          <a:lstStyle/>
          <a:p>
            <a:r>
              <a:rPr lang="en-US" sz="1600" dirty="0">
                <a:latin typeface="Poppins" panose="00000500000000000000" pitchFamily="2" charset="-94"/>
                <a:cs typeface="Poppins" panose="00000500000000000000" pitchFamily="2" charset="-94"/>
              </a:rPr>
              <a:t>✅ </a:t>
            </a:r>
            <a:r>
              <a:rPr lang="en-US" sz="1600" b="1" dirty="0">
                <a:latin typeface="Poppins" panose="00000500000000000000" pitchFamily="2" charset="-94"/>
                <a:cs typeface="Poppins" panose="00000500000000000000" pitchFamily="2" charset="-94"/>
              </a:rPr>
              <a:t>What this means:</a:t>
            </a:r>
          </a:p>
          <a:p>
            <a:endParaRPr lang="en-US" sz="1600" dirty="0">
              <a:latin typeface="Poppins" panose="00000500000000000000" pitchFamily="2" charset="-94"/>
              <a:cs typeface="Poppins" panose="00000500000000000000" pitchFamily="2" charset="-94"/>
            </a:endParaRPr>
          </a:p>
          <a:p>
            <a:pPr marL="285750" indent="-285750">
              <a:buFont typeface="Arial" panose="020B0604020202020204" pitchFamily="34" charset="0"/>
              <a:buChar char="•"/>
            </a:pPr>
            <a:r>
              <a:rPr lang="en-US" sz="1600" dirty="0">
                <a:latin typeface="Poppins" panose="00000500000000000000" pitchFamily="2" charset="-94"/>
                <a:cs typeface="Poppins" panose="00000500000000000000" pitchFamily="2" charset="-94"/>
              </a:rPr>
              <a:t>Faster and smoother garbage collection on Arm64 devices.</a:t>
            </a:r>
          </a:p>
          <a:p>
            <a:pPr marL="285750" indent="-285750">
              <a:buFont typeface="Arial" panose="020B0604020202020204" pitchFamily="34" charset="0"/>
              <a:buChar char="•"/>
            </a:pPr>
            <a:r>
              <a:rPr lang="en-US" sz="1600" dirty="0">
                <a:latin typeface="Poppins" panose="00000500000000000000" pitchFamily="2" charset="-94"/>
                <a:cs typeface="Poppins" panose="00000500000000000000" pitchFamily="2" charset="-94"/>
              </a:rPr>
              <a:t>Up to </a:t>
            </a:r>
            <a:r>
              <a:rPr lang="en-US" sz="1600" b="1" dirty="0">
                <a:latin typeface="Poppins" panose="00000500000000000000" pitchFamily="2" charset="-94"/>
                <a:cs typeface="Poppins" panose="00000500000000000000" pitchFamily="2" charset="-94"/>
              </a:rPr>
              <a:t>8–20% shorter GC pauses</a:t>
            </a:r>
            <a:r>
              <a:rPr lang="en-US" sz="1600" dirty="0">
                <a:latin typeface="Poppins" panose="00000500000000000000" pitchFamily="2" charset="-94"/>
                <a:cs typeface="Poppins" panose="00000500000000000000" pitchFamily="2" charset="-94"/>
              </a:rPr>
              <a:t> in some workloads.</a:t>
            </a:r>
          </a:p>
          <a:p>
            <a:pPr marL="285750" indent="-285750">
              <a:buFont typeface="Arial" panose="020B0604020202020204" pitchFamily="34" charset="0"/>
              <a:buChar char="•"/>
            </a:pPr>
            <a:r>
              <a:rPr lang="en-US" sz="1600" dirty="0">
                <a:latin typeface="Poppins" panose="00000500000000000000" pitchFamily="2" charset="-94"/>
                <a:cs typeface="Poppins" panose="00000500000000000000" pitchFamily="2" charset="-94"/>
              </a:rPr>
              <a:t>Better .NET performance on ARM-based servers and devices</a:t>
            </a:r>
          </a:p>
        </p:txBody>
      </p:sp>
      <p:sp>
        <p:nvSpPr>
          <p:cNvPr id="2" name="Rectangle: Rounded Corners 1">
            <a:extLst>
              <a:ext uri="{FF2B5EF4-FFF2-40B4-BE49-F238E27FC236}">
                <a16:creationId xmlns:a16="http://schemas.microsoft.com/office/drawing/2014/main" id="{2C73F17B-313F-E683-C594-A416F7407AB3}"/>
              </a:ext>
            </a:extLst>
          </p:cNvPr>
          <p:cNvSpPr/>
          <p:nvPr/>
        </p:nvSpPr>
        <p:spPr>
          <a:xfrm>
            <a:off x="548640" y="4602480"/>
            <a:ext cx="10007600" cy="1791057"/>
          </a:xfrm>
          <a:prstGeom prst="round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tr-TR"/>
          </a:p>
        </p:txBody>
      </p:sp>
    </p:spTree>
    <p:extLst>
      <p:ext uri="{BB962C8B-B14F-4D97-AF65-F5344CB8AC3E}">
        <p14:creationId xmlns:p14="http://schemas.microsoft.com/office/powerpoint/2010/main" val="262670640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91">
          <a:extLst>
            <a:ext uri="{FF2B5EF4-FFF2-40B4-BE49-F238E27FC236}">
              <a16:creationId xmlns:a16="http://schemas.microsoft.com/office/drawing/2014/main" id="{26A494BC-757C-503C-E601-7F235737974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4B14B31-CA9A-BC15-3D14-13AFCBBC304E}"/>
              </a:ext>
            </a:extLst>
          </p:cNvPr>
          <p:cNvSpPr txBox="1"/>
          <p:nvPr/>
        </p:nvSpPr>
        <p:spPr>
          <a:xfrm>
            <a:off x="0" y="867737"/>
            <a:ext cx="12192000" cy="5878532"/>
          </a:xfrm>
          <a:prstGeom prst="rect">
            <a:avLst/>
          </a:prstGeom>
          <a:noFill/>
        </p:spPr>
        <p:txBody>
          <a:bodyPr wrap="square">
            <a:spAutoFit/>
          </a:bodyPr>
          <a:lstStyle/>
          <a:p>
            <a:pPr algn="ctr"/>
            <a:r>
              <a:rPr lang="en-US" sz="48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Lexend"/>
                <a:ea typeface="Lexend"/>
                <a:cs typeface="Lexend"/>
                <a:sym typeface="Lexend"/>
              </a:rPr>
              <a:t>BLACK FRIDAY DISCOUNT</a:t>
            </a:r>
            <a:endParaRPr lang="tr-TR" sz="48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endParaRPr>
          </a:p>
          <a:p>
            <a:pPr algn="ctr"/>
            <a:br>
              <a:rPr lang="en-US" sz="4800" b="1" dirty="0">
                <a:solidFill>
                  <a:srgbClr val="292D33"/>
                </a:solidFill>
                <a:latin typeface="Lexend"/>
                <a:ea typeface="Lexend"/>
                <a:cs typeface="Lexend"/>
                <a:sym typeface="Lexend"/>
              </a:rPr>
            </a:br>
            <a:r>
              <a:rPr lang="en-US" sz="4000" b="1" dirty="0">
                <a:solidFill>
                  <a:srgbClr val="292D33"/>
                </a:solidFill>
                <a:latin typeface="Lexend"/>
                <a:ea typeface="Lexend"/>
                <a:cs typeface="Lexend"/>
                <a:sym typeface="Lexend"/>
              </a:rPr>
              <a:t>When?</a:t>
            </a:r>
          </a:p>
          <a:p>
            <a:pPr algn="ctr"/>
            <a:r>
              <a:rPr lang="en-US" sz="4000" dirty="0">
                <a:solidFill>
                  <a:srgbClr val="292D33"/>
                </a:solidFill>
                <a:latin typeface="Lexend"/>
                <a:ea typeface="Lexend"/>
                <a:cs typeface="Lexend"/>
                <a:sym typeface="Lexend"/>
              </a:rPr>
              <a:t>Starts: 2025-11-24 Ends: 2025-12-01</a:t>
            </a:r>
            <a:br>
              <a:rPr lang="en-US" sz="4000" dirty="0">
                <a:solidFill>
                  <a:srgbClr val="292D33"/>
                </a:solidFill>
                <a:latin typeface="Lexend"/>
                <a:ea typeface="Lexend"/>
                <a:cs typeface="Lexend"/>
                <a:sym typeface="Lexend"/>
              </a:rPr>
            </a:br>
            <a:endParaRPr lang="en-US" sz="4000" dirty="0">
              <a:solidFill>
                <a:srgbClr val="292D33"/>
              </a:solidFill>
              <a:latin typeface="Lexend"/>
              <a:ea typeface="Lexend"/>
              <a:cs typeface="Lexend"/>
              <a:sym typeface="Lexend"/>
            </a:endParaRPr>
          </a:p>
          <a:p>
            <a:pPr algn="ctr"/>
            <a:r>
              <a:rPr lang="en-US" sz="4000" b="1" dirty="0">
                <a:solidFill>
                  <a:srgbClr val="292D33"/>
                </a:solidFill>
                <a:latin typeface="Lexend"/>
                <a:ea typeface="Lexend"/>
                <a:cs typeface="Lexend"/>
                <a:sym typeface="Lexend"/>
              </a:rPr>
              <a:t>What’s Included?</a:t>
            </a:r>
            <a:endParaRPr lang="en-US" sz="4000" dirty="0">
              <a:solidFill>
                <a:srgbClr val="292D33"/>
              </a:solidFill>
              <a:latin typeface="Lexend"/>
              <a:ea typeface="Lexend"/>
              <a:cs typeface="Lexend"/>
              <a:sym typeface="Lexend"/>
            </a:endParaRPr>
          </a:p>
          <a:p>
            <a:pPr algn="ctr"/>
            <a:r>
              <a:rPr lang="en-US" sz="4000" dirty="0">
                <a:solidFill>
                  <a:srgbClr val="292D33"/>
                </a:solidFill>
                <a:latin typeface="Lexend"/>
                <a:sym typeface="Lexend"/>
              </a:rPr>
              <a:t>New license purchase </a:t>
            </a:r>
            <a:br>
              <a:rPr lang="en-US" sz="4000" dirty="0">
                <a:solidFill>
                  <a:srgbClr val="292D33"/>
                </a:solidFill>
                <a:latin typeface="Lexend"/>
                <a:sym typeface="Lexend"/>
              </a:rPr>
            </a:br>
            <a:r>
              <a:rPr lang="en-US" sz="4000" dirty="0">
                <a:solidFill>
                  <a:srgbClr val="292D33"/>
                </a:solidFill>
                <a:latin typeface="Lexend"/>
                <a:sym typeface="Lexend"/>
              </a:rPr>
              <a:t>Existing license renewals </a:t>
            </a:r>
            <a:br>
              <a:rPr lang="en-US" sz="4000" dirty="0">
                <a:solidFill>
                  <a:srgbClr val="292D33"/>
                </a:solidFill>
                <a:latin typeface="Lexend"/>
                <a:sym typeface="Lexend"/>
              </a:rPr>
            </a:br>
            <a:r>
              <a:rPr lang="en-US" sz="4000" dirty="0">
                <a:solidFill>
                  <a:srgbClr val="292D33"/>
                </a:solidFill>
                <a:latin typeface="Lexend"/>
                <a:sym typeface="Lexend"/>
              </a:rPr>
              <a:t>Extra developer seats</a:t>
            </a:r>
            <a:endParaRPr lang="en-US" sz="4000" dirty="0"/>
          </a:p>
        </p:txBody>
      </p:sp>
      <p:cxnSp>
        <p:nvCxnSpPr>
          <p:cNvPr id="4" name="Straight Connector 3">
            <a:extLst>
              <a:ext uri="{FF2B5EF4-FFF2-40B4-BE49-F238E27FC236}">
                <a16:creationId xmlns:a16="http://schemas.microsoft.com/office/drawing/2014/main" id="{2E38C070-9ADD-CF04-592D-692907A97149}"/>
              </a:ext>
            </a:extLst>
          </p:cNvPr>
          <p:cNvCxnSpPr/>
          <p:nvPr/>
        </p:nvCxnSpPr>
        <p:spPr>
          <a:xfrm>
            <a:off x="426720" y="3873500"/>
            <a:ext cx="11338560" cy="0"/>
          </a:xfrm>
          <a:prstGeom prst="line">
            <a:avLst/>
          </a:prstGeom>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75948257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91">
          <a:extLst>
            <a:ext uri="{FF2B5EF4-FFF2-40B4-BE49-F238E27FC236}">
              <a16:creationId xmlns:a16="http://schemas.microsoft.com/office/drawing/2014/main" id="{FA00270C-27EC-81C9-CBC8-99AD487C387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F349CC6-E0FF-E902-E054-5DC2A1FDECB1}"/>
              </a:ext>
            </a:extLst>
          </p:cNvPr>
          <p:cNvSpPr txBox="1"/>
          <p:nvPr/>
        </p:nvSpPr>
        <p:spPr>
          <a:xfrm>
            <a:off x="172720" y="227657"/>
            <a:ext cx="11938000" cy="5755422"/>
          </a:xfrm>
          <a:prstGeom prst="rect">
            <a:avLst/>
          </a:prstGeom>
          <a:noFill/>
        </p:spPr>
        <p:txBody>
          <a:bodyPr wrap="square">
            <a:spAutoFit/>
          </a:bodyPr>
          <a:lstStyle/>
          <a:p>
            <a:pPr algn="ctr"/>
            <a:r>
              <a:rPr lang="en-US" sz="40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Lexend"/>
                <a:ea typeface="Lexend"/>
                <a:cs typeface="Lexend"/>
                <a:sym typeface="Lexend"/>
              </a:rPr>
              <a:t>ABP REFERRAL PROGRAM</a:t>
            </a:r>
          </a:p>
          <a:p>
            <a:pPr algn="ctr"/>
            <a:br>
              <a:rPr lang="en-US" sz="4000" b="1" dirty="0">
                <a:solidFill>
                  <a:srgbClr val="292D33"/>
                </a:solidFill>
                <a:latin typeface="Lexend"/>
                <a:ea typeface="Lexend"/>
                <a:cs typeface="Lexend"/>
                <a:sym typeface="Lexend"/>
              </a:rPr>
            </a:br>
            <a:r>
              <a:rPr lang="en-US" sz="3200" b="1" dirty="0">
                <a:solidFill>
                  <a:srgbClr val="292D33"/>
                </a:solidFill>
                <a:latin typeface="Lexend"/>
                <a:ea typeface="Lexend"/>
                <a:cs typeface="Lexend"/>
                <a:sym typeface="Lexend"/>
              </a:rPr>
              <a:t>Who can apply? </a:t>
            </a:r>
          </a:p>
          <a:p>
            <a:pPr algn="ctr"/>
            <a:r>
              <a:rPr lang="en-US" sz="3200" dirty="0">
                <a:solidFill>
                  <a:srgbClr val="292D33"/>
                </a:solidFill>
                <a:latin typeface="Lexend"/>
                <a:ea typeface="Lexend"/>
                <a:cs typeface="Lexend"/>
                <a:sym typeface="Lexend"/>
              </a:rPr>
              <a:t>ABP customers with past or active license holders</a:t>
            </a:r>
            <a:br>
              <a:rPr lang="en-US" sz="3200" dirty="0">
                <a:solidFill>
                  <a:srgbClr val="292D33"/>
                </a:solidFill>
                <a:latin typeface="Lexend"/>
                <a:ea typeface="Lexend"/>
                <a:cs typeface="Lexend"/>
                <a:sym typeface="Lexend"/>
              </a:rPr>
            </a:br>
            <a:endParaRPr lang="en-US" sz="3200" dirty="0">
              <a:solidFill>
                <a:srgbClr val="292D33"/>
              </a:solidFill>
              <a:latin typeface="Lexend"/>
              <a:ea typeface="Lexend"/>
              <a:cs typeface="Lexend"/>
              <a:sym typeface="Lexend"/>
            </a:endParaRPr>
          </a:p>
          <a:p>
            <a:pPr algn="ctr"/>
            <a:r>
              <a:rPr lang="en-US" sz="3200" b="1" dirty="0">
                <a:solidFill>
                  <a:srgbClr val="292D33"/>
                </a:solidFill>
                <a:latin typeface="Lexend"/>
                <a:ea typeface="Lexend"/>
                <a:cs typeface="Lexend"/>
                <a:sym typeface="Lexend"/>
              </a:rPr>
              <a:t>Reward</a:t>
            </a:r>
            <a:endParaRPr lang="en-US" sz="3200" dirty="0">
              <a:solidFill>
                <a:srgbClr val="292D33"/>
              </a:solidFill>
              <a:latin typeface="Lexend"/>
              <a:ea typeface="Lexend"/>
              <a:cs typeface="Lexend"/>
              <a:sym typeface="Lexend"/>
            </a:endParaRPr>
          </a:p>
          <a:p>
            <a:pPr algn="ctr"/>
            <a:r>
              <a:rPr lang="en-US" sz="3200" dirty="0">
                <a:solidFill>
                  <a:srgbClr val="292D33"/>
                </a:solidFill>
                <a:latin typeface="Lexend"/>
                <a:ea typeface="Lexend"/>
                <a:cs typeface="Lexend"/>
                <a:sym typeface="Lexend"/>
              </a:rPr>
              <a:t>5% commission from total amount of purchase</a:t>
            </a:r>
            <a:br>
              <a:rPr lang="en-US" sz="3200" dirty="0">
                <a:solidFill>
                  <a:srgbClr val="292D33"/>
                </a:solidFill>
                <a:latin typeface="Lexend"/>
                <a:ea typeface="Lexend"/>
                <a:cs typeface="Lexend"/>
                <a:sym typeface="Lexend"/>
              </a:rPr>
            </a:br>
            <a:endParaRPr lang="en-US" sz="3200" dirty="0">
              <a:solidFill>
                <a:srgbClr val="292D33"/>
              </a:solidFill>
              <a:latin typeface="Lexend"/>
              <a:ea typeface="Lexend"/>
              <a:cs typeface="Lexend"/>
              <a:sym typeface="Lexend"/>
            </a:endParaRPr>
          </a:p>
          <a:p>
            <a:pPr algn="ctr"/>
            <a:r>
              <a:rPr lang="en-US" sz="3200" b="1" dirty="0">
                <a:solidFill>
                  <a:srgbClr val="292D33"/>
                </a:solidFill>
                <a:latin typeface="Lexend"/>
                <a:ea typeface="Lexend"/>
                <a:cs typeface="Lexend"/>
                <a:sym typeface="Lexend"/>
              </a:rPr>
              <a:t>Limitations (2)</a:t>
            </a:r>
          </a:p>
          <a:p>
            <a:pPr algn="ctr"/>
            <a:r>
              <a:rPr lang="en-US" sz="3200" b="1" dirty="0">
                <a:solidFill>
                  <a:srgbClr val="292D33"/>
                </a:solidFill>
                <a:latin typeface="Lexend"/>
                <a:ea typeface="Lexend"/>
                <a:cs typeface="Lexend"/>
                <a:sym typeface="Lexend"/>
              </a:rPr>
              <a:t>1.</a:t>
            </a:r>
            <a:r>
              <a:rPr lang="en-US" sz="3200" dirty="0">
                <a:solidFill>
                  <a:srgbClr val="292D33"/>
                </a:solidFill>
                <a:latin typeface="Lexend"/>
                <a:ea typeface="Lexend"/>
                <a:cs typeface="Lexend"/>
                <a:sym typeface="Lexend"/>
              </a:rPr>
              <a:t> Cannot refer your own company</a:t>
            </a:r>
          </a:p>
          <a:p>
            <a:pPr algn="ctr"/>
            <a:r>
              <a:rPr lang="en-US" sz="3200" b="1" dirty="0">
                <a:solidFill>
                  <a:srgbClr val="292D33"/>
                </a:solidFill>
                <a:latin typeface="Lexend"/>
                <a:ea typeface="Lexend"/>
                <a:cs typeface="Lexend"/>
                <a:sym typeface="Lexend"/>
              </a:rPr>
              <a:t>2. </a:t>
            </a:r>
            <a:r>
              <a:rPr lang="en-US" sz="3200" dirty="0">
                <a:solidFill>
                  <a:srgbClr val="292D33"/>
                </a:solidFill>
                <a:latin typeface="Lexend"/>
                <a:ea typeface="Lexend"/>
                <a:cs typeface="Lexend"/>
                <a:sym typeface="Lexend"/>
              </a:rPr>
              <a:t>Applies only to new purchases (not renewals)</a:t>
            </a:r>
            <a:endParaRPr lang="en-US" sz="3200" dirty="0"/>
          </a:p>
        </p:txBody>
      </p:sp>
      <p:cxnSp>
        <p:nvCxnSpPr>
          <p:cNvPr id="4" name="Straight Connector 3">
            <a:extLst>
              <a:ext uri="{FF2B5EF4-FFF2-40B4-BE49-F238E27FC236}">
                <a16:creationId xmlns:a16="http://schemas.microsoft.com/office/drawing/2014/main" id="{5248C4F6-0B0D-957F-1E4B-A9104ACD4CBC}"/>
              </a:ext>
            </a:extLst>
          </p:cNvPr>
          <p:cNvCxnSpPr/>
          <p:nvPr/>
        </p:nvCxnSpPr>
        <p:spPr>
          <a:xfrm>
            <a:off x="406400" y="2763520"/>
            <a:ext cx="11338560" cy="0"/>
          </a:xfrm>
          <a:prstGeom prst="line">
            <a:avLst/>
          </a:prstGeom>
        </p:spPr>
        <p:style>
          <a:lnRef idx="1">
            <a:schemeClr val="dk1"/>
          </a:lnRef>
          <a:fillRef idx="0">
            <a:schemeClr val="dk1"/>
          </a:fillRef>
          <a:effectRef idx="0">
            <a:schemeClr val="dk1"/>
          </a:effectRef>
          <a:fontRef idx="minor">
            <a:schemeClr val="tx1"/>
          </a:fontRef>
        </p:style>
      </p:cxnSp>
      <p:cxnSp>
        <p:nvCxnSpPr>
          <p:cNvPr id="5" name="Straight Connector 4">
            <a:extLst>
              <a:ext uri="{FF2B5EF4-FFF2-40B4-BE49-F238E27FC236}">
                <a16:creationId xmlns:a16="http://schemas.microsoft.com/office/drawing/2014/main" id="{783CCD6C-392A-F6BC-C8E8-0592E0366184}"/>
              </a:ext>
            </a:extLst>
          </p:cNvPr>
          <p:cNvCxnSpPr/>
          <p:nvPr/>
        </p:nvCxnSpPr>
        <p:spPr>
          <a:xfrm>
            <a:off x="426720" y="4277360"/>
            <a:ext cx="11338560" cy="0"/>
          </a:xfrm>
          <a:prstGeom prst="line">
            <a:avLst/>
          </a:prstGeom>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923955890"/>
      </p:ext>
    </p:extLst>
  </p:cSld>
  <p:clrMapOvr>
    <a:masterClrMapping/>
  </p:clrMapOvr>
</p:sld>
</file>

<file path=ppt/theme/theme1.xml><?xml version="1.0" encoding="utf-8"?>
<a:theme xmlns:a="http://schemas.openxmlformats.org/drawingml/2006/main" name="Office Teması">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eması">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664</TotalTime>
  <Words>1786</Words>
  <Application>Microsoft Office PowerPoint</Application>
  <PresentationFormat>Widescreen</PresentationFormat>
  <Paragraphs>183</Paragraphs>
  <Slides>23</Slides>
  <Notes>23</Notes>
  <HiddenSlides>4</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23</vt:i4>
      </vt:variant>
    </vt:vector>
  </HeadingPairs>
  <TitlesOfParts>
    <vt:vector size="34" baseType="lpstr">
      <vt:lpstr>Poppins Medium</vt:lpstr>
      <vt:lpstr>Bradley Hand ITC</vt:lpstr>
      <vt:lpstr>Consolas</vt:lpstr>
      <vt:lpstr>Arial</vt:lpstr>
      <vt:lpstr>Segoe UI</vt:lpstr>
      <vt:lpstr>Kalam</vt:lpstr>
      <vt:lpstr>Poppins</vt:lpstr>
      <vt:lpstr>-apple-system</vt:lpstr>
      <vt:lpstr>Lexend</vt:lpstr>
      <vt:lpstr>Play</vt:lpstr>
      <vt:lpstr>Office Teması</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Volosoft Bilisim</dc:creator>
  <cp:lastModifiedBy>Alper Ebiçoğlu</cp:lastModifiedBy>
  <cp:revision>142</cp:revision>
  <dcterms:created xsi:type="dcterms:W3CDTF">2024-10-07T11:11:00Z</dcterms:created>
  <dcterms:modified xsi:type="dcterms:W3CDTF">2025-11-13T13:38:31Z</dcterms:modified>
</cp:coreProperties>
</file>