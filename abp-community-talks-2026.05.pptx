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323" r:id="rId2"/>
    <p:sldId id="303" r:id="rId3"/>
    <p:sldId id="334" r:id="rId4"/>
    <p:sldId id="338" r:id="rId5"/>
    <p:sldId id="344" r:id="rId6"/>
    <p:sldId id="343" r:id="rId7"/>
    <p:sldId id="345" r:id="rId8"/>
    <p:sldId id="342" r:id="rId9"/>
    <p:sldId id="341" r:id="rId10"/>
    <p:sldId id="310" r:id="rId11"/>
    <p:sldId id="324" r:id="rId12"/>
    <p:sldId id="346" r:id="rId13"/>
  </p:sldIdLst>
  <p:sldSz cx="12192000" cy="6858000"/>
  <p:notesSz cx="6858000" cy="9144000"/>
  <p:embeddedFontLst>
    <p:embeddedFont>
      <p:font typeface="Lexend" pitchFamily="2" charset="-94"/>
      <p:regular r:id="rId15"/>
      <p:bold r:id="rId16"/>
    </p:embeddedFont>
    <p:embeddedFont>
      <p:font typeface="Lexend Light" pitchFamily="2" charset="-94"/>
      <p:regular r:id="rId17"/>
    </p:embeddedFont>
    <p:embeddedFont>
      <p:font typeface="Play" panose="020B0604020202020204" charset="0"/>
      <p:regular r:id="rId18"/>
      <p:bold r:id="rId19"/>
    </p:embeddedFont>
    <p:embeddedFont>
      <p:font typeface="Poppins" panose="00000500000000000000" pitchFamily="2" charset="-94"/>
      <p:regular r:id="rId20"/>
      <p:bold r:id="rId21"/>
      <p:italic r:id="rId22"/>
      <p:boldItalic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77576" autoAdjust="0"/>
  </p:normalViewPr>
  <p:slideViewPr>
    <p:cSldViewPr snapToGrid="0">
      <p:cViewPr varScale="1">
        <p:scale>
          <a:sx n="86" d="100"/>
          <a:sy n="86" d="100"/>
        </p:scale>
        <p:origin x="147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51"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4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4577C1C-8784-784B-ED4F-8D5A2A4DC5F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D3BAF1EC-614D-F4C5-82B4-14739E8CFD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Angular Service Proxies automatically generate strongly typed services, DTOs, and enums from ABP backend APIs.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This reduces repetitive frontend work, keeps Angular applications synchronized with backend contracts, and makes API integration faster and more reliable.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678637-FB11-2D31-B521-BEB8AF1D83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3433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8668F22-D0FE-D43C-4874-D9D42E42075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8B6678B-E173-F9DE-9593-0C8250933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Suite now generates complete React CRUD pages for modern ABP applications using customizable templates. Generated pages support core operations such as listing, filtering, paging, exporting, creating, editing, and deleting, along with validation, permissions, localization, file uploads, relationships, and master-detail scenarios—all based on the entity configuration defined in ABP Suite.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AA515A2-4B08-911A-2673-B84D84E306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5699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9EAA97B-A03E-25BC-06F5-F67E27F2022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520E716-FF4A-44C6-A9B9-E9BF5B01CC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Studio v3.0.9 introduces a simpler way to configure MCP integrations for the AI Agent.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Developers can add common integrations through focused forms or manage the complete server list as JSON, with support for secret placeholders, secure platform storage, connection status, and per-tool controls.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B1B7D3E-56E0-5818-AAE8-6E8C2471EE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4932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0EB9757-0510-D434-EB7D-AEDE8BE27F1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115154-DDD0-07C8-E73E-E1E8EDA181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AI Management </a:t>
            </a:r>
            <a:r>
              <a:rPr lang="en-US" sz="2000" dirty="0"/>
              <a:t>module </a:t>
            </a:r>
            <a:r>
              <a:rPr lang="tr-TR" sz="2000" dirty="0"/>
              <a:t>now lets users create workspace data sources directly from web page URLs.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The page content is converted to Markdown, indexed for AI use, and can be refreshed as the source changes.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Workspace settings also suggest available models for supported providers such as OpenAI and Ollama</a:t>
            </a:r>
            <a:r>
              <a:rPr lang="en-US" sz="2000" dirty="0"/>
              <a:t>.</a:t>
            </a:r>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2000" dirty="0"/>
              <a:t>It</a:t>
            </a:r>
            <a:r>
              <a:rPr lang="tr-TR" sz="2000" dirty="0"/>
              <a:t> mak</a:t>
            </a:r>
            <a:r>
              <a:rPr lang="en-US" sz="2000" dirty="0"/>
              <a:t>es </a:t>
            </a:r>
            <a:r>
              <a:rPr lang="tr-TR" sz="2000" dirty="0"/>
              <a:t>configuration faster </a:t>
            </a:r>
            <a:r>
              <a:rPr lang="en-US" sz="2000" dirty="0"/>
              <a:t>with</a:t>
            </a:r>
            <a:r>
              <a:rPr lang="tr-TR" sz="2000" dirty="0"/>
              <a:t> less error.</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DEA34AE2-14F5-BAB9-01C4-F1DB5D586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70458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07416D7-DFD1-43D1-B6F5-997FC80F01D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0FC6B3-A182-8DBA-9D45-5BC5CFFC40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First New Method in 16 Years: This is the first standard method (verb) added to the HTTP protocol since the PATCH method in 2010.</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The IETF (Internet Engineering Task Force) officially published the HTTP QUERY method as RFC 10008 standard on June 15, 2026.</a:t>
            </a:r>
          </a:p>
        </p:txBody>
      </p:sp>
      <p:sp>
        <p:nvSpPr>
          <p:cNvPr id="105" name="Google Shape;105;p2:notes">
            <a:extLst>
              <a:ext uri="{FF2B5EF4-FFF2-40B4-BE49-F238E27FC236}">
                <a16:creationId xmlns:a16="http://schemas.microsoft.com/office/drawing/2014/main" id="{7E1C7C65-73C0-F4FE-C43D-221EAE4655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876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2D38F40-9066-4D5A-77E0-CA12C9C560D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64CBE58-C90E-5CEB-709F-EDB4C4488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C524C94C-C381-2286-A296-8E52BBC7AF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6564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8253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C77035-582E-A0EC-693B-E7BAC36672A7}"/>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AA9AFA-EA93-794D-A6B1-6688B7623A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44DD40F-DACA-194B-D7C8-312959EC89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7824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abp.io/community/announcements/announcing-abp-10-7-release-candidate-2u85sb0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atatracker.ietf.org/doc/rfc10008/"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688371" y="2387698"/>
            <a:ext cx="9584380" cy="2554505"/>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a:buClr>
                <a:schemeClr val="bg1">
                  <a:lumMod val="50000"/>
                </a:schemeClr>
              </a:buClr>
              <a:buSzPts val="3200"/>
            </a:pPr>
            <a:endParaRPr lang="en-US" sz="4000" b="1" noProof="0" dirty="0">
              <a:solidFill>
                <a:schemeClr val="bg1">
                  <a:lumMod val="50000"/>
                </a:schemeClr>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endParaRPr lang="en-US" sz="4000" noProof="0" dirty="0">
              <a:solidFill>
                <a:schemeClr val="tx1"/>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Introducing Low-Code </a:t>
            </a:r>
            <a:r>
              <a:rPr lang="en-US" sz="4000" dirty="0">
                <a:solidFill>
                  <a:schemeClr val="tx1"/>
                </a:solidFill>
                <a:latin typeface="Lexend" pitchFamily="2" charset="-94"/>
                <a:ea typeface="Lexend"/>
                <a:cs typeface="Lexend"/>
                <a:sym typeface="Lexend"/>
              </a:rPr>
              <a:t>module</a:t>
            </a:r>
            <a:endParaRPr lang="en-US" sz="4000" noProof="0" dirty="0">
              <a:solidFill>
                <a:schemeClr val="tx1"/>
              </a:solidFill>
              <a:latin typeface="Lexend" pitchFamily="2" charset="-94"/>
              <a:ea typeface="Lexend"/>
              <a:cs typeface="Lexend"/>
              <a:sym typeface="Lexend"/>
            </a:endParaRP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Talk#2026.05</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701564"/>
            <a:ext cx="9794240" cy="461665"/>
          </a:xfrm>
          <a:prstGeom prst="rect">
            <a:avLst/>
          </a:prstGeom>
          <a:noFill/>
        </p:spPr>
        <p:txBody>
          <a:bodyPr wrap="square">
            <a:spAutoFit/>
          </a:bodyPr>
          <a:lstStyle/>
          <a:p>
            <a:pPr algn="ctr"/>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a:t>
            </a:r>
          </a:p>
        </p:txBody>
      </p:sp>
      <p:pic>
        <p:nvPicPr>
          <p:cNvPr id="3" name="Picture 2">
            <a:extLst>
              <a:ext uri="{FF2B5EF4-FFF2-40B4-BE49-F238E27FC236}">
                <a16:creationId xmlns:a16="http://schemas.microsoft.com/office/drawing/2014/main" id="{B9778749-F8AE-B8D8-21CD-EA654BF2632A}"/>
              </a:ext>
            </a:extLst>
          </p:cNvPr>
          <p:cNvPicPr>
            <a:picLocks noChangeAspect="1"/>
          </p:cNvPicPr>
          <p:nvPr/>
        </p:nvPicPr>
        <p:blipFill>
          <a:blip r:embed="rId6"/>
          <a:stretch>
            <a:fillRect/>
          </a:stretch>
        </p:blipFill>
        <p:spPr>
          <a:xfrm>
            <a:off x="9648638" y="745603"/>
            <a:ext cx="1832727" cy="1800000"/>
          </a:xfrm>
          <a:prstGeom prst="rect">
            <a:avLst/>
          </a:prstGeom>
        </p:spPr>
      </p:pic>
      <p:pic>
        <p:nvPicPr>
          <p:cNvPr id="10" name="Picture 9">
            <a:extLst>
              <a:ext uri="{FF2B5EF4-FFF2-40B4-BE49-F238E27FC236}">
                <a16:creationId xmlns:a16="http://schemas.microsoft.com/office/drawing/2014/main" id="{5C4202F8-D39B-FDD6-42E1-F2DCDDA52ECE}"/>
              </a:ext>
            </a:extLst>
          </p:cNvPr>
          <p:cNvPicPr>
            <a:picLocks noChangeAspect="1"/>
          </p:cNvPicPr>
          <p:nvPr/>
        </p:nvPicPr>
        <p:blipFill>
          <a:blip r:embed="rId7"/>
          <a:stretch>
            <a:fillRect/>
          </a:stretch>
        </p:blipFill>
        <p:spPr>
          <a:xfrm>
            <a:off x="9686898" y="3268768"/>
            <a:ext cx="1778507" cy="1800000"/>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1161F-7AB2-51EE-2B0C-9F33299A6564}"/>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E04BA65-89E4-1B53-FD25-1C5666DC40A2}"/>
              </a:ext>
            </a:extLst>
          </p:cNvPr>
          <p:cNvPicPr>
            <a:picLocks noChangeAspect="1"/>
          </p:cNvPicPr>
          <p:nvPr/>
        </p:nvPicPr>
        <p:blipFill>
          <a:blip r:embed="rId5"/>
          <a:stretch>
            <a:fillRect/>
          </a:stretch>
        </p:blipFill>
        <p:spPr>
          <a:xfrm>
            <a:off x="442453" y="1178529"/>
            <a:ext cx="8780463" cy="4693787"/>
          </a:xfrm>
          <a:prstGeom prst="rect">
            <a:avLst/>
          </a:prstGeom>
        </p:spPr>
      </p:pic>
      <p:pic>
        <p:nvPicPr>
          <p:cNvPr id="10" name="Picture 9">
            <a:extLst>
              <a:ext uri="{FF2B5EF4-FFF2-40B4-BE49-F238E27FC236}">
                <a16:creationId xmlns:a16="http://schemas.microsoft.com/office/drawing/2014/main" id="{B0724FF2-7126-DF8A-6424-B2E1A47BE97F}"/>
              </a:ext>
            </a:extLst>
          </p:cNvPr>
          <p:cNvPicPr>
            <a:picLocks noChangeAspect="1"/>
          </p:cNvPicPr>
          <p:nvPr/>
        </p:nvPicPr>
        <p:blipFill>
          <a:blip r:embed="rId6"/>
          <a:stretch>
            <a:fillRect/>
          </a:stretch>
        </p:blipFill>
        <p:spPr>
          <a:xfrm>
            <a:off x="10792460" y="5497351"/>
            <a:ext cx="1085073" cy="1098305"/>
          </a:xfrm>
          <a:prstGeom prst="rect">
            <a:avLst/>
          </a:prstGeom>
        </p:spPr>
      </p:pic>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62F5168-DDA8-803A-2558-80D2EA3AD1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7E732-9259-814F-49E6-A547976154A3}"/>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C8CE49C0-B4F6-3CC1-7C1B-A38C709B940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A6636F04-8455-9178-5002-7CE42F1392A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CEDF462-A699-4C39-3DD6-2782D3F7F10F}"/>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D49E413F-38A0-A4C4-F4C3-A46C209389AC}"/>
              </a:ext>
            </a:extLst>
          </p:cNvPr>
          <p:cNvPicPr>
            <a:picLocks noChangeAspect="1"/>
          </p:cNvPicPr>
          <p:nvPr/>
        </p:nvPicPr>
        <p:blipFill>
          <a:blip r:embed="rId6"/>
          <a:stretch>
            <a:fillRect/>
          </a:stretch>
        </p:blipFill>
        <p:spPr>
          <a:xfrm>
            <a:off x="517667" y="1606870"/>
            <a:ext cx="9001125" cy="3276600"/>
          </a:xfrm>
          <a:prstGeom prst="rect">
            <a:avLst/>
          </a:prstGeom>
        </p:spPr>
      </p:pic>
    </p:spTree>
    <p:extLst>
      <p:ext uri="{BB962C8B-B14F-4D97-AF65-F5344CB8AC3E}">
        <p14:creationId xmlns:p14="http://schemas.microsoft.com/office/powerpoint/2010/main" val="2539426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8CBCDF1-C83D-4AA2-7333-05E098360E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0EC48-567E-43FA-5ACF-2A9DB0E21C95}"/>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78143DB3-628F-5662-EB48-5109C1FE200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3B746B18-7A46-23A0-88F1-03C13790839E}"/>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EE0AE81-0FBF-13E2-273A-B67F31EF4A79}"/>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14A8D5D-4865-E346-30E2-D84BD0DB6614}"/>
              </a:ext>
            </a:extLst>
          </p:cNvPr>
          <p:cNvPicPr>
            <a:picLocks noChangeAspect="1"/>
          </p:cNvPicPr>
          <p:nvPr/>
        </p:nvPicPr>
        <p:blipFill>
          <a:blip r:embed="rId6"/>
          <a:srcRect b="77788"/>
          <a:stretch>
            <a:fillRect/>
          </a:stretch>
        </p:blipFill>
        <p:spPr>
          <a:xfrm>
            <a:off x="442453" y="1222772"/>
            <a:ext cx="9010650" cy="1366735"/>
          </a:xfrm>
          <a:prstGeom prst="rect">
            <a:avLst/>
          </a:prstGeom>
        </p:spPr>
      </p:pic>
      <p:pic>
        <p:nvPicPr>
          <p:cNvPr id="7" name="Picture 6">
            <a:extLst>
              <a:ext uri="{FF2B5EF4-FFF2-40B4-BE49-F238E27FC236}">
                <a16:creationId xmlns:a16="http://schemas.microsoft.com/office/drawing/2014/main" id="{3BD109A3-20DE-896E-E0D9-C4E6B859D088}"/>
              </a:ext>
            </a:extLst>
          </p:cNvPr>
          <p:cNvPicPr>
            <a:picLocks noChangeAspect="1"/>
          </p:cNvPicPr>
          <p:nvPr/>
        </p:nvPicPr>
        <p:blipFill>
          <a:blip r:embed="rId7"/>
          <a:srcRect b="36882"/>
          <a:stretch>
            <a:fillRect/>
          </a:stretch>
        </p:blipFill>
        <p:spPr>
          <a:xfrm>
            <a:off x="517666" y="2690674"/>
            <a:ext cx="8020091" cy="336443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31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6BB883E-B174-C2CC-9E9B-AF798A8783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A0FC94-376F-A22B-6941-671B19736230}"/>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9FB975DD-8B93-8C60-E49B-16977E1D87D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81496A2-A189-3027-E6A6-428B3B356F9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03E661D-EC42-F819-DBA7-5DBE4E0CDED2}"/>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55103C6-6090-7C15-F5D5-50519AC9444D}"/>
              </a:ext>
            </a:extLst>
          </p:cNvPr>
          <p:cNvPicPr>
            <a:picLocks noChangeAspect="1"/>
          </p:cNvPicPr>
          <p:nvPr/>
        </p:nvPicPr>
        <p:blipFill>
          <a:blip r:embed="rId6"/>
          <a:stretch>
            <a:fillRect/>
          </a:stretch>
        </p:blipFill>
        <p:spPr>
          <a:xfrm>
            <a:off x="517667" y="1946118"/>
            <a:ext cx="9672237" cy="2101773"/>
          </a:xfrm>
          <a:prstGeom prst="rect">
            <a:avLst/>
          </a:prstGeom>
        </p:spPr>
      </p:pic>
      <p:sp>
        <p:nvSpPr>
          <p:cNvPr id="7" name="TextBox 6">
            <a:extLst>
              <a:ext uri="{FF2B5EF4-FFF2-40B4-BE49-F238E27FC236}">
                <a16:creationId xmlns:a16="http://schemas.microsoft.com/office/drawing/2014/main" id="{40BFE3EA-154E-897F-7AC0-B23A2AFE4009}"/>
              </a:ext>
            </a:extLst>
          </p:cNvPr>
          <p:cNvSpPr txBox="1"/>
          <p:nvPr/>
        </p:nvSpPr>
        <p:spPr>
          <a:xfrm>
            <a:off x="7496409" y="2027163"/>
            <a:ext cx="2461631" cy="40011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sz="2000" dirty="0">
                <a:latin typeface="Lexend Light" pitchFamily="2" charset="-94"/>
              </a:rPr>
              <a:t>ABP Studio v3.0.9 </a:t>
            </a:r>
            <a:endParaRPr lang="tr-TR" dirty="0">
              <a:latin typeface="Lexend Light" pitchFamily="2" charset="-94"/>
            </a:endParaRPr>
          </a:p>
        </p:txBody>
      </p:sp>
    </p:spTree>
    <p:extLst>
      <p:ext uri="{BB962C8B-B14F-4D97-AF65-F5344CB8AC3E}">
        <p14:creationId xmlns:p14="http://schemas.microsoft.com/office/powerpoint/2010/main" val="186809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6F3C3CA-C5A2-2279-D371-A118DE196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3F017F-ECF6-5EA9-C960-F7E363EB466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AA842D67-CD4E-BDDC-F067-623075A4451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7E0CA836-3D42-D695-B5B1-5F4581D7F5A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9D759F9-070C-C66A-517F-09D70581E0E6}"/>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740B8851-E81F-E734-3AAB-FB0C21F0B2E2}"/>
              </a:ext>
            </a:extLst>
          </p:cNvPr>
          <p:cNvPicPr>
            <a:picLocks noChangeAspect="1"/>
          </p:cNvPicPr>
          <p:nvPr/>
        </p:nvPicPr>
        <p:blipFill>
          <a:blip r:embed="rId6"/>
          <a:stretch>
            <a:fillRect/>
          </a:stretch>
        </p:blipFill>
        <p:spPr>
          <a:xfrm>
            <a:off x="517667" y="1949838"/>
            <a:ext cx="8705850" cy="2266950"/>
          </a:xfrm>
          <a:prstGeom prst="rect">
            <a:avLst/>
          </a:prstGeom>
        </p:spPr>
      </p:pic>
    </p:spTree>
    <p:extLst>
      <p:ext uri="{BB962C8B-B14F-4D97-AF65-F5344CB8AC3E}">
        <p14:creationId xmlns:p14="http://schemas.microsoft.com/office/powerpoint/2010/main" val="24676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6AE6E95-3CF9-F3F8-2EC1-08863CA8D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DB95AB-091A-9A37-F155-EA742826B277}"/>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F8675A7F-90A0-0E37-E300-20CB2815EB0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DA993E6F-DDB0-CA01-2CEA-5C2137D1536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5C5DBDB-1B52-3218-649A-BA41E26D5E5A}"/>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1CD795DD-C3C6-35AC-2A75-47D33B3653F9}"/>
              </a:ext>
            </a:extLst>
          </p:cNvPr>
          <p:cNvPicPr>
            <a:picLocks noChangeAspect="1"/>
          </p:cNvPicPr>
          <p:nvPr/>
        </p:nvPicPr>
        <p:blipFill>
          <a:blip r:embed="rId6"/>
          <a:stretch>
            <a:fillRect/>
          </a:stretch>
        </p:blipFill>
        <p:spPr>
          <a:xfrm>
            <a:off x="517667" y="2367728"/>
            <a:ext cx="9124950" cy="2686050"/>
          </a:xfrm>
          <a:prstGeom prst="rect">
            <a:avLst/>
          </a:prstGeom>
        </p:spPr>
      </p:pic>
      <p:sp>
        <p:nvSpPr>
          <p:cNvPr id="7" name="TextBox 6">
            <a:extLst>
              <a:ext uri="{FF2B5EF4-FFF2-40B4-BE49-F238E27FC236}">
                <a16:creationId xmlns:a16="http://schemas.microsoft.com/office/drawing/2014/main" id="{392DDE88-CD0C-1A32-B7C1-A6DC01BBA408}"/>
              </a:ext>
            </a:extLst>
          </p:cNvPr>
          <p:cNvSpPr txBox="1"/>
          <p:nvPr/>
        </p:nvSpPr>
        <p:spPr>
          <a:xfrm>
            <a:off x="640329" y="1527223"/>
            <a:ext cx="8748997" cy="52322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b="1" dirty="0">
                <a:latin typeface="Lexend" pitchFamily="2" charset="-94"/>
              </a:rPr>
              <a:t>The HTTP QUERY Method</a:t>
            </a:r>
            <a:r>
              <a:rPr lang="en-US" b="1" dirty="0">
                <a:latin typeface="Lexend" pitchFamily="2" charset="-94"/>
              </a:rPr>
              <a:t>  </a:t>
            </a:r>
            <a:r>
              <a:rPr lang="tr-TR" b="1" dirty="0">
                <a:latin typeface="Lexend" pitchFamily="2" charset="-94"/>
              </a:rPr>
              <a:t>RFC 10008</a:t>
            </a:r>
          </a:p>
          <a:p>
            <a:r>
              <a:rPr lang="tr-TR" b="1" dirty="0">
                <a:latin typeface="Lexend" pitchFamily="2" charset="-94"/>
                <a:hlinkClick r:id="rId7"/>
              </a:rPr>
              <a:t>https://datatracker.ietf.org/doc/rfc10008/</a:t>
            </a:r>
            <a:r>
              <a:rPr lang="en-US" b="1" dirty="0">
                <a:latin typeface="Lexend" pitchFamily="2" charset="-94"/>
              </a:rPr>
              <a:t> </a:t>
            </a:r>
            <a:endParaRPr lang="tr-TR" b="1" dirty="0">
              <a:latin typeface="Lexend" pitchFamily="2" charset="-94"/>
            </a:endParaRPr>
          </a:p>
        </p:txBody>
      </p:sp>
      <p:sp>
        <p:nvSpPr>
          <p:cNvPr id="9" name="TextBox 8">
            <a:extLst>
              <a:ext uri="{FF2B5EF4-FFF2-40B4-BE49-F238E27FC236}">
                <a16:creationId xmlns:a16="http://schemas.microsoft.com/office/drawing/2014/main" id="{5EB8C1EF-50B7-A0B6-8198-CEA9D67B3F5D}"/>
              </a:ext>
            </a:extLst>
          </p:cNvPr>
          <p:cNvSpPr txBox="1"/>
          <p:nvPr/>
        </p:nvSpPr>
        <p:spPr>
          <a:xfrm>
            <a:off x="7493220" y="1583717"/>
            <a:ext cx="2149397" cy="384721"/>
          </a:xfrm>
          <a:prstGeom prst="rect">
            <a:avLst/>
          </a:prstGeom>
          <a:noFill/>
        </p:spPr>
        <p:txBody>
          <a:bodyPr wrap="square">
            <a:spAutoFit/>
          </a:bodyPr>
          <a:lstStyle/>
          <a:p>
            <a:r>
              <a:rPr lang="en-US" sz="1900" dirty="0">
                <a:latin typeface="Lexend Light" pitchFamily="2" charset="-94"/>
                <a:ea typeface="Poppins"/>
                <a:cs typeface="Poppins"/>
                <a:sym typeface="Poppins"/>
              </a:rPr>
              <a:t>June 15, 2026</a:t>
            </a:r>
            <a:endParaRPr lang="tr-TR" dirty="0">
              <a:latin typeface="Lexend Light" pitchFamily="2" charset="-94"/>
            </a:endParaRPr>
          </a:p>
        </p:txBody>
      </p:sp>
    </p:spTree>
    <p:extLst>
      <p:ext uri="{BB962C8B-B14F-4D97-AF65-F5344CB8AC3E}">
        <p14:creationId xmlns:p14="http://schemas.microsoft.com/office/powerpoint/2010/main" val="1920169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240A998-8E3D-1586-7ADB-82A1D502F1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AA23F9-BCA6-6E94-F848-CB9F256F7C7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6D33E325-FFF1-5CD1-01F8-FD20CDA49AED}"/>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DBD390B-90FD-1E97-90A5-926652F301EB}"/>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7552A19-97F3-2575-B0AD-E08790CB65B1}"/>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EE7352A-21FC-AD4A-FC64-25D5F9306040}"/>
              </a:ext>
            </a:extLst>
          </p:cNvPr>
          <p:cNvPicPr>
            <a:picLocks noChangeAspect="1"/>
          </p:cNvPicPr>
          <p:nvPr/>
        </p:nvPicPr>
        <p:blipFill>
          <a:blip r:embed="rId6"/>
          <a:stretch>
            <a:fillRect/>
          </a:stretch>
        </p:blipFill>
        <p:spPr>
          <a:xfrm>
            <a:off x="517667" y="1209490"/>
            <a:ext cx="8848725" cy="4657725"/>
          </a:xfrm>
          <a:prstGeom prst="rect">
            <a:avLst/>
          </a:prstGeom>
        </p:spPr>
      </p:pic>
    </p:spTree>
    <p:extLst>
      <p:ext uri="{BB962C8B-B14F-4D97-AF65-F5344CB8AC3E}">
        <p14:creationId xmlns:p14="http://schemas.microsoft.com/office/powerpoint/2010/main" val="34098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pic>
        <p:nvPicPr>
          <p:cNvPr id="3" name="Picture 2">
            <a:extLst>
              <a:ext uri="{FF2B5EF4-FFF2-40B4-BE49-F238E27FC236}">
                <a16:creationId xmlns:a16="http://schemas.microsoft.com/office/drawing/2014/main" id="{C4455E10-BD72-FA71-4F5A-16755C80F571}"/>
              </a:ext>
            </a:extLst>
          </p:cNvPr>
          <p:cNvPicPr>
            <a:picLocks noChangeAspect="1"/>
          </p:cNvPicPr>
          <p:nvPr/>
        </p:nvPicPr>
        <p:blipFill>
          <a:blip r:embed="rId4"/>
          <a:stretch>
            <a:fillRect/>
          </a:stretch>
        </p:blipFill>
        <p:spPr>
          <a:xfrm>
            <a:off x="498446" y="394133"/>
            <a:ext cx="10998998" cy="6248151"/>
          </a:xfrm>
          <a:prstGeom prst="rect">
            <a:avLst/>
          </a:prstGeom>
        </p:spPr>
      </p:pic>
      <p:grpSp>
        <p:nvGrpSpPr>
          <p:cNvPr id="9" name="Group 8">
            <a:extLst>
              <a:ext uri="{FF2B5EF4-FFF2-40B4-BE49-F238E27FC236}">
                <a16:creationId xmlns:a16="http://schemas.microsoft.com/office/drawing/2014/main" id="{791D315B-488B-4E64-9313-704CE76D7421}"/>
              </a:ext>
            </a:extLst>
          </p:cNvPr>
          <p:cNvGrpSpPr/>
          <p:nvPr/>
        </p:nvGrpSpPr>
        <p:grpSpPr>
          <a:xfrm>
            <a:off x="958759" y="3764831"/>
            <a:ext cx="1507953" cy="881986"/>
            <a:chOff x="9812050" y="1040711"/>
            <a:chExt cx="1819511" cy="1582450"/>
          </a:xfrm>
        </p:grpSpPr>
        <p:sp>
          <p:nvSpPr>
            <p:cNvPr id="10" name="Speech Bubble: Oval 9">
              <a:extLst>
                <a:ext uri="{FF2B5EF4-FFF2-40B4-BE49-F238E27FC236}">
                  <a16:creationId xmlns:a16="http://schemas.microsoft.com/office/drawing/2014/main" id="{E5E811AE-8DA1-47DE-81E6-75F6E170DD88}"/>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92EA2F72-2DD3-4E67-BE6A-0A24EF2DD04B}"/>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0FBC7235-B581-442E-D9E5-C83E245808D3}"/>
              </a:ext>
            </a:extLst>
          </p:cNvPr>
          <p:cNvPicPr>
            <a:picLocks noChangeAspect="1"/>
          </p:cNvPicPr>
          <p:nvPr/>
        </p:nvPicPr>
        <p:blipFill>
          <a:blip r:embed="rId5"/>
          <a:stretch>
            <a:fillRect/>
          </a:stretch>
        </p:blipFill>
        <p:spPr>
          <a:xfrm>
            <a:off x="722151" y="4646814"/>
            <a:ext cx="1789411" cy="1800000"/>
          </a:xfrm>
          <a:prstGeom prst="rect">
            <a:avLst/>
          </a:prstGeom>
        </p:spPr>
      </p:pic>
    </p:spTree>
    <p:extLst>
      <p:ext uri="{BB962C8B-B14F-4D97-AF65-F5344CB8AC3E}">
        <p14:creationId xmlns:p14="http://schemas.microsoft.com/office/powerpoint/2010/main" val="190065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B5E5BD5B-20BE-B83F-38F1-99C6C5786D05}"/>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A9B06C88-FC07-60A7-EE65-9275F2F60199}"/>
              </a:ext>
            </a:extLst>
          </p:cNvPr>
          <p:cNvGrpSpPr/>
          <p:nvPr/>
        </p:nvGrpSpPr>
        <p:grpSpPr>
          <a:xfrm>
            <a:off x="1104360" y="4028765"/>
            <a:ext cx="1507953" cy="881986"/>
            <a:chOff x="9812050" y="1040711"/>
            <a:chExt cx="1819511" cy="1582450"/>
          </a:xfrm>
        </p:grpSpPr>
        <p:sp>
          <p:nvSpPr>
            <p:cNvPr id="10" name="Speech Bubble: Oval 9">
              <a:extLst>
                <a:ext uri="{FF2B5EF4-FFF2-40B4-BE49-F238E27FC236}">
                  <a16:creationId xmlns:a16="http://schemas.microsoft.com/office/drawing/2014/main" id="{FE500F2F-CDFE-98C3-72F6-2B593E313B94}"/>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4DE4C7C2-0130-5891-F8BE-7C49C3B9E8A5}"/>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2" name="Picture 1">
            <a:extLst>
              <a:ext uri="{FF2B5EF4-FFF2-40B4-BE49-F238E27FC236}">
                <a16:creationId xmlns:a16="http://schemas.microsoft.com/office/drawing/2014/main" id="{643E6E2A-25D0-C7E9-6948-2F81E31214B5}"/>
              </a:ext>
            </a:extLst>
          </p:cNvPr>
          <p:cNvPicPr>
            <a:picLocks noChangeAspect="1"/>
          </p:cNvPicPr>
          <p:nvPr/>
        </p:nvPicPr>
        <p:blipFill>
          <a:blip r:embed="rId4"/>
          <a:stretch>
            <a:fillRect/>
          </a:stretch>
        </p:blipFill>
        <p:spPr>
          <a:xfrm>
            <a:off x="542924" y="347095"/>
            <a:ext cx="9972675" cy="6163809"/>
          </a:xfrm>
          <a:prstGeom prst="rect">
            <a:avLst/>
          </a:prstGeom>
        </p:spPr>
      </p:pic>
      <p:grpSp>
        <p:nvGrpSpPr>
          <p:cNvPr id="4" name="Group 3">
            <a:extLst>
              <a:ext uri="{FF2B5EF4-FFF2-40B4-BE49-F238E27FC236}">
                <a16:creationId xmlns:a16="http://schemas.microsoft.com/office/drawing/2014/main" id="{38767A43-F502-BD21-5FBE-6EE71C8AC0A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B9718F19-6E89-91C8-C87F-FD2B784B8063}"/>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1F80970F-A59F-65A2-4A37-9A3F13F3765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F09D72F1-D68F-A539-0548-DCE88D700DF7}"/>
              </a:ext>
            </a:extLst>
          </p:cNvPr>
          <p:cNvPicPr>
            <a:picLocks noChangeAspect="1"/>
          </p:cNvPicPr>
          <p:nvPr/>
        </p:nvPicPr>
        <p:blipFill>
          <a:blip r:embed="rId5"/>
          <a:stretch>
            <a:fillRect/>
          </a:stretch>
        </p:blipFill>
        <p:spPr>
          <a:xfrm>
            <a:off x="644960" y="4646814"/>
            <a:ext cx="1821752" cy="1800000"/>
          </a:xfrm>
          <a:prstGeom prst="rect">
            <a:avLst/>
          </a:prstGeom>
        </p:spPr>
      </p:pic>
    </p:spTree>
    <p:extLst>
      <p:ext uri="{BB962C8B-B14F-4D97-AF65-F5344CB8AC3E}">
        <p14:creationId xmlns:p14="http://schemas.microsoft.com/office/powerpoint/2010/main" val="3999121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03A6199-DD50-B3EC-F6FC-434ECB15B428}"/>
              </a:ext>
            </a:extLst>
          </p:cNvPr>
          <p:cNvPicPr>
            <a:picLocks noChangeAspect="1"/>
          </p:cNvPicPr>
          <p:nvPr/>
        </p:nvPicPr>
        <p:blipFill>
          <a:blip r:embed="rId4"/>
          <a:srcRect l="1495" t="2694" r="1001"/>
          <a:stretch>
            <a:fillRect/>
          </a:stretch>
        </p:blipFill>
        <p:spPr>
          <a:xfrm>
            <a:off x="587994" y="417591"/>
            <a:ext cx="10932159" cy="6026020"/>
          </a:xfrm>
          <a:prstGeom prst="rect">
            <a:avLst/>
          </a:prstGeom>
        </p:spPr>
      </p:pic>
      <p:grpSp>
        <p:nvGrpSpPr>
          <p:cNvPr id="4" name="Group 3">
            <a:extLst>
              <a:ext uri="{FF2B5EF4-FFF2-40B4-BE49-F238E27FC236}">
                <a16:creationId xmlns:a16="http://schemas.microsoft.com/office/drawing/2014/main" id="{1FD551E7-061D-4939-3AB7-FD0B8773F50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63D6FC06-7BA7-1D85-75A5-78E0F68209BE}"/>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E7790A94-C1D9-5B8C-1A9E-25E7CF9C5DB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13" name="Picture 12">
            <a:extLst>
              <a:ext uri="{FF2B5EF4-FFF2-40B4-BE49-F238E27FC236}">
                <a16:creationId xmlns:a16="http://schemas.microsoft.com/office/drawing/2014/main" id="{C698FFAC-B5BB-682E-3396-E923862720D2}"/>
              </a:ext>
            </a:extLst>
          </p:cNvPr>
          <p:cNvPicPr>
            <a:picLocks noChangeAspect="1"/>
          </p:cNvPicPr>
          <p:nvPr/>
        </p:nvPicPr>
        <p:blipFill>
          <a:blip r:embed="rId5"/>
          <a:stretch>
            <a:fillRect/>
          </a:stretch>
        </p:blipFill>
        <p:spPr>
          <a:xfrm>
            <a:off x="587994" y="4643611"/>
            <a:ext cx="1783784" cy="1800000"/>
          </a:xfrm>
          <a:prstGeom prst="rect">
            <a:avLst/>
          </a:prstGeom>
        </p:spPr>
      </p:pic>
    </p:spTree>
    <p:extLst>
      <p:ext uri="{BB962C8B-B14F-4D97-AF65-F5344CB8AC3E}">
        <p14:creationId xmlns:p14="http://schemas.microsoft.com/office/powerpoint/2010/main" val="2534398"/>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884</TotalTime>
  <Words>514</Words>
  <Application>Microsoft Office PowerPoint</Application>
  <PresentationFormat>Widescreen</PresentationFormat>
  <Paragraphs>42</Paragraphs>
  <Slides>12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Lexend</vt:lpstr>
      <vt:lpstr>Wingdings</vt:lpstr>
      <vt:lpstr>Play</vt:lpstr>
      <vt:lpstr>Arial</vt:lpstr>
      <vt:lpstr>Lexend Light</vt:lpstr>
      <vt:lpstr>Poppins</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211</cp:revision>
  <dcterms:created xsi:type="dcterms:W3CDTF">2024-10-07T11:11:00Z</dcterms:created>
  <dcterms:modified xsi:type="dcterms:W3CDTF">2026-08-06T08:46:50Z</dcterms:modified>
</cp:coreProperties>
</file>