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7"/>
  </p:notesMasterIdLst>
  <p:sldIdLst>
    <p:sldId id="323" r:id="rId2"/>
    <p:sldId id="303" r:id="rId3"/>
    <p:sldId id="334" r:id="rId4"/>
    <p:sldId id="338" r:id="rId5"/>
    <p:sldId id="344" r:id="rId6"/>
    <p:sldId id="343" r:id="rId7"/>
    <p:sldId id="345" r:id="rId8"/>
    <p:sldId id="342" r:id="rId9"/>
    <p:sldId id="341" r:id="rId10"/>
    <p:sldId id="310" r:id="rId11"/>
    <p:sldId id="324" r:id="rId12"/>
    <p:sldId id="346" r:id="rId13"/>
    <p:sldId id="347" r:id="rId14"/>
    <p:sldId id="256" r:id="rId15"/>
    <p:sldId id="257" r:id="rId16"/>
    <p:sldId id="348" r:id="rId17"/>
    <p:sldId id="349" r:id="rId18"/>
    <p:sldId id="353" r:id="rId19"/>
    <p:sldId id="355" r:id="rId20"/>
    <p:sldId id="356" r:id="rId21"/>
    <p:sldId id="354" r:id="rId22"/>
    <p:sldId id="358" r:id="rId23"/>
    <p:sldId id="359" r:id="rId24"/>
    <p:sldId id="351" r:id="rId25"/>
    <p:sldId id="352" r:id="rId26"/>
  </p:sldIdLst>
  <p:sldSz cx="12192000" cy="6858000"/>
  <p:notesSz cx="6858000" cy="9144000"/>
  <p:embeddedFontLst>
    <p:embeddedFont>
      <p:font typeface="Consolas" panose="020B0609020204030204" pitchFamily="49" charset="0"/>
      <p:regular r:id="rId28"/>
      <p:bold r:id="rId29"/>
      <p:italic r:id="rId30"/>
      <p:boldItalic r:id="rId31"/>
    </p:embeddedFont>
    <p:embeddedFont>
      <p:font typeface="Lexend" panose="020B0604020202020204" charset="-94"/>
      <p:regular r:id="rId32"/>
      <p:bold r:id="rId33"/>
    </p:embeddedFont>
    <p:embeddedFont>
      <p:font typeface="Lexend Light" panose="020B0604020202020204" charset="-94"/>
      <p:regular r:id="rId34"/>
    </p:embeddedFont>
    <p:embeddedFont>
      <p:font typeface="Play" panose="020B0604020202020204" charset="0"/>
      <p:regular r:id="rId35"/>
      <p:bold r:id="rId36"/>
    </p:embeddedFont>
    <p:embeddedFont>
      <p:font typeface="Poppins" panose="00000500000000000000" pitchFamily="2" charset="-94"/>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62A63187-5530-4163-A9CC-C297B84383A5}">
          <p14:sldIdLst>
            <p14:sldId id="323"/>
            <p14:sldId id="303"/>
            <p14:sldId id="334"/>
            <p14:sldId id="338"/>
            <p14:sldId id="344"/>
            <p14:sldId id="343"/>
            <p14:sldId id="345"/>
            <p14:sldId id="342"/>
            <p14:sldId id="341"/>
            <p14:sldId id="310"/>
            <p14:sldId id="324"/>
            <p14:sldId id="346"/>
            <p14:sldId id="347"/>
            <p14:sldId id="256"/>
            <p14:sldId id="257"/>
            <p14:sldId id="348"/>
          </p14:sldIdLst>
        </p14:section>
        <p14:section name="Project Steps" id="{2E7C0FCA-AAB3-4022-8274-D39FF82EF12F}">
          <p14:sldIdLst>
            <p14:sldId id="349"/>
            <p14:sldId id="353"/>
            <p14:sldId id="355"/>
            <p14:sldId id="356"/>
            <p14:sldId id="354"/>
            <p14:sldId id="358"/>
            <p14:sldId id="359"/>
            <p14:sldId id="351"/>
            <p14:sldId id="352"/>
          </p14:sldIdLst>
        </p14:section>
      </p14:sectionLst>
    </p:ex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8" roundtripDataSignature="AMtx7mihNSh0nE7P5bmNZynwZ07PSv3TU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C5B8F"/>
    <a:srgbClr val="F8F8F8"/>
    <a:srgbClr val="196B24"/>
    <a:srgbClr val="1F1F1F"/>
    <a:srgbClr val="A646A0"/>
    <a:srgbClr val="D4D2C8"/>
    <a:srgbClr val="4691C9"/>
    <a:srgbClr val="467886"/>
    <a:srgbClr val="292D33"/>
    <a:srgbClr val="21284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72662" autoAdjust="0"/>
  </p:normalViewPr>
  <p:slideViewPr>
    <p:cSldViewPr snapToGrid="0">
      <p:cViewPr varScale="1">
        <p:scale>
          <a:sx n="81" d="100"/>
          <a:sy n="81" d="100"/>
        </p:scale>
        <p:origin x="167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20"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a:solidFill>
                  <a:schemeClr val="dk1"/>
                </a:solidFill>
                <a:latin typeface="Arial"/>
                <a:ea typeface="Arial"/>
                <a:cs typeface="Arial"/>
                <a:sym typeface="Arial"/>
              </a:rPr>
              <a:t>‹#›</a:t>
            </a:fld>
            <a:endParaRPr sz="1200" b="0" i="0" u="none" strike="noStrike" cap="none" dirty="0">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29817BD9-07C7-C168-1CC4-A20702FCE6E1}"/>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F5A31253-0F4E-ED3C-0779-38D545637D3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F26A0CDD-0018-A81B-3AAF-EE17D32BD2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168078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2</a:t>
            </a:fld>
            <a:endParaRPr lang="tr-TR"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257759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1A095BF3-A342-11C1-EAD3-C31A2520597D}"/>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18873D1C-889C-1016-639D-48B6DCD454F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3BF7F5B5-E8E8-CD67-3088-FA74805223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2136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44577C1C-8784-784B-ED4F-8D5A2A4DC5F8}"/>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D3BAF1EC-614D-F4C5-82B4-14739E8CFDF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Angular Service Proxies automatically generate strongly typed services, DTOs, and enums from ABP backend APIs. </a:t>
            </a:r>
            <a:endParaRPr lang="en-US" sz="2000" dirty="0"/>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This reduces repetitive frontend work, keeps Angular applications synchronized with backend contracts, and makes API integration faster and more reliable.</a:t>
            </a:r>
          </a:p>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0F678637-FB11-2D31-B521-BEB8AF1D83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63433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28668F22-D0FE-D43C-4874-D9D42E420755}"/>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38B6678B-E173-F9DE-9593-0C8250933EC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ABP Suite now generates complete React CRUD pages for modern ABP applications using customizable templates. Generated pages support core operations such as listing, filtering, paging, exporting, creating, editing, and deleting, along with validation, permissions, localization, file uploads, relationships, and master-detail scenarios—all based on the entity configuration defined in ABP Suite.</a:t>
            </a:r>
          </a:p>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AAA515A2-4B08-911A-2673-B84D84E306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25569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79EAA97B-A03E-25BC-06F5-F67E27F2022C}"/>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1520E716-FF4A-44C6-A9B9-E9BF5B01CCE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ABP Studio v3.0.9 introduces a simpler way to configure MCP integrations for the AI Agent. </a:t>
            </a:r>
            <a:endParaRPr lang="en-US" sz="2000" dirty="0"/>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Developers can add common integrations through focused forms or manage the complete server list as JSON, with support for secret placeholders, secure platform storage, connection status, and per-tool controls.</a:t>
            </a:r>
          </a:p>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FB1B7D3E-56E0-5818-AAE8-6E8C2471EE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4932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60EB9757-0510-D434-EB7D-AEDE8BE27F14}"/>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88115154-DDD0-07C8-E73E-E1E8EDA1815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AI Management </a:t>
            </a:r>
            <a:r>
              <a:rPr lang="en-US" sz="2000" dirty="0"/>
              <a:t>module </a:t>
            </a:r>
            <a:r>
              <a:rPr lang="tr-TR" sz="2000" dirty="0"/>
              <a:t>now lets users create workspace data sources directly from web page URLs. </a:t>
            </a:r>
            <a:endParaRPr lang="en-US" sz="2000" dirty="0"/>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The page content is converted to Markdown, indexed for AI use, and can be refreshed as the source changes. </a:t>
            </a:r>
            <a:endParaRPr lang="en-US" sz="2000" dirty="0"/>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tr-TR" sz="2000" dirty="0"/>
              <a:t>Workspace settings also suggest available models for supported providers such as OpenAI and Ollama</a:t>
            </a:r>
            <a:r>
              <a:rPr lang="en-US" sz="2000" dirty="0"/>
              <a:t>.</a:t>
            </a:r>
          </a:p>
          <a:p>
            <a:pPr marL="0" marR="0" lvl="0" indent="0" algn="l" defTabSz="914400" rtl="0" eaLnBrk="1" fontAlgn="auto" latinLnBrk="0" hangingPunct="1">
              <a:lnSpc>
                <a:spcPct val="100000"/>
              </a:lnSpc>
              <a:spcBef>
                <a:spcPts val="0"/>
              </a:spcBef>
              <a:spcAft>
                <a:spcPts val="0"/>
              </a:spcAft>
              <a:buClr>
                <a:schemeClr val="dk1"/>
              </a:buClr>
              <a:buSzPts val="1100"/>
              <a:buFont typeface="Arial"/>
              <a:buNone/>
              <a:tabLst/>
              <a:defRPr/>
            </a:pPr>
            <a:r>
              <a:rPr lang="en-US" sz="2000" dirty="0"/>
              <a:t>It</a:t>
            </a:r>
            <a:r>
              <a:rPr lang="tr-TR" sz="2000" dirty="0"/>
              <a:t> mak</a:t>
            </a:r>
            <a:r>
              <a:rPr lang="en-US" sz="2000" dirty="0"/>
              <a:t>es </a:t>
            </a:r>
            <a:r>
              <a:rPr lang="tr-TR" sz="2000" dirty="0"/>
              <a:t>configuration faster </a:t>
            </a:r>
            <a:r>
              <a:rPr lang="en-US" sz="2000" dirty="0"/>
              <a:t>with</a:t>
            </a:r>
            <a:r>
              <a:rPr lang="tr-TR" sz="2000" dirty="0"/>
              <a:t> less error.</a:t>
            </a:r>
          </a:p>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DEA34AE2-14F5-BAB9-01C4-F1DB5D5864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27045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407416D7-DFD1-43D1-B6F5-997FC80F01D3}"/>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880FC6B3-A182-8DBA-9D45-5BC5CFFC40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r>
              <a:rPr lang="en-US" sz="1900" dirty="0">
                <a:latin typeface="Poppins"/>
                <a:ea typeface="Poppins"/>
                <a:cs typeface="Poppins"/>
                <a:sym typeface="Poppins"/>
              </a:rPr>
              <a:t>First New Method in 16 Years: This is the first standard method (verb) added to the HTTP protocol since the PATCH method in 2010.</a:t>
            </a:r>
          </a:p>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a:p>
            <a:pPr marL="0" lvl="0" indent="0" algn="l" rtl="0">
              <a:lnSpc>
                <a:spcPct val="150000"/>
              </a:lnSpc>
              <a:spcBef>
                <a:spcPts val="0"/>
              </a:spcBef>
              <a:spcAft>
                <a:spcPts val="0"/>
              </a:spcAft>
              <a:buClr>
                <a:schemeClr val="dk1"/>
              </a:buClr>
              <a:buSzPts val="1100"/>
              <a:buFont typeface="Arial"/>
              <a:buNone/>
            </a:pPr>
            <a:r>
              <a:rPr lang="en-US" sz="1900" dirty="0">
                <a:latin typeface="Poppins"/>
                <a:ea typeface="Poppins"/>
                <a:cs typeface="Poppins"/>
                <a:sym typeface="Poppins"/>
              </a:rPr>
              <a:t>The IETF (Internet Engineering Task Force) officially published the HTTP QUERY method as RFC 10008 standard on June 15, 2026.</a:t>
            </a:r>
          </a:p>
        </p:txBody>
      </p:sp>
      <p:sp>
        <p:nvSpPr>
          <p:cNvPr id="105" name="Google Shape;105;p2:notes">
            <a:extLst>
              <a:ext uri="{FF2B5EF4-FFF2-40B4-BE49-F238E27FC236}">
                <a16:creationId xmlns:a16="http://schemas.microsoft.com/office/drawing/2014/main" id="{7E1C7C65-73C0-F4FE-C43D-221EAE46556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08760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D2D38F40-9066-4D5A-77E0-CA12C9C560D9}"/>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C64CBE58-C90E-5CEB-709F-EDB4C4488D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C524C94C-C381-2286-A296-8E52BBC7AF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6564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8253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96C77035-582E-A0EC-693B-E7BAC36672A7}"/>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17AA9AFA-EA93-794D-A6B1-6688B7623A1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E44DD40F-DACA-194B-D7C8-312959EC89F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978240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A13CF386-AD92-B40F-D420-98E9C164A294}"/>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7CCBC716-5D75-2651-0A28-6B3EE54C546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66DE5272-58E2-C60D-D362-0277F945AB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01535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a:extLst>
            <a:ext uri="{FF2B5EF4-FFF2-40B4-BE49-F238E27FC236}">
              <a16:creationId xmlns:a16="http://schemas.microsoft.com/office/drawing/2014/main" id="{16CD45C5-4100-846C-0E38-C4BA1EA4211C}"/>
            </a:ext>
          </a:extLst>
        </p:cNvPr>
        <p:cNvGrpSpPr/>
        <p:nvPr/>
      </p:nvGrpSpPr>
      <p:grpSpPr>
        <a:xfrm>
          <a:off x="0" y="0"/>
          <a:ext cx="0" cy="0"/>
          <a:chOff x="0" y="0"/>
          <a:chExt cx="0" cy="0"/>
        </a:xfrm>
      </p:grpSpPr>
      <p:sp>
        <p:nvSpPr>
          <p:cNvPr id="104" name="Google Shape;104;p2:notes">
            <a:extLst>
              <a:ext uri="{FF2B5EF4-FFF2-40B4-BE49-F238E27FC236}">
                <a16:creationId xmlns:a16="http://schemas.microsoft.com/office/drawing/2014/main" id="{3D3662A9-BF0E-309F-2D84-5413A2C339F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50000"/>
              </a:lnSpc>
              <a:spcBef>
                <a:spcPts val="0"/>
              </a:spcBef>
              <a:spcAft>
                <a:spcPts val="0"/>
              </a:spcAft>
              <a:buClr>
                <a:schemeClr val="dk1"/>
              </a:buClr>
              <a:buSzPts val="1100"/>
              <a:buFont typeface="Arial"/>
              <a:buNone/>
            </a:pPr>
            <a:endParaRPr lang="en-US" sz="1900" dirty="0">
              <a:latin typeface="Poppins"/>
              <a:ea typeface="Poppins"/>
              <a:cs typeface="Poppins"/>
              <a:sym typeface="Poppins"/>
            </a:endParaRPr>
          </a:p>
        </p:txBody>
      </p:sp>
      <p:sp>
        <p:nvSpPr>
          <p:cNvPr id="105" name="Google Shape;105;p2:notes">
            <a:extLst>
              <a:ext uri="{FF2B5EF4-FFF2-40B4-BE49-F238E27FC236}">
                <a16:creationId xmlns:a16="http://schemas.microsoft.com/office/drawing/2014/main" id="{1707955E-FD50-8521-C764-86B9ABC098F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1678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15</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140201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0FA6A-12E2-C486-3F4B-CF475EE7F8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11C1EC-4B61-3C48-B500-3E0E7236B4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C0D7F3-0A52-C3D9-7FCC-7BF394CBD6F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A2AEFB-7373-40F0-E0F9-51084CB22C7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16</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059760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17</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4560023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CC4A3-4A7E-89F4-C2ED-9025AD047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F4C20-CBDD-1A06-5D4D-5A97D0436B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E4EAB5-4F77-2D42-ED68-D2EFC02251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58EED23-484D-35F5-1603-95E0E6B63BF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18</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849738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0D91C-5251-B484-9311-966D61C93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5F6CFA-58C8-22A8-B4FB-E8CA5750C1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7B69F3-1CDC-5149-5E0C-5EDF08CC27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B36E5A-0C85-A637-6CF7-8FB0E48EBA72}"/>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21</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98938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C9F87-3E21-3671-5FDB-AFE2BE0693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31767-9ECB-A6EC-F1D2-E66704E0E7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389C61-8990-0396-7F27-12C7FC9273B1}"/>
              </a:ext>
            </a:extLst>
          </p:cNvPr>
          <p:cNvSpPr>
            <a:spLocks noGrp="1"/>
          </p:cNvSpPr>
          <p:nvPr>
            <p:ph type="body" idx="1"/>
          </p:nvPr>
        </p:nvSpPr>
        <p:spPr/>
        <p:txBody>
          <a:bodyPr/>
          <a:lstStyle/>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Arial"/>
                <a:ea typeface="Arial"/>
                <a:cs typeface="Arial"/>
                <a:sym typeface="Arial"/>
              </a:rPr>
              <a:t>await </a:t>
            </a:r>
            <a:r>
              <a:rPr lang="en-US" sz="1200" b="0" i="0" u="none" strike="noStrike" cap="none" dirty="0" err="1">
                <a:solidFill>
                  <a:schemeClr val="dk1"/>
                </a:solidFill>
                <a:effectLst/>
                <a:latin typeface="Arial"/>
                <a:ea typeface="Arial"/>
                <a:cs typeface="Arial"/>
                <a:sym typeface="Arial"/>
              </a:rPr>
              <a:t>http.postAsync</a:t>
            </a:r>
            <a:r>
              <a:rPr lang="en-US" sz="1200" b="0" i="0" u="none" strike="noStrike" cap="none" dirty="0">
                <a:solidFill>
                  <a:schemeClr val="dk1"/>
                </a:solidFill>
                <a:effectLst/>
                <a:latin typeface="Arial"/>
                <a:ea typeface="Arial"/>
                <a:cs typeface="Arial"/>
                <a:sym typeface="Arial"/>
              </a:rPr>
              <a:t>(" https://webhook.site/f39fa556-4629-4ea7-bdb3-6698dc60a334", </a:t>
            </a:r>
            <a:r>
              <a:rPr lang="en-US" sz="1200" b="0" i="0" u="none" strike="noStrike" cap="none" dirty="0" err="1">
                <a:solidFill>
                  <a:schemeClr val="dk1"/>
                </a:solidFill>
                <a:effectLst/>
                <a:latin typeface="Arial"/>
                <a:ea typeface="Arial"/>
                <a:cs typeface="Arial"/>
                <a:sym typeface="Arial"/>
              </a:rPr>
              <a:t>args.data</a:t>
            </a:r>
            <a:r>
              <a:rPr lang="en-US" sz="1200" b="0" i="0" u="none" strike="noStrike" cap="none" dirty="0">
                <a:solidFill>
                  <a:schemeClr val="dk1"/>
                </a:solidFill>
                <a:effectLst/>
                <a:latin typeface="Arial"/>
                <a:ea typeface="Arial"/>
                <a:cs typeface="Arial"/>
                <a:sym typeface="Arial"/>
              </a:rPr>
              <a:t>);</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0" i="0" u="none" strike="noStrike" cap="none" dirty="0">
              <a:solidFill>
                <a:schemeClr val="dk1"/>
              </a:solidFill>
              <a:effectLst/>
              <a:latin typeface="Arial"/>
              <a:ea typeface="Arial"/>
              <a:cs typeface="Arial"/>
              <a:sym typeface="Arial"/>
            </a:endParaRP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b="0" i="0" u="none" strike="noStrike" cap="none" dirty="0">
                <a:solidFill>
                  <a:schemeClr val="dk1"/>
                </a:solidFill>
                <a:effectLst/>
                <a:latin typeface="Arial"/>
                <a:ea typeface="Arial"/>
                <a:cs typeface="Arial"/>
                <a:sym typeface="Arial"/>
              </a:rPr>
              <a:t>https://webhook.site/#!/view/f39fa556-4629-4ea7-bdb3-6698dc60a334/74687e09-27f5-4d81-bdb7-5634c0f70a4a/1</a:t>
            </a:r>
          </a:p>
          <a:p>
            <a:pPr marL="457200" marR="0" lvl="0" indent="-228600" algn="l" defTabSz="914400" rtl="0" eaLnBrk="1" fontAlgn="auto" latinLnBrk="0" hangingPunct="1">
              <a:lnSpc>
                <a:spcPct val="100000"/>
              </a:lnSpc>
              <a:spcBef>
                <a:spcPts val="0"/>
              </a:spcBef>
              <a:spcAft>
                <a:spcPts val="0"/>
              </a:spcAft>
              <a:buClr>
                <a:srgbClr val="000000"/>
              </a:buClr>
              <a:buSzPts val="1400"/>
              <a:buFont typeface="Arial"/>
              <a:buNone/>
              <a:tabLst/>
              <a:defRPr/>
            </a:pPr>
            <a:endParaRPr lang="en-US" sz="1200" b="0" i="0" u="none" strike="noStrike" cap="none" dirty="0">
              <a:solidFill>
                <a:schemeClr val="dk1"/>
              </a:solidFill>
              <a:effectLst/>
              <a:latin typeface="Arial"/>
              <a:ea typeface="Arial"/>
              <a:cs typeface="Arial"/>
              <a:sym typeface="Arial"/>
            </a:endParaRPr>
          </a:p>
          <a:p>
            <a:endParaRPr lang="en-US" dirty="0"/>
          </a:p>
          <a:p>
            <a:r>
              <a:rPr lang="en-US" dirty="0"/>
              <a:t>---</a:t>
            </a:r>
          </a:p>
          <a:p>
            <a:pPr latinLnBrk="1"/>
            <a:r>
              <a:rPr lang="en-US" sz="1200" b="0" i="0" u="none" strike="noStrike" cap="none" dirty="0">
                <a:solidFill>
                  <a:schemeClr val="dk1"/>
                </a:solidFill>
                <a:effectLst/>
                <a:latin typeface="Arial"/>
                <a:ea typeface="Arial"/>
                <a:cs typeface="Arial"/>
                <a:sym typeface="Arial"/>
              </a:rPr>
              <a:t>var </a:t>
            </a:r>
            <a:r>
              <a:rPr lang="en-US" sz="1200" b="0" i="0" u="none" strike="noStrike" cap="none" dirty="0" err="1">
                <a:solidFill>
                  <a:schemeClr val="dk1"/>
                </a:solidFill>
                <a:effectLst/>
                <a:latin typeface="Arial"/>
                <a:ea typeface="Arial"/>
                <a:cs typeface="Arial"/>
                <a:sym typeface="Arial"/>
              </a:rPr>
              <a:t>checkinDate</a:t>
            </a:r>
            <a:r>
              <a:rPr lang="en-US" sz="1200" b="0" i="0" u="none" strike="noStrike" cap="none" dirty="0">
                <a:solidFill>
                  <a:schemeClr val="dk1"/>
                </a:solidFill>
                <a:effectLst/>
                <a:latin typeface="Arial"/>
                <a:ea typeface="Arial"/>
                <a:cs typeface="Arial"/>
                <a:sym typeface="Arial"/>
              </a:rPr>
              <a:t> = </a:t>
            </a:r>
            <a:r>
              <a:rPr lang="en-US" sz="1200" b="0" i="0" u="none" strike="noStrike" cap="none" dirty="0" err="1">
                <a:solidFill>
                  <a:schemeClr val="dk1"/>
                </a:solidFill>
                <a:effectLst/>
                <a:latin typeface="Arial"/>
                <a:ea typeface="Arial"/>
                <a:cs typeface="Arial"/>
                <a:sym typeface="Arial"/>
              </a:rPr>
              <a:t>args.getValue</a:t>
            </a:r>
            <a:r>
              <a:rPr lang="en-US" sz="1200" b="0" i="0" u="none" strike="noStrike" cap="none" dirty="0">
                <a:solidFill>
                  <a:schemeClr val="dk1"/>
                </a:solidFill>
                <a:effectLst/>
                <a:latin typeface="Arial"/>
                <a:ea typeface="Arial"/>
                <a:cs typeface="Arial"/>
                <a:sym typeface="Arial"/>
              </a:rPr>
              <a:t>('</a:t>
            </a:r>
            <a:r>
              <a:rPr lang="en-US" sz="1200" b="0" i="0" u="none" strike="noStrike" cap="none" dirty="0" err="1">
                <a:solidFill>
                  <a:schemeClr val="dk1"/>
                </a:solidFill>
                <a:effectLst/>
                <a:latin typeface="Arial"/>
                <a:ea typeface="Arial"/>
                <a:cs typeface="Arial"/>
                <a:sym typeface="Arial"/>
              </a:rPr>
              <a:t>CheckinDate</a:t>
            </a:r>
            <a:r>
              <a:rPr lang="en-US" sz="1200" b="0" i="0" u="none" strike="noStrike" cap="none" dirty="0">
                <a:solidFill>
                  <a:schemeClr val="dk1"/>
                </a:solidFill>
                <a:effectLst/>
                <a:latin typeface="Arial"/>
                <a:ea typeface="Arial"/>
                <a:cs typeface="Arial"/>
                <a:sym typeface="Arial"/>
              </a:rPr>
              <a:t>');</a:t>
            </a:r>
          </a:p>
          <a:p>
            <a:pPr latinLnBrk="1"/>
            <a:r>
              <a:rPr lang="en-US" sz="1200" b="0" i="0" u="none" strike="noStrike" cap="none" dirty="0">
                <a:solidFill>
                  <a:schemeClr val="dk1"/>
                </a:solidFill>
                <a:effectLst/>
                <a:latin typeface="Arial"/>
                <a:ea typeface="Arial"/>
                <a:cs typeface="Arial"/>
                <a:sym typeface="Arial"/>
              </a:rPr>
              <a:t>if (</a:t>
            </a:r>
            <a:r>
              <a:rPr lang="en-US" sz="1200" b="0" i="0" u="none" strike="noStrike" cap="none" dirty="0" err="1">
                <a:solidFill>
                  <a:schemeClr val="dk1"/>
                </a:solidFill>
                <a:effectLst/>
                <a:latin typeface="Arial"/>
                <a:ea typeface="Arial"/>
                <a:cs typeface="Arial"/>
                <a:sym typeface="Arial"/>
              </a:rPr>
              <a:t>Date.parse</a:t>
            </a:r>
            <a:r>
              <a:rPr lang="en-US" sz="1200" b="0" i="0" u="none" strike="noStrike" cap="none" dirty="0">
                <a:solidFill>
                  <a:schemeClr val="dk1"/>
                </a:solidFill>
                <a:effectLst/>
                <a:latin typeface="Arial"/>
                <a:ea typeface="Arial"/>
                <a:cs typeface="Arial"/>
                <a:sym typeface="Arial"/>
              </a:rPr>
              <a:t>(</a:t>
            </a:r>
            <a:r>
              <a:rPr lang="en-US" sz="1200" b="0" i="0" u="none" strike="noStrike" cap="none" dirty="0" err="1">
                <a:solidFill>
                  <a:schemeClr val="dk1"/>
                </a:solidFill>
                <a:effectLst/>
                <a:latin typeface="Arial"/>
                <a:ea typeface="Arial"/>
                <a:cs typeface="Arial"/>
                <a:sym typeface="Arial"/>
              </a:rPr>
              <a:t>checkinDate</a:t>
            </a:r>
            <a:r>
              <a:rPr lang="en-US" sz="1200" b="0" i="0" u="none" strike="noStrike" cap="none" dirty="0">
                <a:solidFill>
                  <a:schemeClr val="dk1"/>
                </a:solidFill>
                <a:effectLst/>
                <a:latin typeface="Arial"/>
                <a:ea typeface="Arial"/>
                <a:cs typeface="Arial"/>
                <a:sym typeface="Arial"/>
              </a:rPr>
              <a:t>) &lt; </a:t>
            </a:r>
            <a:r>
              <a:rPr lang="en-US" sz="1200" b="0" i="0" u="none" strike="noStrike" cap="none" dirty="0" err="1">
                <a:solidFill>
                  <a:schemeClr val="dk1"/>
                </a:solidFill>
                <a:effectLst/>
                <a:latin typeface="Arial"/>
                <a:ea typeface="Arial"/>
                <a:cs typeface="Arial"/>
                <a:sym typeface="Arial"/>
              </a:rPr>
              <a:t>Date.now</a:t>
            </a:r>
            <a:r>
              <a:rPr lang="en-US" sz="1200" b="0" i="0" u="none" strike="noStrike" cap="none" dirty="0">
                <a:solidFill>
                  <a:schemeClr val="dk1"/>
                </a:solidFill>
                <a:effectLst/>
                <a:latin typeface="Arial"/>
                <a:ea typeface="Arial"/>
                <a:cs typeface="Arial"/>
                <a:sym typeface="Arial"/>
              </a:rPr>
              <a:t>()) {</a:t>
            </a:r>
          </a:p>
          <a:p>
            <a:pPr latinLnBrk="1"/>
            <a:r>
              <a:rPr lang="en-US" sz="1200" b="0" i="0" u="none" strike="noStrike" cap="none" dirty="0">
                <a:solidFill>
                  <a:schemeClr val="dk1"/>
                </a:solidFill>
                <a:effectLst/>
                <a:latin typeface="Arial"/>
                <a:ea typeface="Arial"/>
                <a:cs typeface="Arial"/>
                <a:sym typeface="Arial"/>
              </a:rPr>
              <a:t>   </a:t>
            </a:r>
            <a:r>
              <a:rPr lang="en-US" sz="1200" b="0" i="0" u="none" strike="noStrike" cap="none" dirty="0" err="1">
                <a:solidFill>
                  <a:schemeClr val="dk1"/>
                </a:solidFill>
                <a:effectLst/>
                <a:latin typeface="Arial"/>
                <a:ea typeface="Arial"/>
                <a:cs typeface="Arial"/>
                <a:sym typeface="Arial"/>
              </a:rPr>
              <a:t>userFriendlyError</a:t>
            </a:r>
            <a:r>
              <a:rPr lang="en-US" sz="1200" b="0" i="0" u="none" strike="noStrike" cap="none" dirty="0">
                <a:solidFill>
                  <a:schemeClr val="dk1"/>
                </a:solidFill>
                <a:effectLst/>
                <a:latin typeface="Arial"/>
                <a:ea typeface="Arial"/>
                <a:cs typeface="Arial"/>
                <a:sym typeface="Arial"/>
              </a:rPr>
              <a:t>('</a:t>
            </a:r>
            <a:r>
              <a:rPr lang="en-US" sz="1200" b="0" i="0" u="none" strike="noStrike" cap="none" dirty="0" err="1">
                <a:solidFill>
                  <a:schemeClr val="dk1"/>
                </a:solidFill>
                <a:effectLst/>
                <a:latin typeface="Arial"/>
                <a:ea typeface="Arial"/>
                <a:cs typeface="Arial"/>
                <a:sym typeface="Arial"/>
              </a:rPr>
              <a:t>Checkin</a:t>
            </a:r>
            <a:r>
              <a:rPr lang="en-US" sz="1200" b="0" i="0" u="none" strike="noStrike" cap="none" dirty="0">
                <a:solidFill>
                  <a:schemeClr val="dk1"/>
                </a:solidFill>
                <a:effectLst/>
                <a:latin typeface="Arial"/>
                <a:ea typeface="Arial"/>
                <a:cs typeface="Arial"/>
                <a:sym typeface="Arial"/>
              </a:rPr>
              <a:t> date must be a future date!');</a:t>
            </a:r>
          </a:p>
          <a:p>
            <a:pPr latinLnBrk="1"/>
            <a:r>
              <a:rPr lang="en-US" sz="1200" b="0" i="0" u="none" strike="noStrike" cap="none" dirty="0">
                <a:solidFill>
                  <a:schemeClr val="dk1"/>
                </a:solidFill>
                <a:effectLst/>
                <a:latin typeface="Arial"/>
                <a:ea typeface="Arial"/>
                <a:cs typeface="Arial"/>
                <a:sym typeface="Arial"/>
              </a:rPr>
              <a:t>}</a:t>
            </a:r>
          </a:p>
          <a:p>
            <a:pPr latinLnBrk="1"/>
            <a:endParaRPr lang="en-US" sz="1200" b="0" i="0" u="none" strike="noStrike" cap="none" dirty="0">
              <a:solidFill>
                <a:schemeClr val="dk1"/>
              </a:solidFill>
              <a:effectLst/>
              <a:latin typeface="Arial"/>
              <a:ea typeface="Arial"/>
              <a:cs typeface="Arial"/>
              <a:sym typeface="Arial"/>
            </a:endParaRPr>
          </a:p>
          <a:p>
            <a:pPr latinLnBrk="1"/>
            <a:r>
              <a:rPr lang="en-US" sz="1200" b="0" i="0" u="none" strike="noStrike" cap="none" dirty="0">
                <a:solidFill>
                  <a:schemeClr val="dk1"/>
                </a:solidFill>
                <a:effectLst/>
                <a:latin typeface="Arial"/>
                <a:ea typeface="Arial"/>
                <a:cs typeface="Arial"/>
                <a:sym typeface="Arial"/>
              </a:rPr>
              <a:t>---</a:t>
            </a:r>
          </a:p>
          <a:p>
            <a:pPr latinLnBrk="1"/>
            <a:endParaRPr lang="en-US" sz="1200" b="0" i="0" u="none" strike="noStrike" cap="none" dirty="0">
              <a:solidFill>
                <a:schemeClr val="dk1"/>
              </a:solidFill>
              <a:effectLst/>
              <a:latin typeface="Arial"/>
              <a:ea typeface="Arial"/>
              <a:cs typeface="Arial"/>
              <a:sym typeface="Arial"/>
            </a:endParaRPr>
          </a:p>
          <a:p>
            <a:pPr latinLnBrk="1"/>
            <a:r>
              <a:rPr lang="en-US" sz="1200" b="0" i="0" u="none" strike="noStrike" cap="none" dirty="0">
                <a:solidFill>
                  <a:schemeClr val="dk1"/>
                </a:solidFill>
                <a:effectLst/>
                <a:latin typeface="Arial"/>
                <a:ea typeface="Arial"/>
                <a:cs typeface="Arial"/>
                <a:sym typeface="Arial"/>
              </a:rPr>
              <a:t>var room = await </a:t>
            </a:r>
            <a:r>
              <a:rPr lang="en-US" sz="1200" b="0" i="0" u="none" strike="noStrike" cap="none" dirty="0" err="1">
                <a:solidFill>
                  <a:schemeClr val="dk1"/>
                </a:solidFill>
                <a:effectLst/>
                <a:latin typeface="Arial"/>
                <a:ea typeface="Arial"/>
                <a:cs typeface="Arial"/>
                <a:sym typeface="Arial"/>
              </a:rPr>
              <a:t>db.get</a:t>
            </a:r>
            <a:r>
              <a:rPr lang="en-US" sz="1200" b="0" i="0" u="none" strike="noStrike" cap="none" dirty="0">
                <a:solidFill>
                  <a:schemeClr val="dk1"/>
                </a:solidFill>
                <a:effectLst/>
                <a:latin typeface="Arial"/>
                <a:ea typeface="Arial"/>
                <a:cs typeface="Arial"/>
                <a:sym typeface="Arial"/>
              </a:rPr>
              <a:t>("Room", </a:t>
            </a:r>
            <a:r>
              <a:rPr lang="en-US" sz="1200" b="0" i="0" u="none" strike="noStrike" cap="none" dirty="0" err="1">
                <a:solidFill>
                  <a:schemeClr val="dk1"/>
                </a:solidFill>
                <a:effectLst/>
                <a:latin typeface="Arial"/>
                <a:ea typeface="Arial"/>
                <a:cs typeface="Arial"/>
                <a:sym typeface="Arial"/>
              </a:rPr>
              <a:t>args.data.RoomId</a:t>
            </a:r>
            <a:r>
              <a:rPr lang="en-US" sz="1200" b="0" i="0" u="none" strike="noStrike" cap="none" dirty="0">
                <a:solidFill>
                  <a:schemeClr val="dk1"/>
                </a:solidFill>
                <a:effectLst/>
                <a:latin typeface="Arial"/>
                <a:ea typeface="Arial"/>
                <a:cs typeface="Arial"/>
                <a:sym typeface="Arial"/>
              </a:rPr>
              <a:t>);</a:t>
            </a:r>
          </a:p>
          <a:p>
            <a:pPr latinLnBrk="1"/>
            <a:r>
              <a:rPr lang="en-US" sz="1200" b="0" i="0" u="none" strike="noStrike" cap="none" dirty="0" err="1">
                <a:solidFill>
                  <a:schemeClr val="dk1"/>
                </a:solidFill>
                <a:effectLst/>
                <a:latin typeface="Arial"/>
                <a:ea typeface="Arial"/>
                <a:cs typeface="Arial"/>
                <a:sym typeface="Arial"/>
              </a:rPr>
              <a:t>room.Status</a:t>
            </a:r>
            <a:r>
              <a:rPr lang="en-US" sz="1200" b="0" i="0" u="none" strike="noStrike" cap="none" dirty="0">
                <a:solidFill>
                  <a:schemeClr val="dk1"/>
                </a:solidFill>
                <a:effectLst/>
                <a:latin typeface="Arial"/>
                <a:ea typeface="Arial"/>
                <a:cs typeface="Arial"/>
                <a:sym typeface="Arial"/>
              </a:rPr>
              <a:t> = </a:t>
            </a:r>
            <a:r>
              <a:rPr lang="en-US" sz="1200" b="0" i="0" u="none" strike="noStrike" cap="none" dirty="0" err="1">
                <a:solidFill>
                  <a:schemeClr val="dk1"/>
                </a:solidFill>
                <a:effectLst/>
                <a:latin typeface="Arial"/>
                <a:ea typeface="Arial"/>
                <a:cs typeface="Arial"/>
                <a:sym typeface="Arial"/>
              </a:rPr>
              <a:t>RoomStatus.Occupied</a:t>
            </a:r>
            <a:r>
              <a:rPr lang="en-US" sz="1200" b="0" i="0" u="none" strike="noStrike" cap="none" dirty="0">
                <a:solidFill>
                  <a:schemeClr val="dk1"/>
                </a:solidFill>
                <a:effectLst/>
                <a:latin typeface="Arial"/>
                <a:ea typeface="Arial"/>
                <a:cs typeface="Arial"/>
                <a:sym typeface="Arial"/>
              </a:rPr>
              <a:t>;</a:t>
            </a:r>
          </a:p>
          <a:p>
            <a:pPr latinLnBrk="1"/>
            <a:r>
              <a:rPr lang="en-US" sz="1200" b="0" i="0" u="none" strike="noStrike" cap="none" dirty="0">
                <a:solidFill>
                  <a:schemeClr val="dk1"/>
                </a:solidFill>
                <a:effectLst/>
                <a:latin typeface="Arial"/>
                <a:ea typeface="Arial"/>
                <a:cs typeface="Arial"/>
                <a:sym typeface="Arial"/>
              </a:rPr>
              <a:t>await </a:t>
            </a:r>
            <a:r>
              <a:rPr lang="en-US" sz="1200" b="0" i="0" u="none" strike="noStrike" cap="none" dirty="0" err="1">
                <a:solidFill>
                  <a:schemeClr val="dk1"/>
                </a:solidFill>
                <a:effectLst/>
                <a:latin typeface="Arial"/>
                <a:ea typeface="Arial"/>
                <a:cs typeface="Arial"/>
                <a:sym typeface="Arial"/>
              </a:rPr>
              <a:t>db.update</a:t>
            </a:r>
            <a:r>
              <a:rPr lang="en-US" sz="1200" b="0" i="0" u="none" strike="noStrike" cap="none" dirty="0">
                <a:solidFill>
                  <a:schemeClr val="dk1"/>
                </a:solidFill>
                <a:effectLst/>
                <a:latin typeface="Arial"/>
                <a:ea typeface="Arial"/>
                <a:cs typeface="Arial"/>
                <a:sym typeface="Arial"/>
              </a:rPr>
              <a:t>(room);</a:t>
            </a:r>
          </a:p>
          <a:p>
            <a:pPr latinLnBrk="1"/>
            <a:endParaRPr lang="en-US" sz="1200" b="0" i="0" u="none" strike="noStrike" cap="none" dirty="0">
              <a:solidFill>
                <a:schemeClr val="dk1"/>
              </a:solidFill>
              <a:effectLst/>
              <a:latin typeface="Arial"/>
              <a:ea typeface="Arial"/>
              <a:cs typeface="Arial"/>
              <a:sym typeface="Arial"/>
            </a:endParaRPr>
          </a:p>
          <a:p>
            <a:endParaRPr lang="en-US" dirty="0"/>
          </a:p>
        </p:txBody>
      </p:sp>
      <p:sp>
        <p:nvSpPr>
          <p:cNvPr id="4" name="Slide Number Placeholder 3">
            <a:extLst>
              <a:ext uri="{FF2B5EF4-FFF2-40B4-BE49-F238E27FC236}">
                <a16:creationId xmlns:a16="http://schemas.microsoft.com/office/drawing/2014/main" id="{13E145A8-C8E9-7339-F8EA-42B783D2993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22</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900866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51010-B756-7F37-9F44-5D0C90D557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D65C73-584C-8C33-6629-E98632E17E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00B196-A53B-F9D5-450C-2113845098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39407B-28AD-0588-40AF-0CE0420347A6}"/>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23</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5396473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tr-TR" sz="1200" b="0" i="0" u="none" strike="noStrike" cap="none" smtClean="0">
                <a:solidFill>
                  <a:schemeClr val="dk1"/>
                </a:solidFill>
                <a:latin typeface="Arial"/>
                <a:ea typeface="Arial"/>
                <a:cs typeface="Arial"/>
                <a:sym typeface="Arial"/>
              </a:rPr>
              <a:t>25</a:t>
            </a:fld>
            <a:endParaRPr lang="tr-TR"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8918781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21"/>
        <p:cNvGrpSpPr/>
        <p:nvPr/>
      </p:nvGrpSpPr>
      <p:grpSpPr>
        <a:xfrm>
          <a:off x="0" y="0"/>
          <a:ext cx="0" cy="0"/>
          <a:chOff x="0" y="0"/>
          <a:chExt cx="0" cy="0"/>
        </a:xfrm>
      </p:grpSpPr>
      <p:sp>
        <p:nvSpPr>
          <p:cNvPr id="22" name="Google Shape;22;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5" name="Google Shape;25;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6" name="Google Shape;26;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ölüm Üst Bilgisi" type="secHead">
  <p:cSld name="SECTION_HEADER">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1" name="Google Shape;3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2" name="Google Shape;3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33"/>
        <p:cNvGrpSpPr/>
        <p:nvPr/>
      </p:nvGrpSpPr>
      <p:grpSpPr>
        <a:xfrm>
          <a:off x="0" y="0"/>
          <a:ext cx="0" cy="0"/>
          <a:chOff x="0" y="0"/>
          <a:chExt cx="0" cy="0"/>
        </a:xfrm>
      </p:grpSpPr>
      <p:sp>
        <p:nvSpPr>
          <p:cNvPr id="34" name="Google Shape;3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8" name="Google Shape;38;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39" name="Google Shape;39;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40"/>
        <p:cNvGrpSpPr/>
        <p:nvPr/>
      </p:nvGrpSpPr>
      <p:grpSpPr>
        <a:xfrm>
          <a:off x="0" y="0"/>
          <a:ext cx="0" cy="0"/>
          <a:chOff x="0" y="0"/>
          <a:chExt cx="0" cy="0"/>
        </a:xfrm>
      </p:grpSpPr>
      <p:sp>
        <p:nvSpPr>
          <p:cNvPr id="41" name="Google Shape;41;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7" name="Google Shape;47;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48" name="Google Shape;48;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Yalnızca Başlık" type="titleOnly">
  <p:cSld name="TITLE_ONLY">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2" name="Google Shape;52;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3" name="Google Shape;53;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54"/>
        <p:cNvGrpSpPr/>
        <p:nvPr/>
      </p:nvGrpSpPr>
      <p:grpSpPr>
        <a:xfrm>
          <a:off x="0" y="0"/>
          <a:ext cx="0" cy="0"/>
          <a:chOff x="0" y="0"/>
          <a:chExt cx="0" cy="0"/>
        </a:xfrm>
      </p:grpSpPr>
      <p:sp>
        <p:nvSpPr>
          <p:cNvPr id="55" name="Google Shape;5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6" name="Google Shape;5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57" name="Google Shape;5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58"/>
        <p:cNvGrpSpPr/>
        <p:nvPr/>
      </p:nvGrpSpPr>
      <p:grpSpPr>
        <a:xfrm>
          <a:off x="0" y="0"/>
          <a:ext cx="0" cy="0"/>
          <a:chOff x="0" y="0"/>
          <a:chExt cx="0" cy="0"/>
        </a:xfrm>
      </p:grpSpPr>
      <p:sp>
        <p:nvSpPr>
          <p:cNvPr id="59" name="Google Shape;59;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3" name="Google Shape;6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64" name="Google Shape;6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65"/>
        <p:cNvGrpSpPr/>
        <p:nvPr/>
      </p:nvGrpSpPr>
      <p:grpSpPr>
        <a:xfrm>
          <a:off x="0" y="0"/>
          <a:ext cx="0" cy="0"/>
          <a:chOff x="0" y="0"/>
          <a:chExt cx="0" cy="0"/>
        </a:xfrm>
      </p:grpSpPr>
      <p:sp>
        <p:nvSpPr>
          <p:cNvPr id="66" name="Google Shape;66;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a:spLocks noGrp="1"/>
          </p:cNvSpPr>
          <p:nvPr>
            <p:ph type="pic" idx="2"/>
          </p:nvPr>
        </p:nvSpPr>
        <p:spPr>
          <a:xfrm>
            <a:off x="5183188" y="987425"/>
            <a:ext cx="6172200" cy="4873625"/>
          </a:xfrm>
          <a:prstGeom prst="rect">
            <a:avLst/>
          </a:prstGeom>
          <a:noFill/>
          <a:ln>
            <a:noFill/>
          </a:ln>
        </p:spPr>
      </p:sp>
      <p:sp>
        <p:nvSpPr>
          <p:cNvPr id="68" name="Google Shape;68;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0" name="Google Shape;70;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1" name="Google Shape;71;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şlık ve Dikey Metin" type="vertTx">
  <p:cSld name="VERTICAL_TEXT">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6" name="Google Shape;7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77" name="Google Shape;7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2" name="Google Shape;82;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83" name="Google Shape;83;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13" name="Google Shape;13;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dirty="0"/>
          </a:p>
        </p:txBody>
      </p:sp>
      <p:sp>
        <p:nvSpPr>
          <p:cNvPr id="14" name="Google Shape;14;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tr-TR"/>
              <a:t>‹#›</a:t>
            </a:fld>
            <a:endParaRPr dirty="0"/>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hyperlink" Target="https://abp.io/community/raffles" TargetMode="Externa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hyperlink" Target="https://abp.io/community/announcements/announcing-abp-10-7-release-candidate-2u85sb02"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hyperlink" Target="https://abp.io/community/announcements/announcing-abp-10-7-release-candidate-2u85sb02"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hyperlink" Target="https://abp.io/community/announcements/announcing-abp-10-7-release-candidate-2u85sb02"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7.png"/><Relationship Id="rId4" Type="http://schemas.openxmlformats.org/officeDocument/2006/relationships/hyperlink" Target="https://abp.io/community/announcements/announcing-abp-10-7-release-candidate-2u85sb02"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hyperlink" Target="https://abp.io/community/announcements/announcing-abp-10-7-release-candidate-2u85sb02"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hyperlink" Target="https://datatracker.ietf.org/doc/rfc10008/"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7.png"/><Relationship Id="rId4" Type="http://schemas.openxmlformats.org/officeDocument/2006/relationships/hyperlink" Target="https://abp.io/community/announcements/announcing-abp-10-7-release-candidate-2u85sb02"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7.png"/><Relationship Id="rId4" Type="http://schemas.openxmlformats.org/officeDocument/2006/relationships/hyperlink" Target="https://abp.io/community/announcements/announcing-abp-10-7-release-candidate-2u85sb02"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hyperlink" Target="https://abp.io/low-cod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1.png"/><Relationship Id="rId4" Type="http://schemas.openxmlformats.org/officeDocument/2006/relationships/hyperlink" Target="https://abp.io/docs/latest/low-cod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0D156108-E2BA-CB23-29D2-60D2BB0E325C}"/>
            </a:ext>
          </a:extLst>
        </p:cNvPr>
        <p:cNvGrpSpPr/>
        <p:nvPr/>
      </p:nvGrpSpPr>
      <p:grpSpPr>
        <a:xfrm>
          <a:off x="0" y="0"/>
          <a:ext cx="0" cy="0"/>
          <a:chOff x="0" y="0"/>
          <a:chExt cx="0" cy="0"/>
        </a:xfrm>
      </p:grpSpPr>
      <p:sp>
        <p:nvSpPr>
          <p:cNvPr id="107" name="Google Shape;107;p2">
            <a:extLst>
              <a:ext uri="{FF2B5EF4-FFF2-40B4-BE49-F238E27FC236}">
                <a16:creationId xmlns:a16="http://schemas.microsoft.com/office/drawing/2014/main" id="{3860520D-CA2D-BA82-9AC9-07EF346D4DD9}"/>
              </a:ext>
            </a:extLst>
          </p:cNvPr>
          <p:cNvSpPr txBox="1"/>
          <p:nvPr/>
        </p:nvSpPr>
        <p:spPr>
          <a:xfrm>
            <a:off x="688371" y="2387698"/>
            <a:ext cx="9584380" cy="2554505"/>
          </a:xfrm>
          <a:prstGeom prst="rect">
            <a:avLst/>
          </a:prstGeom>
          <a:noFill/>
          <a:ln>
            <a:noFill/>
          </a:ln>
        </p:spPr>
        <p:txBody>
          <a:bodyPr spcFirstLastPara="1" wrap="square" lIns="91425" tIns="45700" rIns="91425" bIns="45700" anchor="t" anchorCtr="0">
            <a:spAutoFit/>
          </a:bodyPr>
          <a:lstStyle/>
          <a:p>
            <a:pPr>
              <a:buClr>
                <a:schemeClr val="bg1">
                  <a:lumMod val="50000"/>
                </a:schemeClr>
              </a:buClr>
              <a:buSzPts val="3200"/>
            </a:pPr>
            <a:r>
              <a:rPr lang="en-US" sz="3600" dirty="0">
                <a:solidFill>
                  <a:schemeClr val="bg1">
                    <a:lumMod val="50000"/>
                  </a:schemeClr>
                </a:solidFill>
                <a:latin typeface="Lexend" pitchFamily="2" charset="-94"/>
              </a:rPr>
              <a:t>🗣</a:t>
            </a:r>
            <a:r>
              <a:rPr lang="en-US" sz="2800" dirty="0">
                <a:solidFill>
                  <a:schemeClr val="bg1">
                    <a:lumMod val="50000"/>
                  </a:schemeClr>
                </a:solidFill>
                <a:latin typeface="Lexend" pitchFamily="2" charset="-94"/>
              </a:rPr>
              <a:t> </a:t>
            </a:r>
            <a:r>
              <a:rPr lang="en-US" sz="4000" dirty="0">
                <a:solidFill>
                  <a:schemeClr val="bg1">
                    <a:lumMod val="50000"/>
                  </a:schemeClr>
                </a:solidFill>
                <a:latin typeface="Lexend" pitchFamily="2" charset="-94"/>
                <a:ea typeface="Lexend"/>
                <a:cs typeface="Lexend"/>
                <a:sym typeface="Lexend"/>
              </a:rPr>
              <a:t>Alper Ebicoglu</a:t>
            </a:r>
          </a:p>
          <a:p>
            <a:pPr>
              <a:buClr>
                <a:schemeClr val="bg1">
                  <a:lumMod val="50000"/>
                </a:schemeClr>
              </a:buClr>
              <a:buSzPts val="3200"/>
            </a:pPr>
            <a:endParaRPr lang="en-US" sz="4000" b="1" noProof="0" dirty="0">
              <a:solidFill>
                <a:schemeClr val="bg1">
                  <a:lumMod val="50000"/>
                </a:schemeClr>
              </a:solidFill>
              <a:latin typeface="Lexend" pitchFamily="2" charset="-94"/>
              <a:ea typeface="Lexend"/>
              <a:cs typeface="Lexend"/>
              <a:sym typeface="Lexend"/>
            </a:endParaRPr>
          </a:p>
          <a:p>
            <a:pPr marL="571500" indent="-571500">
              <a:buClr>
                <a:schemeClr val="bg1">
                  <a:lumMod val="50000"/>
                </a:schemeClr>
              </a:buClr>
              <a:buSzPts val="3200"/>
              <a:buFont typeface="Arial" panose="020B0604020202020204" pitchFamily="34" charset="0"/>
              <a:buChar char="•"/>
            </a:pPr>
            <a:r>
              <a:rPr lang="en-US" sz="4000" dirty="0">
                <a:solidFill>
                  <a:schemeClr val="tx1"/>
                </a:solidFill>
                <a:latin typeface="Lexend" pitchFamily="2" charset="-94"/>
                <a:ea typeface="Lexend"/>
                <a:cs typeface="Lexend"/>
                <a:sym typeface="Lexend"/>
              </a:rPr>
              <a:t>ABP Community News</a:t>
            </a:r>
            <a:endParaRPr lang="en-US" sz="4000" noProof="0" dirty="0">
              <a:solidFill>
                <a:schemeClr val="tx1"/>
              </a:solidFill>
              <a:latin typeface="Lexend" pitchFamily="2" charset="-94"/>
              <a:ea typeface="Lexend"/>
              <a:cs typeface="Lexend"/>
              <a:sym typeface="Lexend"/>
            </a:endParaRPr>
          </a:p>
          <a:p>
            <a:pPr marL="571500" indent="-571500">
              <a:buClr>
                <a:schemeClr val="bg1">
                  <a:lumMod val="50000"/>
                </a:schemeClr>
              </a:buClr>
              <a:buSzPts val="3200"/>
              <a:buFont typeface="Arial" panose="020B0604020202020204" pitchFamily="34" charset="0"/>
              <a:buChar char="•"/>
            </a:pPr>
            <a:r>
              <a:rPr lang="en-US" sz="4000" noProof="0" dirty="0">
                <a:solidFill>
                  <a:schemeClr val="tx1"/>
                </a:solidFill>
                <a:latin typeface="Lexend" pitchFamily="2" charset="-94"/>
                <a:ea typeface="Lexend"/>
                <a:cs typeface="Lexend"/>
                <a:sym typeface="Lexend"/>
              </a:rPr>
              <a:t>Introducing Low-Code </a:t>
            </a:r>
            <a:r>
              <a:rPr lang="en-US" sz="4000" dirty="0">
                <a:solidFill>
                  <a:schemeClr val="tx1"/>
                </a:solidFill>
                <a:latin typeface="Lexend" pitchFamily="2" charset="-94"/>
                <a:ea typeface="Lexend"/>
                <a:cs typeface="Lexend"/>
                <a:sym typeface="Lexend"/>
              </a:rPr>
              <a:t>module</a:t>
            </a:r>
            <a:endParaRPr lang="en-US" sz="4000" noProof="0" dirty="0">
              <a:solidFill>
                <a:schemeClr val="tx1"/>
              </a:solidFill>
              <a:latin typeface="Lexend" pitchFamily="2" charset="-94"/>
              <a:ea typeface="Lexend"/>
              <a:cs typeface="Lexend"/>
              <a:sym typeface="Lexend"/>
            </a:endParaRPr>
          </a:p>
        </p:txBody>
      </p:sp>
      <p:sp>
        <p:nvSpPr>
          <p:cNvPr id="4" name="Google Shape;107;p2">
            <a:extLst>
              <a:ext uri="{FF2B5EF4-FFF2-40B4-BE49-F238E27FC236}">
                <a16:creationId xmlns:a16="http://schemas.microsoft.com/office/drawing/2014/main" id="{A28924BA-2F19-4F6D-C5C0-75D66DCBFEA3}"/>
              </a:ext>
            </a:extLst>
          </p:cNvPr>
          <p:cNvSpPr txBox="1"/>
          <p:nvPr/>
        </p:nvSpPr>
        <p:spPr>
          <a:xfrm>
            <a:off x="330200" y="413562"/>
            <a:ext cx="5578987" cy="76940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4400" b="1" noProof="0" dirty="0">
                <a:solidFill>
                  <a:srgbClr val="292D33"/>
                </a:solidFill>
                <a:latin typeface="Lexend"/>
                <a:ea typeface="Lexend"/>
                <a:cs typeface="Lexend"/>
                <a:sym typeface="Lexend"/>
              </a:rPr>
              <a:t>TODAY’S AGENDA</a:t>
            </a:r>
            <a:endParaRPr lang="en-US" sz="4400" noProof="0" dirty="0">
              <a:solidFill>
                <a:srgbClr val="292D33"/>
              </a:solidFill>
              <a:latin typeface="Lexend"/>
              <a:ea typeface="Lexend"/>
              <a:cs typeface="Lexend"/>
              <a:sym typeface="Lexend"/>
            </a:endParaRPr>
          </a:p>
        </p:txBody>
      </p:sp>
      <p:cxnSp>
        <p:nvCxnSpPr>
          <p:cNvPr id="3" name="Straight Connector 2">
            <a:extLst>
              <a:ext uri="{FF2B5EF4-FFF2-40B4-BE49-F238E27FC236}">
                <a16:creationId xmlns:a16="http://schemas.microsoft.com/office/drawing/2014/main" id="{42E1535B-A092-1F19-2420-31A0039F717A}"/>
              </a:ext>
            </a:extLst>
          </p:cNvPr>
          <p:cNvCxnSpPr/>
          <p:nvPr/>
        </p:nvCxnSpPr>
        <p:spPr>
          <a:xfrm>
            <a:off x="474020" y="1329813"/>
            <a:ext cx="11054712"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Google Shape;107;p2">
            <a:extLst>
              <a:ext uri="{FF2B5EF4-FFF2-40B4-BE49-F238E27FC236}">
                <a16:creationId xmlns:a16="http://schemas.microsoft.com/office/drawing/2014/main" id="{5104BF10-480A-AECC-B58E-6FBFBB45B42C}"/>
              </a:ext>
            </a:extLst>
          </p:cNvPr>
          <p:cNvSpPr txBox="1"/>
          <p:nvPr/>
        </p:nvSpPr>
        <p:spPr>
          <a:xfrm>
            <a:off x="7207047" y="547153"/>
            <a:ext cx="4459338" cy="553957"/>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3200"/>
              <a:buFont typeface="Arial"/>
              <a:buNone/>
            </a:pPr>
            <a:r>
              <a:rPr lang="en-US" sz="3000" b="1" noProof="0" dirty="0">
                <a:solidFill>
                  <a:schemeClr val="bg1">
                    <a:lumMod val="65000"/>
                  </a:schemeClr>
                </a:solidFill>
                <a:latin typeface="Lexend"/>
                <a:ea typeface="Lexend"/>
                <a:cs typeface="Lexend"/>
                <a:sym typeface="Lexend"/>
              </a:rPr>
              <a:t>Talk#2026.05</a:t>
            </a:r>
          </a:p>
        </p:txBody>
      </p:sp>
    </p:spTree>
    <p:extLst>
      <p:ext uri="{BB962C8B-B14F-4D97-AF65-F5344CB8AC3E}">
        <p14:creationId xmlns:p14="http://schemas.microsoft.com/office/powerpoint/2010/main" val="29630352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1300125-8AA4-6F78-0BF0-5B0D3AE37965}"/>
              </a:ext>
            </a:extLst>
          </p:cNvPr>
          <p:cNvSpPr/>
          <p:nvPr/>
        </p:nvSpPr>
        <p:spPr>
          <a:xfrm>
            <a:off x="234175" y="3034770"/>
            <a:ext cx="11612300" cy="2375210"/>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tr-TR" dirty="0"/>
          </a:p>
        </p:txBody>
      </p:sp>
      <p:sp>
        <p:nvSpPr>
          <p:cNvPr id="11" name="Rectangle 10">
            <a:extLst>
              <a:ext uri="{FF2B5EF4-FFF2-40B4-BE49-F238E27FC236}">
                <a16:creationId xmlns:a16="http://schemas.microsoft.com/office/drawing/2014/main" id="{DE72D9C8-7827-4DD7-3A17-8D7483D380CF}"/>
              </a:ext>
            </a:extLst>
          </p:cNvPr>
          <p:cNvSpPr/>
          <p:nvPr/>
        </p:nvSpPr>
        <p:spPr>
          <a:xfrm>
            <a:off x="234175" y="468351"/>
            <a:ext cx="11612300" cy="2375210"/>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tr-TR" dirty="0"/>
          </a:p>
        </p:txBody>
      </p:sp>
      <p:pic>
        <p:nvPicPr>
          <p:cNvPr id="5" name="Picture 4">
            <a:extLst>
              <a:ext uri="{FF2B5EF4-FFF2-40B4-BE49-F238E27FC236}">
                <a16:creationId xmlns:a16="http://schemas.microsoft.com/office/drawing/2014/main" id="{BD754119-32EC-4259-A719-82F82F795B8B}"/>
              </a:ext>
            </a:extLst>
          </p:cNvPr>
          <p:cNvPicPr>
            <a:picLocks noChangeAspect="1"/>
          </p:cNvPicPr>
          <p:nvPr/>
        </p:nvPicPr>
        <p:blipFill rotWithShape="1">
          <a:blip r:embed="rId3"/>
          <a:srcRect b="5932"/>
          <a:stretch/>
        </p:blipFill>
        <p:spPr>
          <a:xfrm>
            <a:off x="345525" y="588328"/>
            <a:ext cx="11353800" cy="2114550"/>
          </a:xfrm>
          <a:prstGeom prst="rect">
            <a:avLst/>
          </a:prstGeom>
          <a:ln>
            <a:noFill/>
          </a:ln>
          <a:effectLst>
            <a:softEdge rad="112500"/>
          </a:effectLst>
        </p:spPr>
      </p:pic>
      <p:pic>
        <p:nvPicPr>
          <p:cNvPr id="7" name="Picture 6">
            <a:extLst>
              <a:ext uri="{FF2B5EF4-FFF2-40B4-BE49-F238E27FC236}">
                <a16:creationId xmlns:a16="http://schemas.microsoft.com/office/drawing/2014/main" id="{0185B5DA-A6BC-4A1F-A6A8-E56F8D420DCB}"/>
              </a:ext>
            </a:extLst>
          </p:cNvPr>
          <p:cNvPicPr>
            <a:picLocks noChangeAspect="1"/>
          </p:cNvPicPr>
          <p:nvPr/>
        </p:nvPicPr>
        <p:blipFill rotWithShape="1">
          <a:blip r:embed="rId4"/>
          <a:srcRect b="8642"/>
          <a:stretch/>
        </p:blipFill>
        <p:spPr>
          <a:xfrm>
            <a:off x="359325" y="3112748"/>
            <a:ext cx="11340000" cy="2099649"/>
          </a:xfrm>
          <a:prstGeom prst="rect">
            <a:avLst/>
          </a:prstGeom>
          <a:ln>
            <a:noFill/>
          </a:ln>
          <a:effectLst>
            <a:softEdge rad="112500"/>
          </a:effectLst>
        </p:spPr>
      </p:pic>
      <p:sp>
        <p:nvSpPr>
          <p:cNvPr id="9" name="TextBox 8">
            <a:extLst>
              <a:ext uri="{FF2B5EF4-FFF2-40B4-BE49-F238E27FC236}">
                <a16:creationId xmlns:a16="http://schemas.microsoft.com/office/drawing/2014/main" id="{809026EB-03CA-4B04-93E9-7EB82AD0D3CD}"/>
              </a:ext>
            </a:extLst>
          </p:cNvPr>
          <p:cNvSpPr txBox="1"/>
          <p:nvPr/>
        </p:nvSpPr>
        <p:spPr>
          <a:xfrm>
            <a:off x="234175" y="5701564"/>
            <a:ext cx="9794240" cy="461665"/>
          </a:xfrm>
          <a:prstGeom prst="rect">
            <a:avLst/>
          </a:prstGeom>
          <a:noFill/>
        </p:spPr>
        <p:txBody>
          <a:bodyPr wrap="square">
            <a:spAutoFit/>
          </a:bodyPr>
          <a:lstStyle/>
          <a:p>
            <a:pPr algn="ctr"/>
            <a:r>
              <a:rPr lang="en-US" sz="2400" noProof="0" dirty="0">
                <a:latin typeface="Lexend" panose="020B0604020202020204" charset="-94"/>
              </a:rPr>
              <a:t>Visit </a:t>
            </a:r>
            <a:r>
              <a:rPr lang="en-US" sz="2400" b="1" noProof="0" dirty="0">
                <a:latin typeface="Lexend" panose="020B0604020202020204" charset="-94"/>
                <a:hlinkClick r:id="rId5"/>
              </a:rPr>
              <a:t>abp.io/community/raffles</a:t>
            </a:r>
            <a:r>
              <a:rPr lang="en-US" sz="2400" b="1" noProof="0" dirty="0">
                <a:latin typeface="Lexend" panose="020B0604020202020204" charset="-94"/>
              </a:rPr>
              <a:t> </a:t>
            </a:r>
            <a:r>
              <a:rPr lang="en-US" sz="2400" noProof="0" dirty="0">
                <a:latin typeface="Lexend" panose="020B0604020202020204" charset="-94"/>
              </a:rPr>
              <a:t>and join these raffles for free.</a:t>
            </a:r>
          </a:p>
        </p:txBody>
      </p:sp>
      <p:pic>
        <p:nvPicPr>
          <p:cNvPr id="3" name="Picture 2">
            <a:extLst>
              <a:ext uri="{FF2B5EF4-FFF2-40B4-BE49-F238E27FC236}">
                <a16:creationId xmlns:a16="http://schemas.microsoft.com/office/drawing/2014/main" id="{B9778749-F8AE-B8D8-21CD-EA654BF2632A}"/>
              </a:ext>
            </a:extLst>
          </p:cNvPr>
          <p:cNvPicPr>
            <a:picLocks noChangeAspect="1"/>
          </p:cNvPicPr>
          <p:nvPr/>
        </p:nvPicPr>
        <p:blipFill>
          <a:blip r:embed="rId6"/>
          <a:stretch>
            <a:fillRect/>
          </a:stretch>
        </p:blipFill>
        <p:spPr>
          <a:xfrm>
            <a:off x="9648638" y="745603"/>
            <a:ext cx="1832727" cy="1800000"/>
          </a:xfrm>
          <a:prstGeom prst="rect">
            <a:avLst/>
          </a:prstGeom>
        </p:spPr>
      </p:pic>
      <p:pic>
        <p:nvPicPr>
          <p:cNvPr id="10" name="Picture 9">
            <a:extLst>
              <a:ext uri="{FF2B5EF4-FFF2-40B4-BE49-F238E27FC236}">
                <a16:creationId xmlns:a16="http://schemas.microsoft.com/office/drawing/2014/main" id="{5C4202F8-D39B-FDD6-42E1-F2DCDDA52ECE}"/>
              </a:ext>
            </a:extLst>
          </p:cNvPr>
          <p:cNvPicPr>
            <a:picLocks noChangeAspect="1"/>
          </p:cNvPicPr>
          <p:nvPr/>
        </p:nvPicPr>
        <p:blipFill>
          <a:blip r:embed="rId7"/>
          <a:stretch>
            <a:fillRect/>
          </a:stretch>
        </p:blipFill>
        <p:spPr>
          <a:xfrm>
            <a:off x="9686898" y="3268768"/>
            <a:ext cx="1778507" cy="1800000"/>
          </a:xfrm>
          <a:prstGeom prst="rect">
            <a:avLst/>
          </a:prstGeom>
        </p:spPr>
      </p:pic>
    </p:spTree>
    <p:extLst>
      <p:ext uri="{BB962C8B-B14F-4D97-AF65-F5344CB8AC3E}">
        <p14:creationId xmlns:p14="http://schemas.microsoft.com/office/powerpoint/2010/main" val="584080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2EFC4B4B-7A09-00F6-48A7-AF26BECC72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361161F-7AB2-51EE-2B0C-9F33299A6564}"/>
              </a:ext>
            </a:extLst>
          </p:cNvPr>
          <p:cNvSpPr txBox="1"/>
          <p:nvPr/>
        </p:nvSpPr>
        <p:spPr>
          <a:xfrm>
            <a:off x="517667" y="6237079"/>
            <a:ext cx="10607533" cy="307777"/>
          </a:xfrm>
          <a:prstGeom prst="rect">
            <a:avLst/>
          </a:prstGeom>
          <a:noFill/>
        </p:spPr>
        <p:txBody>
          <a:bodyPr wrap="square">
            <a:spAutoFit/>
          </a:bodyPr>
          <a:lstStyle/>
          <a:p>
            <a:r>
              <a:rPr lang="en-US" b="1" dirty="0">
                <a:solidFill>
                  <a:schemeClr val="bg1">
                    <a:lumMod val="50000"/>
                  </a:schemeClr>
                </a:solidFill>
              </a:rPr>
              <a:t>Blog post </a:t>
            </a:r>
            <a:r>
              <a:rPr lang="en-US" dirty="0">
                <a:solidFill>
                  <a:schemeClr val="bg1">
                    <a:lumMod val="50000"/>
                  </a:schemeClr>
                </a:solidFill>
              </a:rPr>
              <a:t>👉 </a:t>
            </a:r>
            <a:r>
              <a:rPr lang="en-US" dirty="0">
                <a:solidFill>
                  <a:schemeClr val="bg1">
                    <a:lumMod val="50000"/>
                  </a:schemeClr>
                </a:solidFill>
                <a:hlinkClick r:id="rId4"/>
              </a:rPr>
              <a:t>https://abp.io/community/announcements/announcing-abp-10-7-release-candidate-2u85sb02</a:t>
            </a:r>
            <a:r>
              <a:rPr lang="en-US" dirty="0">
                <a:solidFill>
                  <a:schemeClr val="bg1">
                    <a:lumMod val="50000"/>
                  </a:schemeClr>
                </a:solidFill>
              </a:rPr>
              <a:t> </a:t>
            </a:r>
            <a:r>
              <a:rPr lang="en-US" dirty="0">
                <a:solidFill>
                  <a:schemeClr val="bg1">
                    <a:lumMod val="50000"/>
                  </a:schemeClr>
                </a:solidFill>
                <a:sym typeface="Wingdings" panose="05000000000000000000" pitchFamily="2" charset="2"/>
              </a:rPr>
              <a:t> Scan &amp; browse </a:t>
            </a:r>
            <a:endParaRPr lang="tr-TR" dirty="0">
              <a:solidFill>
                <a:schemeClr val="bg1">
                  <a:lumMod val="50000"/>
                </a:schemeClr>
              </a:solidFill>
            </a:endParaRPr>
          </a:p>
        </p:txBody>
      </p:sp>
      <p:sp>
        <p:nvSpPr>
          <p:cNvPr id="4" name="TextBox 3">
            <a:extLst>
              <a:ext uri="{FF2B5EF4-FFF2-40B4-BE49-F238E27FC236}">
                <a16:creationId xmlns:a16="http://schemas.microsoft.com/office/drawing/2014/main" id="{B6287330-79E6-55E2-9B85-37EECC294133}"/>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v10.7</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E0B751A1-F00B-32D6-2BF8-0BF0821F397D}"/>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BE04BA65-89E4-1B53-FD25-1C5666DC40A2}"/>
              </a:ext>
            </a:extLst>
          </p:cNvPr>
          <p:cNvPicPr>
            <a:picLocks noChangeAspect="1"/>
          </p:cNvPicPr>
          <p:nvPr/>
        </p:nvPicPr>
        <p:blipFill>
          <a:blip r:embed="rId5"/>
          <a:stretch>
            <a:fillRect/>
          </a:stretch>
        </p:blipFill>
        <p:spPr>
          <a:xfrm>
            <a:off x="442453" y="1178529"/>
            <a:ext cx="8780463" cy="4693787"/>
          </a:xfrm>
          <a:prstGeom prst="rect">
            <a:avLst/>
          </a:prstGeom>
        </p:spPr>
      </p:pic>
      <p:pic>
        <p:nvPicPr>
          <p:cNvPr id="10" name="Picture 9">
            <a:extLst>
              <a:ext uri="{FF2B5EF4-FFF2-40B4-BE49-F238E27FC236}">
                <a16:creationId xmlns:a16="http://schemas.microsoft.com/office/drawing/2014/main" id="{B0724FF2-7126-DF8A-6424-B2E1A47BE97F}"/>
              </a:ext>
            </a:extLst>
          </p:cNvPr>
          <p:cNvPicPr>
            <a:picLocks noChangeAspect="1"/>
          </p:cNvPicPr>
          <p:nvPr/>
        </p:nvPicPr>
        <p:blipFill>
          <a:blip r:embed="rId6"/>
          <a:stretch>
            <a:fillRect/>
          </a:stretch>
        </p:blipFill>
        <p:spPr>
          <a:xfrm>
            <a:off x="10792460" y="5497351"/>
            <a:ext cx="1085073" cy="1098305"/>
          </a:xfrm>
          <a:prstGeom prst="rect">
            <a:avLst/>
          </a:prstGeom>
        </p:spPr>
      </p:pic>
    </p:spTree>
    <p:extLst>
      <p:ext uri="{BB962C8B-B14F-4D97-AF65-F5344CB8AC3E}">
        <p14:creationId xmlns:p14="http://schemas.microsoft.com/office/powerpoint/2010/main" val="2490375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062F5168-DDA8-803A-2558-80D2EA3AD1F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37E732-9259-814F-49E6-A547976154A3}"/>
              </a:ext>
            </a:extLst>
          </p:cNvPr>
          <p:cNvSpPr txBox="1"/>
          <p:nvPr/>
        </p:nvSpPr>
        <p:spPr>
          <a:xfrm>
            <a:off x="517667" y="6237079"/>
            <a:ext cx="10607533" cy="307777"/>
          </a:xfrm>
          <a:prstGeom prst="rect">
            <a:avLst/>
          </a:prstGeom>
          <a:noFill/>
        </p:spPr>
        <p:txBody>
          <a:bodyPr wrap="square">
            <a:spAutoFit/>
          </a:bodyPr>
          <a:lstStyle/>
          <a:p>
            <a:r>
              <a:rPr lang="en-US" b="1" dirty="0">
                <a:solidFill>
                  <a:schemeClr val="bg1">
                    <a:lumMod val="50000"/>
                  </a:schemeClr>
                </a:solidFill>
              </a:rPr>
              <a:t>Blog post </a:t>
            </a:r>
            <a:r>
              <a:rPr lang="en-US" dirty="0">
                <a:solidFill>
                  <a:schemeClr val="bg1">
                    <a:lumMod val="50000"/>
                  </a:schemeClr>
                </a:solidFill>
              </a:rPr>
              <a:t>👉 </a:t>
            </a:r>
            <a:r>
              <a:rPr lang="en-US" dirty="0">
                <a:solidFill>
                  <a:schemeClr val="bg1">
                    <a:lumMod val="50000"/>
                  </a:schemeClr>
                </a:solidFill>
                <a:hlinkClick r:id="rId4"/>
              </a:rPr>
              <a:t>https://abp.io/community/announcements/announcing-abp-10-7-release-candidate-2u85sb02</a:t>
            </a:r>
            <a:r>
              <a:rPr lang="en-US" dirty="0">
                <a:solidFill>
                  <a:schemeClr val="bg1">
                    <a:lumMod val="50000"/>
                  </a:schemeClr>
                </a:solidFill>
              </a:rPr>
              <a:t> </a:t>
            </a:r>
            <a:r>
              <a:rPr lang="en-US" dirty="0">
                <a:solidFill>
                  <a:schemeClr val="bg1">
                    <a:lumMod val="50000"/>
                  </a:schemeClr>
                </a:solidFill>
                <a:sym typeface="Wingdings" panose="05000000000000000000" pitchFamily="2" charset="2"/>
              </a:rPr>
              <a:t> Scan &amp; browse </a:t>
            </a:r>
            <a:endParaRPr lang="tr-TR" dirty="0">
              <a:solidFill>
                <a:schemeClr val="bg1">
                  <a:lumMod val="50000"/>
                </a:schemeClr>
              </a:solidFill>
            </a:endParaRPr>
          </a:p>
        </p:txBody>
      </p:sp>
      <p:sp>
        <p:nvSpPr>
          <p:cNvPr id="4" name="TextBox 3">
            <a:extLst>
              <a:ext uri="{FF2B5EF4-FFF2-40B4-BE49-F238E27FC236}">
                <a16:creationId xmlns:a16="http://schemas.microsoft.com/office/drawing/2014/main" id="{C8CE49C0-B4F6-3CC1-7C1B-A38C709B9400}"/>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v10.7</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A6636F04-8455-9178-5002-7CE42F1392AC}"/>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CEDF462-A699-4C39-3DD6-2782D3F7F10F}"/>
              </a:ext>
            </a:extLst>
          </p:cNvPr>
          <p:cNvPicPr>
            <a:picLocks noChangeAspect="1"/>
          </p:cNvPicPr>
          <p:nvPr/>
        </p:nvPicPr>
        <p:blipFill>
          <a:blip r:embed="rId5"/>
          <a:stretch>
            <a:fillRect/>
          </a:stretch>
        </p:blipFill>
        <p:spPr>
          <a:xfrm>
            <a:off x="10792460" y="5497351"/>
            <a:ext cx="1085073" cy="1098305"/>
          </a:xfrm>
          <a:prstGeom prst="rect">
            <a:avLst/>
          </a:prstGeom>
        </p:spPr>
      </p:pic>
      <p:pic>
        <p:nvPicPr>
          <p:cNvPr id="5" name="Picture 4">
            <a:extLst>
              <a:ext uri="{FF2B5EF4-FFF2-40B4-BE49-F238E27FC236}">
                <a16:creationId xmlns:a16="http://schemas.microsoft.com/office/drawing/2014/main" id="{D49E413F-38A0-A4C4-F4C3-A46C209389AC}"/>
              </a:ext>
            </a:extLst>
          </p:cNvPr>
          <p:cNvPicPr>
            <a:picLocks noChangeAspect="1"/>
          </p:cNvPicPr>
          <p:nvPr/>
        </p:nvPicPr>
        <p:blipFill>
          <a:blip r:embed="rId6"/>
          <a:stretch>
            <a:fillRect/>
          </a:stretch>
        </p:blipFill>
        <p:spPr>
          <a:xfrm>
            <a:off x="517667" y="1606870"/>
            <a:ext cx="9001125" cy="3276600"/>
          </a:xfrm>
          <a:prstGeom prst="rect">
            <a:avLst/>
          </a:prstGeom>
        </p:spPr>
      </p:pic>
    </p:spTree>
    <p:extLst>
      <p:ext uri="{BB962C8B-B14F-4D97-AF65-F5344CB8AC3E}">
        <p14:creationId xmlns:p14="http://schemas.microsoft.com/office/powerpoint/2010/main" val="2539426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F8CBCDF1-C83D-4AA2-7333-05E098360E6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A0EC48-567E-43FA-5ACF-2A9DB0E21C95}"/>
              </a:ext>
            </a:extLst>
          </p:cNvPr>
          <p:cNvSpPr txBox="1"/>
          <p:nvPr/>
        </p:nvSpPr>
        <p:spPr>
          <a:xfrm>
            <a:off x="517667" y="6237079"/>
            <a:ext cx="10607533" cy="307777"/>
          </a:xfrm>
          <a:prstGeom prst="rect">
            <a:avLst/>
          </a:prstGeom>
          <a:noFill/>
        </p:spPr>
        <p:txBody>
          <a:bodyPr wrap="square">
            <a:spAutoFit/>
          </a:bodyPr>
          <a:lstStyle/>
          <a:p>
            <a:r>
              <a:rPr lang="en-US" b="1" dirty="0">
                <a:solidFill>
                  <a:schemeClr val="bg1">
                    <a:lumMod val="50000"/>
                  </a:schemeClr>
                </a:solidFill>
              </a:rPr>
              <a:t>Blog post </a:t>
            </a:r>
            <a:r>
              <a:rPr lang="en-US" dirty="0">
                <a:solidFill>
                  <a:schemeClr val="bg1">
                    <a:lumMod val="50000"/>
                  </a:schemeClr>
                </a:solidFill>
              </a:rPr>
              <a:t>👉 </a:t>
            </a:r>
            <a:r>
              <a:rPr lang="en-US" dirty="0">
                <a:solidFill>
                  <a:schemeClr val="bg1">
                    <a:lumMod val="50000"/>
                  </a:schemeClr>
                </a:solidFill>
                <a:hlinkClick r:id="rId4"/>
              </a:rPr>
              <a:t>https://abp.io/community/announcements/announcing-abp-10-7-release-candidate-2u85sb02</a:t>
            </a:r>
            <a:r>
              <a:rPr lang="en-US" dirty="0">
                <a:solidFill>
                  <a:schemeClr val="bg1">
                    <a:lumMod val="50000"/>
                  </a:schemeClr>
                </a:solidFill>
              </a:rPr>
              <a:t> </a:t>
            </a:r>
            <a:r>
              <a:rPr lang="en-US" dirty="0">
                <a:solidFill>
                  <a:schemeClr val="bg1">
                    <a:lumMod val="50000"/>
                  </a:schemeClr>
                </a:solidFill>
                <a:sym typeface="Wingdings" panose="05000000000000000000" pitchFamily="2" charset="2"/>
              </a:rPr>
              <a:t> Scan &amp; browse </a:t>
            </a:r>
            <a:endParaRPr lang="tr-TR" dirty="0">
              <a:solidFill>
                <a:schemeClr val="bg1">
                  <a:lumMod val="50000"/>
                </a:schemeClr>
              </a:solidFill>
            </a:endParaRPr>
          </a:p>
        </p:txBody>
      </p:sp>
      <p:sp>
        <p:nvSpPr>
          <p:cNvPr id="4" name="TextBox 3">
            <a:extLst>
              <a:ext uri="{FF2B5EF4-FFF2-40B4-BE49-F238E27FC236}">
                <a16:creationId xmlns:a16="http://schemas.microsoft.com/office/drawing/2014/main" id="{78143DB3-628F-5662-EB48-5109C1FE2002}"/>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v10.7</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3B746B18-7A46-23A0-88F1-03C13790839E}"/>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5EE0AE81-0FBF-13E2-273A-B67F31EF4A79}"/>
              </a:ext>
            </a:extLst>
          </p:cNvPr>
          <p:cNvPicPr>
            <a:picLocks noChangeAspect="1"/>
          </p:cNvPicPr>
          <p:nvPr/>
        </p:nvPicPr>
        <p:blipFill>
          <a:blip r:embed="rId5"/>
          <a:stretch>
            <a:fillRect/>
          </a:stretch>
        </p:blipFill>
        <p:spPr>
          <a:xfrm>
            <a:off x="10792460" y="5497351"/>
            <a:ext cx="1085073" cy="1098305"/>
          </a:xfrm>
          <a:prstGeom prst="rect">
            <a:avLst/>
          </a:prstGeom>
        </p:spPr>
      </p:pic>
      <p:pic>
        <p:nvPicPr>
          <p:cNvPr id="5" name="Picture 4">
            <a:extLst>
              <a:ext uri="{FF2B5EF4-FFF2-40B4-BE49-F238E27FC236}">
                <a16:creationId xmlns:a16="http://schemas.microsoft.com/office/drawing/2014/main" id="{A14A8D5D-4865-E346-30E2-D84BD0DB6614}"/>
              </a:ext>
            </a:extLst>
          </p:cNvPr>
          <p:cNvPicPr>
            <a:picLocks noChangeAspect="1"/>
          </p:cNvPicPr>
          <p:nvPr/>
        </p:nvPicPr>
        <p:blipFill>
          <a:blip r:embed="rId6"/>
          <a:srcRect b="77788"/>
          <a:stretch>
            <a:fillRect/>
          </a:stretch>
        </p:blipFill>
        <p:spPr>
          <a:xfrm>
            <a:off x="442453" y="1222772"/>
            <a:ext cx="9010650" cy="1366735"/>
          </a:xfrm>
          <a:prstGeom prst="rect">
            <a:avLst/>
          </a:prstGeom>
        </p:spPr>
      </p:pic>
      <p:pic>
        <p:nvPicPr>
          <p:cNvPr id="7" name="Picture 6">
            <a:extLst>
              <a:ext uri="{FF2B5EF4-FFF2-40B4-BE49-F238E27FC236}">
                <a16:creationId xmlns:a16="http://schemas.microsoft.com/office/drawing/2014/main" id="{3BD109A3-20DE-896E-E0D9-C4E6B859D088}"/>
              </a:ext>
            </a:extLst>
          </p:cNvPr>
          <p:cNvPicPr>
            <a:picLocks noChangeAspect="1"/>
          </p:cNvPicPr>
          <p:nvPr/>
        </p:nvPicPr>
        <p:blipFill>
          <a:blip r:embed="rId7"/>
          <a:srcRect b="36882"/>
          <a:stretch>
            <a:fillRect/>
          </a:stretch>
        </p:blipFill>
        <p:spPr>
          <a:xfrm>
            <a:off x="517666" y="2690674"/>
            <a:ext cx="8020091" cy="336443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473119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C6BB883E-B174-C2CC-9E9B-AF798A87833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1A0FC94-376F-A22B-6941-671B19736230}"/>
              </a:ext>
            </a:extLst>
          </p:cNvPr>
          <p:cNvSpPr txBox="1"/>
          <p:nvPr/>
        </p:nvSpPr>
        <p:spPr>
          <a:xfrm>
            <a:off x="517667" y="6237079"/>
            <a:ext cx="10607533" cy="307777"/>
          </a:xfrm>
          <a:prstGeom prst="rect">
            <a:avLst/>
          </a:prstGeom>
          <a:noFill/>
        </p:spPr>
        <p:txBody>
          <a:bodyPr wrap="square">
            <a:spAutoFit/>
          </a:bodyPr>
          <a:lstStyle/>
          <a:p>
            <a:r>
              <a:rPr lang="en-US" b="1" dirty="0">
                <a:solidFill>
                  <a:schemeClr val="bg1">
                    <a:lumMod val="50000"/>
                  </a:schemeClr>
                </a:solidFill>
              </a:rPr>
              <a:t>Blog post </a:t>
            </a:r>
            <a:r>
              <a:rPr lang="en-US" dirty="0">
                <a:solidFill>
                  <a:schemeClr val="bg1">
                    <a:lumMod val="50000"/>
                  </a:schemeClr>
                </a:solidFill>
              </a:rPr>
              <a:t>👉 </a:t>
            </a:r>
            <a:r>
              <a:rPr lang="en-US" dirty="0">
                <a:solidFill>
                  <a:schemeClr val="bg1">
                    <a:lumMod val="50000"/>
                  </a:schemeClr>
                </a:solidFill>
                <a:hlinkClick r:id="rId4"/>
              </a:rPr>
              <a:t>https://abp.io/community/announcements/announcing-abp-10-7-release-candidate-2u85sb02</a:t>
            </a:r>
            <a:r>
              <a:rPr lang="en-US" dirty="0">
                <a:solidFill>
                  <a:schemeClr val="bg1">
                    <a:lumMod val="50000"/>
                  </a:schemeClr>
                </a:solidFill>
              </a:rPr>
              <a:t> </a:t>
            </a:r>
            <a:r>
              <a:rPr lang="en-US" dirty="0">
                <a:solidFill>
                  <a:schemeClr val="bg1">
                    <a:lumMod val="50000"/>
                  </a:schemeClr>
                </a:solidFill>
                <a:sym typeface="Wingdings" panose="05000000000000000000" pitchFamily="2" charset="2"/>
              </a:rPr>
              <a:t> Scan &amp; browse </a:t>
            </a:r>
            <a:endParaRPr lang="tr-TR" dirty="0">
              <a:solidFill>
                <a:schemeClr val="bg1">
                  <a:lumMod val="50000"/>
                </a:schemeClr>
              </a:solidFill>
            </a:endParaRPr>
          </a:p>
        </p:txBody>
      </p:sp>
      <p:sp>
        <p:nvSpPr>
          <p:cNvPr id="4" name="TextBox 3">
            <a:extLst>
              <a:ext uri="{FF2B5EF4-FFF2-40B4-BE49-F238E27FC236}">
                <a16:creationId xmlns:a16="http://schemas.microsoft.com/office/drawing/2014/main" id="{9FB975DD-8B93-8C60-E49B-16977E1D87DE}"/>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v10.7</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681496A2-A189-3027-E6A6-428B3B356F9C}"/>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03E661D-EC42-F819-DBA7-5DBE4E0CDED2}"/>
              </a:ext>
            </a:extLst>
          </p:cNvPr>
          <p:cNvPicPr>
            <a:picLocks noChangeAspect="1"/>
          </p:cNvPicPr>
          <p:nvPr/>
        </p:nvPicPr>
        <p:blipFill>
          <a:blip r:embed="rId5"/>
          <a:stretch>
            <a:fillRect/>
          </a:stretch>
        </p:blipFill>
        <p:spPr>
          <a:xfrm>
            <a:off x="10792460" y="5497351"/>
            <a:ext cx="1085073" cy="1098305"/>
          </a:xfrm>
          <a:prstGeom prst="rect">
            <a:avLst/>
          </a:prstGeom>
        </p:spPr>
      </p:pic>
      <p:pic>
        <p:nvPicPr>
          <p:cNvPr id="5" name="Picture 4">
            <a:extLst>
              <a:ext uri="{FF2B5EF4-FFF2-40B4-BE49-F238E27FC236}">
                <a16:creationId xmlns:a16="http://schemas.microsoft.com/office/drawing/2014/main" id="{A55103C6-6090-7C15-F5D5-50519AC9444D}"/>
              </a:ext>
            </a:extLst>
          </p:cNvPr>
          <p:cNvPicPr>
            <a:picLocks noChangeAspect="1"/>
          </p:cNvPicPr>
          <p:nvPr/>
        </p:nvPicPr>
        <p:blipFill>
          <a:blip r:embed="rId6"/>
          <a:stretch>
            <a:fillRect/>
          </a:stretch>
        </p:blipFill>
        <p:spPr>
          <a:xfrm>
            <a:off x="517667" y="1946118"/>
            <a:ext cx="9672237" cy="2101773"/>
          </a:xfrm>
          <a:prstGeom prst="rect">
            <a:avLst/>
          </a:prstGeom>
        </p:spPr>
      </p:pic>
      <p:sp>
        <p:nvSpPr>
          <p:cNvPr id="7" name="TextBox 6">
            <a:extLst>
              <a:ext uri="{FF2B5EF4-FFF2-40B4-BE49-F238E27FC236}">
                <a16:creationId xmlns:a16="http://schemas.microsoft.com/office/drawing/2014/main" id="{40BFE3EA-154E-897F-7AC0-B23A2AFE4009}"/>
              </a:ext>
            </a:extLst>
          </p:cNvPr>
          <p:cNvSpPr txBox="1"/>
          <p:nvPr/>
        </p:nvSpPr>
        <p:spPr>
          <a:xfrm>
            <a:off x="7496409" y="2027163"/>
            <a:ext cx="2461631" cy="40011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tr-TR" sz="2000" dirty="0">
                <a:latin typeface="Lexend Light" pitchFamily="2" charset="-94"/>
              </a:rPr>
              <a:t>ABP Studio v3.0.9 </a:t>
            </a:r>
            <a:endParaRPr lang="tr-TR" dirty="0">
              <a:latin typeface="Lexend Light" pitchFamily="2" charset="-94"/>
            </a:endParaRPr>
          </a:p>
        </p:txBody>
      </p:sp>
    </p:spTree>
    <p:extLst>
      <p:ext uri="{BB962C8B-B14F-4D97-AF65-F5344CB8AC3E}">
        <p14:creationId xmlns:p14="http://schemas.microsoft.com/office/powerpoint/2010/main" val="18680906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46F3C3CA-C5A2-2279-D371-A118DE196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63F017F-ECF6-5EA9-C960-F7E363EB466B}"/>
              </a:ext>
            </a:extLst>
          </p:cNvPr>
          <p:cNvSpPr txBox="1"/>
          <p:nvPr/>
        </p:nvSpPr>
        <p:spPr>
          <a:xfrm>
            <a:off x="517667" y="6237079"/>
            <a:ext cx="10607533" cy="307777"/>
          </a:xfrm>
          <a:prstGeom prst="rect">
            <a:avLst/>
          </a:prstGeom>
          <a:noFill/>
        </p:spPr>
        <p:txBody>
          <a:bodyPr wrap="square">
            <a:spAutoFit/>
          </a:bodyPr>
          <a:lstStyle/>
          <a:p>
            <a:r>
              <a:rPr lang="en-US" b="1" dirty="0">
                <a:solidFill>
                  <a:schemeClr val="bg1">
                    <a:lumMod val="50000"/>
                  </a:schemeClr>
                </a:solidFill>
              </a:rPr>
              <a:t>Blog post </a:t>
            </a:r>
            <a:r>
              <a:rPr lang="en-US" dirty="0">
                <a:solidFill>
                  <a:schemeClr val="bg1">
                    <a:lumMod val="50000"/>
                  </a:schemeClr>
                </a:solidFill>
              </a:rPr>
              <a:t>👉 </a:t>
            </a:r>
            <a:r>
              <a:rPr lang="en-US" dirty="0">
                <a:solidFill>
                  <a:schemeClr val="bg1">
                    <a:lumMod val="50000"/>
                  </a:schemeClr>
                </a:solidFill>
                <a:hlinkClick r:id="rId4"/>
              </a:rPr>
              <a:t>https://abp.io/community/announcements/announcing-abp-10-7-release-candidate-2u85sb02</a:t>
            </a:r>
            <a:r>
              <a:rPr lang="en-US" dirty="0">
                <a:solidFill>
                  <a:schemeClr val="bg1">
                    <a:lumMod val="50000"/>
                  </a:schemeClr>
                </a:solidFill>
              </a:rPr>
              <a:t> </a:t>
            </a:r>
            <a:r>
              <a:rPr lang="en-US" dirty="0">
                <a:solidFill>
                  <a:schemeClr val="bg1">
                    <a:lumMod val="50000"/>
                  </a:schemeClr>
                </a:solidFill>
                <a:sym typeface="Wingdings" panose="05000000000000000000" pitchFamily="2" charset="2"/>
              </a:rPr>
              <a:t> Scan &amp; browse </a:t>
            </a:r>
            <a:endParaRPr lang="tr-TR" dirty="0">
              <a:solidFill>
                <a:schemeClr val="bg1">
                  <a:lumMod val="50000"/>
                </a:schemeClr>
              </a:solidFill>
            </a:endParaRPr>
          </a:p>
        </p:txBody>
      </p:sp>
      <p:sp>
        <p:nvSpPr>
          <p:cNvPr id="4" name="TextBox 3">
            <a:extLst>
              <a:ext uri="{FF2B5EF4-FFF2-40B4-BE49-F238E27FC236}">
                <a16:creationId xmlns:a16="http://schemas.microsoft.com/office/drawing/2014/main" id="{AA842D67-CD4E-BDDC-F067-623075A4451E}"/>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v10.7</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7E0CA836-3D42-D695-B5B1-5F4581D7F5A1}"/>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9D759F9-070C-C66A-517F-09D70581E0E6}"/>
              </a:ext>
            </a:extLst>
          </p:cNvPr>
          <p:cNvPicPr>
            <a:picLocks noChangeAspect="1"/>
          </p:cNvPicPr>
          <p:nvPr/>
        </p:nvPicPr>
        <p:blipFill>
          <a:blip r:embed="rId5"/>
          <a:stretch>
            <a:fillRect/>
          </a:stretch>
        </p:blipFill>
        <p:spPr>
          <a:xfrm>
            <a:off x="10792460" y="5497351"/>
            <a:ext cx="1085073" cy="1098305"/>
          </a:xfrm>
          <a:prstGeom prst="rect">
            <a:avLst/>
          </a:prstGeom>
        </p:spPr>
      </p:pic>
      <p:pic>
        <p:nvPicPr>
          <p:cNvPr id="5" name="Picture 4">
            <a:extLst>
              <a:ext uri="{FF2B5EF4-FFF2-40B4-BE49-F238E27FC236}">
                <a16:creationId xmlns:a16="http://schemas.microsoft.com/office/drawing/2014/main" id="{740B8851-E81F-E734-3AAB-FB0C21F0B2E2}"/>
              </a:ext>
            </a:extLst>
          </p:cNvPr>
          <p:cNvPicPr>
            <a:picLocks noChangeAspect="1"/>
          </p:cNvPicPr>
          <p:nvPr/>
        </p:nvPicPr>
        <p:blipFill>
          <a:blip r:embed="rId6"/>
          <a:stretch>
            <a:fillRect/>
          </a:stretch>
        </p:blipFill>
        <p:spPr>
          <a:xfrm>
            <a:off x="517667" y="1949838"/>
            <a:ext cx="8705850" cy="2266950"/>
          </a:xfrm>
          <a:prstGeom prst="rect">
            <a:avLst/>
          </a:prstGeom>
        </p:spPr>
      </p:pic>
    </p:spTree>
    <p:extLst>
      <p:ext uri="{BB962C8B-B14F-4D97-AF65-F5344CB8AC3E}">
        <p14:creationId xmlns:p14="http://schemas.microsoft.com/office/powerpoint/2010/main" val="2467685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36AE6E95-3CF9-F3F8-2EC1-08863CA8DB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4DB95AB-091A-9A37-F155-EA742826B277}"/>
              </a:ext>
            </a:extLst>
          </p:cNvPr>
          <p:cNvSpPr txBox="1"/>
          <p:nvPr/>
        </p:nvSpPr>
        <p:spPr>
          <a:xfrm>
            <a:off x="517667" y="6237079"/>
            <a:ext cx="10607533" cy="307777"/>
          </a:xfrm>
          <a:prstGeom prst="rect">
            <a:avLst/>
          </a:prstGeom>
          <a:noFill/>
        </p:spPr>
        <p:txBody>
          <a:bodyPr wrap="square">
            <a:spAutoFit/>
          </a:bodyPr>
          <a:lstStyle/>
          <a:p>
            <a:r>
              <a:rPr lang="en-US" b="1" dirty="0">
                <a:solidFill>
                  <a:schemeClr val="bg1">
                    <a:lumMod val="50000"/>
                  </a:schemeClr>
                </a:solidFill>
              </a:rPr>
              <a:t>Blog post </a:t>
            </a:r>
            <a:r>
              <a:rPr lang="en-US" dirty="0">
                <a:solidFill>
                  <a:schemeClr val="bg1">
                    <a:lumMod val="50000"/>
                  </a:schemeClr>
                </a:solidFill>
              </a:rPr>
              <a:t>👉 </a:t>
            </a:r>
            <a:r>
              <a:rPr lang="en-US" dirty="0">
                <a:solidFill>
                  <a:schemeClr val="bg1">
                    <a:lumMod val="50000"/>
                  </a:schemeClr>
                </a:solidFill>
                <a:hlinkClick r:id="rId4"/>
              </a:rPr>
              <a:t>https://abp.io/community/announcements/announcing-abp-10-7-release-candidate-2u85sb02</a:t>
            </a:r>
            <a:r>
              <a:rPr lang="en-US" dirty="0">
                <a:solidFill>
                  <a:schemeClr val="bg1">
                    <a:lumMod val="50000"/>
                  </a:schemeClr>
                </a:solidFill>
              </a:rPr>
              <a:t> </a:t>
            </a:r>
            <a:r>
              <a:rPr lang="en-US" dirty="0">
                <a:solidFill>
                  <a:schemeClr val="bg1">
                    <a:lumMod val="50000"/>
                  </a:schemeClr>
                </a:solidFill>
                <a:sym typeface="Wingdings" panose="05000000000000000000" pitchFamily="2" charset="2"/>
              </a:rPr>
              <a:t> Scan &amp; browse </a:t>
            </a:r>
            <a:endParaRPr lang="tr-TR" dirty="0">
              <a:solidFill>
                <a:schemeClr val="bg1">
                  <a:lumMod val="50000"/>
                </a:schemeClr>
              </a:solidFill>
            </a:endParaRPr>
          </a:p>
        </p:txBody>
      </p:sp>
      <p:sp>
        <p:nvSpPr>
          <p:cNvPr id="4" name="TextBox 3">
            <a:extLst>
              <a:ext uri="{FF2B5EF4-FFF2-40B4-BE49-F238E27FC236}">
                <a16:creationId xmlns:a16="http://schemas.microsoft.com/office/drawing/2014/main" id="{F8675A7F-90A0-0E37-E300-20CB2815EB0E}"/>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v10.7</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DA993E6F-DDB0-CA01-2CEA-5C2137D15367}"/>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45C5DBDB-1B52-3218-649A-BA41E26D5E5A}"/>
              </a:ext>
            </a:extLst>
          </p:cNvPr>
          <p:cNvPicPr>
            <a:picLocks noChangeAspect="1"/>
          </p:cNvPicPr>
          <p:nvPr/>
        </p:nvPicPr>
        <p:blipFill>
          <a:blip r:embed="rId5"/>
          <a:stretch>
            <a:fillRect/>
          </a:stretch>
        </p:blipFill>
        <p:spPr>
          <a:xfrm>
            <a:off x="10792460" y="5497351"/>
            <a:ext cx="1085073" cy="1098305"/>
          </a:xfrm>
          <a:prstGeom prst="rect">
            <a:avLst/>
          </a:prstGeom>
        </p:spPr>
      </p:pic>
      <p:pic>
        <p:nvPicPr>
          <p:cNvPr id="5" name="Picture 4">
            <a:extLst>
              <a:ext uri="{FF2B5EF4-FFF2-40B4-BE49-F238E27FC236}">
                <a16:creationId xmlns:a16="http://schemas.microsoft.com/office/drawing/2014/main" id="{1CD795DD-C3C6-35AC-2A75-47D33B3653F9}"/>
              </a:ext>
            </a:extLst>
          </p:cNvPr>
          <p:cNvPicPr>
            <a:picLocks noChangeAspect="1"/>
          </p:cNvPicPr>
          <p:nvPr/>
        </p:nvPicPr>
        <p:blipFill>
          <a:blip r:embed="rId6"/>
          <a:stretch>
            <a:fillRect/>
          </a:stretch>
        </p:blipFill>
        <p:spPr>
          <a:xfrm>
            <a:off x="517667" y="2367728"/>
            <a:ext cx="9124950" cy="2686050"/>
          </a:xfrm>
          <a:prstGeom prst="rect">
            <a:avLst/>
          </a:prstGeom>
        </p:spPr>
      </p:pic>
      <p:sp>
        <p:nvSpPr>
          <p:cNvPr id="7" name="TextBox 6">
            <a:extLst>
              <a:ext uri="{FF2B5EF4-FFF2-40B4-BE49-F238E27FC236}">
                <a16:creationId xmlns:a16="http://schemas.microsoft.com/office/drawing/2014/main" id="{392DDE88-CD0C-1A32-B7C1-A6DC01BBA408}"/>
              </a:ext>
            </a:extLst>
          </p:cNvPr>
          <p:cNvSpPr txBox="1"/>
          <p:nvPr/>
        </p:nvSpPr>
        <p:spPr>
          <a:xfrm>
            <a:off x="640329" y="1527223"/>
            <a:ext cx="8748997" cy="5232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tr-TR" b="1" dirty="0">
                <a:latin typeface="Lexend" pitchFamily="2" charset="-94"/>
              </a:rPr>
              <a:t>The HTTP QUERY Method</a:t>
            </a:r>
            <a:r>
              <a:rPr lang="en-US" b="1" dirty="0">
                <a:latin typeface="Lexend" pitchFamily="2" charset="-94"/>
              </a:rPr>
              <a:t>  </a:t>
            </a:r>
            <a:r>
              <a:rPr lang="tr-TR" b="1" dirty="0">
                <a:latin typeface="Lexend" pitchFamily="2" charset="-94"/>
              </a:rPr>
              <a:t>RFC 10008</a:t>
            </a:r>
          </a:p>
          <a:p>
            <a:r>
              <a:rPr lang="tr-TR" b="1" dirty="0">
                <a:latin typeface="Lexend" pitchFamily="2" charset="-94"/>
                <a:hlinkClick r:id="rId7"/>
              </a:rPr>
              <a:t>https://datatracker.ietf.org/doc/rfc10008/</a:t>
            </a:r>
            <a:r>
              <a:rPr lang="en-US" b="1" dirty="0">
                <a:latin typeface="Lexend" pitchFamily="2" charset="-94"/>
              </a:rPr>
              <a:t> </a:t>
            </a:r>
            <a:endParaRPr lang="tr-TR" b="1" dirty="0">
              <a:latin typeface="Lexend" pitchFamily="2" charset="-94"/>
            </a:endParaRPr>
          </a:p>
        </p:txBody>
      </p:sp>
      <p:sp>
        <p:nvSpPr>
          <p:cNvPr id="9" name="TextBox 8">
            <a:extLst>
              <a:ext uri="{FF2B5EF4-FFF2-40B4-BE49-F238E27FC236}">
                <a16:creationId xmlns:a16="http://schemas.microsoft.com/office/drawing/2014/main" id="{5EB8C1EF-50B7-A0B6-8198-CEA9D67B3F5D}"/>
              </a:ext>
            </a:extLst>
          </p:cNvPr>
          <p:cNvSpPr txBox="1"/>
          <p:nvPr/>
        </p:nvSpPr>
        <p:spPr>
          <a:xfrm>
            <a:off x="7493220" y="1583717"/>
            <a:ext cx="2149397" cy="384721"/>
          </a:xfrm>
          <a:prstGeom prst="rect">
            <a:avLst/>
          </a:prstGeom>
          <a:noFill/>
        </p:spPr>
        <p:txBody>
          <a:bodyPr wrap="square">
            <a:spAutoFit/>
          </a:bodyPr>
          <a:lstStyle/>
          <a:p>
            <a:r>
              <a:rPr lang="en-US" sz="1900" dirty="0">
                <a:latin typeface="Lexend Light" pitchFamily="2" charset="-94"/>
                <a:ea typeface="Poppins"/>
                <a:cs typeface="Poppins"/>
                <a:sym typeface="Poppins"/>
              </a:rPr>
              <a:t>June 15, 2026</a:t>
            </a:r>
            <a:endParaRPr lang="tr-TR" dirty="0">
              <a:latin typeface="Lexend Light" pitchFamily="2" charset="-94"/>
            </a:endParaRPr>
          </a:p>
        </p:txBody>
      </p:sp>
    </p:spTree>
    <p:extLst>
      <p:ext uri="{BB962C8B-B14F-4D97-AF65-F5344CB8AC3E}">
        <p14:creationId xmlns:p14="http://schemas.microsoft.com/office/powerpoint/2010/main" val="19201696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7240A998-8E3D-1586-7ADB-82A1D502F1D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AA23F9-BCA6-6E94-F848-CB9F256F7C7B}"/>
              </a:ext>
            </a:extLst>
          </p:cNvPr>
          <p:cNvSpPr txBox="1"/>
          <p:nvPr/>
        </p:nvSpPr>
        <p:spPr>
          <a:xfrm>
            <a:off x="517667" y="6237079"/>
            <a:ext cx="10607533" cy="307777"/>
          </a:xfrm>
          <a:prstGeom prst="rect">
            <a:avLst/>
          </a:prstGeom>
          <a:noFill/>
        </p:spPr>
        <p:txBody>
          <a:bodyPr wrap="square">
            <a:spAutoFit/>
          </a:bodyPr>
          <a:lstStyle/>
          <a:p>
            <a:r>
              <a:rPr lang="en-US" b="1" dirty="0">
                <a:solidFill>
                  <a:schemeClr val="bg1">
                    <a:lumMod val="50000"/>
                  </a:schemeClr>
                </a:solidFill>
              </a:rPr>
              <a:t>Blog post </a:t>
            </a:r>
            <a:r>
              <a:rPr lang="en-US" dirty="0">
                <a:solidFill>
                  <a:schemeClr val="bg1">
                    <a:lumMod val="50000"/>
                  </a:schemeClr>
                </a:solidFill>
              </a:rPr>
              <a:t>👉 </a:t>
            </a:r>
            <a:r>
              <a:rPr lang="en-US" dirty="0">
                <a:solidFill>
                  <a:schemeClr val="bg1">
                    <a:lumMod val="50000"/>
                  </a:schemeClr>
                </a:solidFill>
                <a:hlinkClick r:id="rId4"/>
              </a:rPr>
              <a:t>https://abp.io/community/announcements/announcing-abp-10-7-release-candidate-2u85sb02</a:t>
            </a:r>
            <a:r>
              <a:rPr lang="en-US" dirty="0">
                <a:solidFill>
                  <a:schemeClr val="bg1">
                    <a:lumMod val="50000"/>
                  </a:schemeClr>
                </a:solidFill>
              </a:rPr>
              <a:t> </a:t>
            </a:r>
            <a:r>
              <a:rPr lang="en-US" dirty="0">
                <a:solidFill>
                  <a:schemeClr val="bg1">
                    <a:lumMod val="50000"/>
                  </a:schemeClr>
                </a:solidFill>
                <a:sym typeface="Wingdings" panose="05000000000000000000" pitchFamily="2" charset="2"/>
              </a:rPr>
              <a:t> Scan &amp; browse </a:t>
            </a:r>
            <a:endParaRPr lang="tr-TR" dirty="0">
              <a:solidFill>
                <a:schemeClr val="bg1">
                  <a:lumMod val="50000"/>
                </a:schemeClr>
              </a:solidFill>
            </a:endParaRPr>
          </a:p>
        </p:txBody>
      </p:sp>
      <p:sp>
        <p:nvSpPr>
          <p:cNvPr id="4" name="TextBox 3">
            <a:extLst>
              <a:ext uri="{FF2B5EF4-FFF2-40B4-BE49-F238E27FC236}">
                <a16:creationId xmlns:a16="http://schemas.microsoft.com/office/drawing/2014/main" id="{6D33E325-FFF1-5CD1-01F8-FD20CDA49AED}"/>
              </a:ext>
            </a:extLst>
          </p:cNvPr>
          <p:cNvSpPr txBox="1"/>
          <p:nvPr/>
        </p:nvSpPr>
        <p:spPr>
          <a:xfrm>
            <a:off x="442453" y="313144"/>
            <a:ext cx="6096000" cy="553998"/>
          </a:xfrm>
          <a:prstGeom prst="rect">
            <a:avLst/>
          </a:prstGeom>
          <a:noFill/>
        </p:spPr>
        <p:txBody>
          <a:bodyPr wrap="square">
            <a:spAutoFit/>
          </a:bodyPr>
          <a:lstStyle/>
          <a:p>
            <a:r>
              <a:rPr lang="en-US" sz="3000" b="1" noProof="0" dirty="0">
                <a:solidFill>
                  <a:schemeClr val="tx1"/>
                </a:solidFill>
                <a:latin typeface="Lexend" panose="020B0604020202020204" charset="-94"/>
              </a:rPr>
              <a:t>What's New with ABP v10.7</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6DBD390B-90FD-1E97-90A5-926652F301EB}"/>
              </a:ext>
            </a:extLst>
          </p:cNvPr>
          <p:cNvCxnSpPr/>
          <p:nvPr/>
        </p:nvCxnSpPr>
        <p:spPr>
          <a:xfrm>
            <a:off x="442453" y="985684"/>
            <a:ext cx="7200000"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B7552A19-97F3-2575-B0AD-E08790CB65B1}"/>
              </a:ext>
            </a:extLst>
          </p:cNvPr>
          <p:cNvPicPr>
            <a:picLocks noChangeAspect="1"/>
          </p:cNvPicPr>
          <p:nvPr/>
        </p:nvPicPr>
        <p:blipFill>
          <a:blip r:embed="rId5"/>
          <a:stretch>
            <a:fillRect/>
          </a:stretch>
        </p:blipFill>
        <p:spPr>
          <a:xfrm>
            <a:off x="10792460" y="5497351"/>
            <a:ext cx="1085073" cy="1098305"/>
          </a:xfrm>
          <a:prstGeom prst="rect">
            <a:avLst/>
          </a:prstGeom>
        </p:spPr>
      </p:pic>
      <p:pic>
        <p:nvPicPr>
          <p:cNvPr id="5" name="Picture 4">
            <a:extLst>
              <a:ext uri="{FF2B5EF4-FFF2-40B4-BE49-F238E27FC236}">
                <a16:creationId xmlns:a16="http://schemas.microsoft.com/office/drawing/2014/main" id="{AEE7352A-21FC-AD4A-FC64-25D5F9306040}"/>
              </a:ext>
            </a:extLst>
          </p:cNvPr>
          <p:cNvPicPr>
            <a:picLocks noChangeAspect="1"/>
          </p:cNvPicPr>
          <p:nvPr/>
        </p:nvPicPr>
        <p:blipFill>
          <a:blip r:embed="rId6"/>
          <a:stretch>
            <a:fillRect/>
          </a:stretch>
        </p:blipFill>
        <p:spPr>
          <a:xfrm>
            <a:off x="517667" y="1209490"/>
            <a:ext cx="8848725" cy="4657725"/>
          </a:xfrm>
          <a:prstGeom prst="rect">
            <a:avLst/>
          </a:prstGeom>
        </p:spPr>
      </p:pic>
    </p:spTree>
    <p:extLst>
      <p:ext uri="{BB962C8B-B14F-4D97-AF65-F5344CB8AC3E}">
        <p14:creationId xmlns:p14="http://schemas.microsoft.com/office/powerpoint/2010/main" val="340988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p:cNvGrpSpPr/>
        <p:nvPr/>
      </p:nvGrpSpPr>
      <p:grpSpPr>
        <a:xfrm>
          <a:off x="0" y="0"/>
          <a:ext cx="0" cy="0"/>
          <a:chOff x="0" y="0"/>
          <a:chExt cx="0" cy="0"/>
        </a:xfrm>
      </p:grpSpPr>
      <p:pic>
        <p:nvPicPr>
          <p:cNvPr id="3" name="Picture 2">
            <a:extLst>
              <a:ext uri="{FF2B5EF4-FFF2-40B4-BE49-F238E27FC236}">
                <a16:creationId xmlns:a16="http://schemas.microsoft.com/office/drawing/2014/main" id="{C4455E10-BD72-FA71-4F5A-16755C80F571}"/>
              </a:ext>
            </a:extLst>
          </p:cNvPr>
          <p:cNvPicPr>
            <a:picLocks noChangeAspect="1"/>
          </p:cNvPicPr>
          <p:nvPr/>
        </p:nvPicPr>
        <p:blipFill>
          <a:blip r:embed="rId4"/>
          <a:stretch>
            <a:fillRect/>
          </a:stretch>
        </p:blipFill>
        <p:spPr>
          <a:xfrm>
            <a:off x="498446" y="394133"/>
            <a:ext cx="10998998" cy="6248151"/>
          </a:xfrm>
          <a:prstGeom prst="rect">
            <a:avLst/>
          </a:prstGeom>
        </p:spPr>
      </p:pic>
      <p:grpSp>
        <p:nvGrpSpPr>
          <p:cNvPr id="9" name="Group 8">
            <a:extLst>
              <a:ext uri="{FF2B5EF4-FFF2-40B4-BE49-F238E27FC236}">
                <a16:creationId xmlns:a16="http://schemas.microsoft.com/office/drawing/2014/main" id="{791D315B-488B-4E64-9313-704CE76D7421}"/>
              </a:ext>
            </a:extLst>
          </p:cNvPr>
          <p:cNvGrpSpPr/>
          <p:nvPr/>
        </p:nvGrpSpPr>
        <p:grpSpPr>
          <a:xfrm>
            <a:off x="958759" y="3764831"/>
            <a:ext cx="1507953" cy="881986"/>
            <a:chOff x="9812050" y="1040711"/>
            <a:chExt cx="1819511" cy="1582450"/>
          </a:xfrm>
        </p:grpSpPr>
        <p:sp>
          <p:nvSpPr>
            <p:cNvPr id="10" name="Speech Bubble: Oval 9">
              <a:extLst>
                <a:ext uri="{FF2B5EF4-FFF2-40B4-BE49-F238E27FC236}">
                  <a16:creationId xmlns:a16="http://schemas.microsoft.com/office/drawing/2014/main" id="{E5E811AE-8DA1-47DE-81E6-75F6E170DD88}"/>
                </a:ext>
              </a:extLst>
            </p:cNvPr>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11" name="Connector: Curved 10">
              <a:extLst>
                <a:ext uri="{FF2B5EF4-FFF2-40B4-BE49-F238E27FC236}">
                  <a16:creationId xmlns:a16="http://schemas.microsoft.com/office/drawing/2014/main" id="{92EA2F72-2DD3-4E67-BE6A-0A24EF2DD04B}"/>
                </a:ext>
              </a:extLst>
            </p:cNvPr>
            <p:cNvCxnSpPr>
              <a:cxnSpLocks/>
              <a:endCxn id="10"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pic>
        <p:nvPicPr>
          <p:cNvPr id="8" name="Picture 7">
            <a:extLst>
              <a:ext uri="{FF2B5EF4-FFF2-40B4-BE49-F238E27FC236}">
                <a16:creationId xmlns:a16="http://schemas.microsoft.com/office/drawing/2014/main" id="{0FBC7235-B581-442E-D9E5-C83E245808D3}"/>
              </a:ext>
            </a:extLst>
          </p:cNvPr>
          <p:cNvPicPr>
            <a:picLocks noChangeAspect="1"/>
          </p:cNvPicPr>
          <p:nvPr/>
        </p:nvPicPr>
        <p:blipFill>
          <a:blip r:embed="rId5"/>
          <a:stretch>
            <a:fillRect/>
          </a:stretch>
        </p:blipFill>
        <p:spPr>
          <a:xfrm>
            <a:off x="722151" y="4646814"/>
            <a:ext cx="1789411" cy="1800000"/>
          </a:xfrm>
          <a:prstGeom prst="rect">
            <a:avLst/>
          </a:prstGeom>
        </p:spPr>
      </p:pic>
    </p:spTree>
    <p:extLst>
      <p:ext uri="{BB962C8B-B14F-4D97-AF65-F5344CB8AC3E}">
        <p14:creationId xmlns:p14="http://schemas.microsoft.com/office/powerpoint/2010/main" val="1900656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B5E5BD5B-20BE-B83F-38F1-99C6C5786D05}"/>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A9B06C88-FC07-60A7-EE65-9275F2F60199}"/>
              </a:ext>
            </a:extLst>
          </p:cNvPr>
          <p:cNvGrpSpPr/>
          <p:nvPr/>
        </p:nvGrpSpPr>
        <p:grpSpPr>
          <a:xfrm>
            <a:off x="1104360" y="4028765"/>
            <a:ext cx="1507953" cy="881986"/>
            <a:chOff x="9812050" y="1040711"/>
            <a:chExt cx="1819511" cy="1582450"/>
          </a:xfrm>
        </p:grpSpPr>
        <p:sp>
          <p:nvSpPr>
            <p:cNvPr id="10" name="Speech Bubble: Oval 9">
              <a:extLst>
                <a:ext uri="{FF2B5EF4-FFF2-40B4-BE49-F238E27FC236}">
                  <a16:creationId xmlns:a16="http://schemas.microsoft.com/office/drawing/2014/main" id="{FE500F2F-CDFE-98C3-72F6-2B593E313B94}"/>
                </a:ext>
              </a:extLst>
            </p:cNvPr>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11" name="Connector: Curved 10">
              <a:extLst>
                <a:ext uri="{FF2B5EF4-FFF2-40B4-BE49-F238E27FC236}">
                  <a16:creationId xmlns:a16="http://schemas.microsoft.com/office/drawing/2014/main" id="{4DE4C7C2-0130-5891-F8BE-7C49C3B9E8A5}"/>
                </a:ext>
              </a:extLst>
            </p:cNvPr>
            <p:cNvCxnSpPr>
              <a:cxnSpLocks/>
              <a:endCxn id="10"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pic>
        <p:nvPicPr>
          <p:cNvPr id="2" name="Picture 1">
            <a:extLst>
              <a:ext uri="{FF2B5EF4-FFF2-40B4-BE49-F238E27FC236}">
                <a16:creationId xmlns:a16="http://schemas.microsoft.com/office/drawing/2014/main" id="{643E6E2A-25D0-C7E9-6948-2F81E31214B5}"/>
              </a:ext>
            </a:extLst>
          </p:cNvPr>
          <p:cNvPicPr>
            <a:picLocks noChangeAspect="1"/>
          </p:cNvPicPr>
          <p:nvPr/>
        </p:nvPicPr>
        <p:blipFill>
          <a:blip r:embed="rId4"/>
          <a:stretch>
            <a:fillRect/>
          </a:stretch>
        </p:blipFill>
        <p:spPr>
          <a:xfrm>
            <a:off x="542924" y="347095"/>
            <a:ext cx="9972675" cy="6163809"/>
          </a:xfrm>
          <a:prstGeom prst="rect">
            <a:avLst/>
          </a:prstGeom>
        </p:spPr>
      </p:pic>
      <p:grpSp>
        <p:nvGrpSpPr>
          <p:cNvPr id="4" name="Group 3">
            <a:extLst>
              <a:ext uri="{FF2B5EF4-FFF2-40B4-BE49-F238E27FC236}">
                <a16:creationId xmlns:a16="http://schemas.microsoft.com/office/drawing/2014/main" id="{38767A43-F502-BD21-5FBE-6EE71C8AC0AC}"/>
              </a:ext>
            </a:extLst>
          </p:cNvPr>
          <p:cNvGrpSpPr/>
          <p:nvPr/>
        </p:nvGrpSpPr>
        <p:grpSpPr>
          <a:xfrm>
            <a:off x="958759" y="3764831"/>
            <a:ext cx="1507953" cy="881986"/>
            <a:chOff x="9812050" y="1040711"/>
            <a:chExt cx="1819511" cy="1582450"/>
          </a:xfrm>
        </p:grpSpPr>
        <p:sp>
          <p:nvSpPr>
            <p:cNvPr id="5" name="Speech Bubble: Oval 4">
              <a:extLst>
                <a:ext uri="{FF2B5EF4-FFF2-40B4-BE49-F238E27FC236}">
                  <a16:creationId xmlns:a16="http://schemas.microsoft.com/office/drawing/2014/main" id="{B9718F19-6E89-91C8-C87F-FD2B784B8063}"/>
                </a:ext>
              </a:extLst>
            </p:cNvPr>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7" name="Connector: Curved 6">
              <a:extLst>
                <a:ext uri="{FF2B5EF4-FFF2-40B4-BE49-F238E27FC236}">
                  <a16:creationId xmlns:a16="http://schemas.microsoft.com/office/drawing/2014/main" id="{1F80970F-A59F-65A2-4A37-9A3F13F37650}"/>
                </a:ext>
              </a:extLst>
            </p:cNvPr>
            <p:cNvCxnSpPr>
              <a:cxnSpLocks/>
              <a:endCxn id="5"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pic>
        <p:nvPicPr>
          <p:cNvPr id="8" name="Picture 7">
            <a:extLst>
              <a:ext uri="{FF2B5EF4-FFF2-40B4-BE49-F238E27FC236}">
                <a16:creationId xmlns:a16="http://schemas.microsoft.com/office/drawing/2014/main" id="{F09D72F1-D68F-A539-0548-DCE88D700DF7}"/>
              </a:ext>
            </a:extLst>
          </p:cNvPr>
          <p:cNvPicPr>
            <a:picLocks noChangeAspect="1"/>
          </p:cNvPicPr>
          <p:nvPr/>
        </p:nvPicPr>
        <p:blipFill>
          <a:blip r:embed="rId5"/>
          <a:stretch>
            <a:fillRect/>
          </a:stretch>
        </p:blipFill>
        <p:spPr>
          <a:xfrm>
            <a:off x="644960" y="4646814"/>
            <a:ext cx="1821752" cy="1800000"/>
          </a:xfrm>
          <a:prstGeom prst="rect">
            <a:avLst/>
          </a:prstGeom>
        </p:spPr>
      </p:pic>
    </p:spTree>
    <p:extLst>
      <p:ext uri="{BB962C8B-B14F-4D97-AF65-F5344CB8AC3E}">
        <p14:creationId xmlns:p14="http://schemas.microsoft.com/office/powerpoint/2010/main" val="3999121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6">
          <a:extLst>
            <a:ext uri="{FF2B5EF4-FFF2-40B4-BE49-F238E27FC236}">
              <a16:creationId xmlns:a16="http://schemas.microsoft.com/office/drawing/2014/main" id="{82855A75-5BF4-DF93-599F-05A8FEFE10A6}"/>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E03A6199-DD50-B3EC-F6FC-434ECB15B428}"/>
              </a:ext>
            </a:extLst>
          </p:cNvPr>
          <p:cNvPicPr>
            <a:picLocks noChangeAspect="1"/>
          </p:cNvPicPr>
          <p:nvPr/>
        </p:nvPicPr>
        <p:blipFill>
          <a:blip r:embed="rId4"/>
          <a:srcRect l="1495" t="2694" r="1001"/>
          <a:stretch>
            <a:fillRect/>
          </a:stretch>
        </p:blipFill>
        <p:spPr>
          <a:xfrm>
            <a:off x="587994" y="417591"/>
            <a:ext cx="10932159" cy="6026020"/>
          </a:xfrm>
          <a:prstGeom prst="rect">
            <a:avLst/>
          </a:prstGeom>
        </p:spPr>
      </p:pic>
      <p:grpSp>
        <p:nvGrpSpPr>
          <p:cNvPr id="4" name="Group 3">
            <a:extLst>
              <a:ext uri="{FF2B5EF4-FFF2-40B4-BE49-F238E27FC236}">
                <a16:creationId xmlns:a16="http://schemas.microsoft.com/office/drawing/2014/main" id="{1FD551E7-061D-4939-3AB7-FD0B8773F50C}"/>
              </a:ext>
            </a:extLst>
          </p:cNvPr>
          <p:cNvGrpSpPr/>
          <p:nvPr/>
        </p:nvGrpSpPr>
        <p:grpSpPr>
          <a:xfrm>
            <a:off x="958759" y="3764831"/>
            <a:ext cx="1507953" cy="881986"/>
            <a:chOff x="9812050" y="1040711"/>
            <a:chExt cx="1819511" cy="1582450"/>
          </a:xfrm>
        </p:grpSpPr>
        <p:sp>
          <p:nvSpPr>
            <p:cNvPr id="5" name="Speech Bubble: Oval 4">
              <a:extLst>
                <a:ext uri="{FF2B5EF4-FFF2-40B4-BE49-F238E27FC236}">
                  <a16:creationId xmlns:a16="http://schemas.microsoft.com/office/drawing/2014/main" id="{63D6FC06-7BA7-1D85-75A5-78E0F68209BE}"/>
                </a:ext>
              </a:extLst>
            </p:cNvPr>
            <p:cNvSpPr/>
            <p:nvPr/>
          </p:nvSpPr>
          <p:spPr>
            <a:xfrm>
              <a:off x="10227282" y="1040711"/>
              <a:ext cx="1404279" cy="1582445"/>
            </a:xfrm>
            <a:prstGeom prst="wedgeEllipseCallout">
              <a:avLst>
                <a:gd name="adj1" fmla="val -37640"/>
                <a:gd name="adj2" fmla="val 26350"/>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noProof="0" dirty="0"/>
                <a:t>Scan to go to website</a:t>
              </a:r>
            </a:p>
          </p:txBody>
        </p:sp>
        <p:cxnSp>
          <p:nvCxnSpPr>
            <p:cNvPr id="7" name="Connector: Curved 6">
              <a:extLst>
                <a:ext uri="{FF2B5EF4-FFF2-40B4-BE49-F238E27FC236}">
                  <a16:creationId xmlns:a16="http://schemas.microsoft.com/office/drawing/2014/main" id="{E7790A94-C1D9-5B8C-1A9E-25E7CF9C5DB0}"/>
                </a:ext>
              </a:extLst>
            </p:cNvPr>
            <p:cNvCxnSpPr>
              <a:cxnSpLocks/>
              <a:endCxn id="5" idx="2"/>
            </p:cNvCxnSpPr>
            <p:nvPr/>
          </p:nvCxnSpPr>
          <p:spPr>
            <a:xfrm rot="5400000" flipH="1" flipV="1">
              <a:off x="9624053" y="2019933"/>
              <a:ext cx="791225" cy="415232"/>
            </a:xfrm>
            <a:prstGeom prst="curvedConnector2">
              <a:avLst/>
            </a:prstGeom>
            <a:ln>
              <a:tailEnd type="triangle"/>
            </a:ln>
          </p:spPr>
          <p:style>
            <a:lnRef idx="3">
              <a:schemeClr val="accent3"/>
            </a:lnRef>
            <a:fillRef idx="0">
              <a:schemeClr val="accent3"/>
            </a:fillRef>
            <a:effectRef idx="2">
              <a:schemeClr val="accent3"/>
            </a:effectRef>
            <a:fontRef idx="minor">
              <a:schemeClr val="tx1"/>
            </a:fontRef>
          </p:style>
        </p:cxnSp>
      </p:grpSp>
      <p:pic>
        <p:nvPicPr>
          <p:cNvPr id="13" name="Picture 12">
            <a:extLst>
              <a:ext uri="{FF2B5EF4-FFF2-40B4-BE49-F238E27FC236}">
                <a16:creationId xmlns:a16="http://schemas.microsoft.com/office/drawing/2014/main" id="{C698FFAC-B5BB-682E-3396-E923862720D2}"/>
              </a:ext>
            </a:extLst>
          </p:cNvPr>
          <p:cNvPicPr>
            <a:picLocks noChangeAspect="1"/>
          </p:cNvPicPr>
          <p:nvPr/>
        </p:nvPicPr>
        <p:blipFill>
          <a:blip r:embed="rId5"/>
          <a:stretch>
            <a:fillRect/>
          </a:stretch>
        </p:blipFill>
        <p:spPr>
          <a:xfrm>
            <a:off x="587994" y="4643611"/>
            <a:ext cx="1783784" cy="1800000"/>
          </a:xfrm>
          <a:prstGeom prst="rect">
            <a:avLst/>
          </a:prstGeom>
        </p:spPr>
      </p:pic>
    </p:spTree>
    <p:extLst>
      <p:ext uri="{BB962C8B-B14F-4D97-AF65-F5344CB8AC3E}">
        <p14:creationId xmlns:p14="http://schemas.microsoft.com/office/powerpoint/2010/main" val="2534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6">
          <a:extLst>
            <a:ext uri="{FF2B5EF4-FFF2-40B4-BE49-F238E27FC236}">
              <a16:creationId xmlns:a16="http://schemas.microsoft.com/office/drawing/2014/main" id="{F499619B-CCB9-7E46-C541-7F12371982B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BD6D5E9-FB76-9CF0-F589-34E4B06F4E83}"/>
              </a:ext>
            </a:extLst>
          </p:cNvPr>
          <p:cNvSpPr txBox="1"/>
          <p:nvPr/>
        </p:nvSpPr>
        <p:spPr>
          <a:xfrm>
            <a:off x="1256492" y="5412879"/>
            <a:ext cx="11021001" cy="1131977"/>
          </a:xfrm>
          <a:prstGeom prst="rect">
            <a:avLst/>
          </a:prstGeom>
          <a:noFill/>
        </p:spPr>
        <p:txBody>
          <a:bodyPr wrap="square">
            <a:spAutoFit/>
          </a:bodyPr>
          <a:lstStyle/>
          <a:p>
            <a:pPr marL="285750" indent="-285750">
              <a:lnSpc>
                <a:spcPct val="150000"/>
              </a:lnSpc>
              <a:buClr>
                <a:schemeClr val="bg1">
                  <a:lumMod val="65000"/>
                </a:schemeClr>
              </a:buClr>
              <a:buFont typeface="Arial" panose="020B0604020202020204" pitchFamily="34" charset="0"/>
              <a:buChar char="•"/>
            </a:pPr>
            <a:r>
              <a:rPr lang="en-US" sz="2400" b="1" dirty="0">
                <a:solidFill>
                  <a:schemeClr val="bg1">
                    <a:lumMod val="50000"/>
                  </a:schemeClr>
                </a:solidFill>
              </a:rPr>
              <a:t>INTRODUCTION PAGE </a:t>
            </a:r>
            <a:r>
              <a:rPr lang="en-US" sz="2400" b="1" dirty="0">
                <a:solidFill>
                  <a:schemeClr val="bg1">
                    <a:lumMod val="50000"/>
                  </a:schemeClr>
                </a:solidFill>
                <a:sym typeface="Wingdings" panose="05000000000000000000" pitchFamily="2" charset="2"/>
              </a:rPr>
              <a:t> </a:t>
            </a:r>
            <a:r>
              <a:rPr lang="en-US" sz="2400" dirty="0">
                <a:solidFill>
                  <a:schemeClr val="bg1">
                    <a:lumMod val="50000"/>
                  </a:schemeClr>
                </a:solidFill>
                <a:hlinkClick r:id="rId3"/>
              </a:rPr>
              <a:t>https://abp.io/</a:t>
            </a:r>
            <a:r>
              <a:rPr lang="en-US" sz="2400" b="1" dirty="0">
                <a:solidFill>
                  <a:schemeClr val="bg1">
                    <a:lumMod val="50000"/>
                  </a:schemeClr>
                </a:solidFill>
                <a:hlinkClick r:id="rId3"/>
              </a:rPr>
              <a:t>low-code</a:t>
            </a:r>
            <a:r>
              <a:rPr lang="en-US" sz="2400" b="1" dirty="0">
                <a:solidFill>
                  <a:schemeClr val="bg1">
                    <a:lumMod val="50000"/>
                  </a:schemeClr>
                </a:solidFill>
              </a:rPr>
              <a:t> </a:t>
            </a:r>
          </a:p>
          <a:p>
            <a:pPr marL="285750" indent="-285750">
              <a:lnSpc>
                <a:spcPct val="150000"/>
              </a:lnSpc>
              <a:buClr>
                <a:schemeClr val="bg1">
                  <a:lumMod val="65000"/>
                </a:schemeClr>
              </a:buClr>
              <a:buFont typeface="Arial" panose="020B0604020202020204" pitchFamily="34" charset="0"/>
              <a:buChar char="•"/>
            </a:pPr>
            <a:r>
              <a:rPr lang="en-US" sz="2400" b="1" dirty="0">
                <a:solidFill>
                  <a:schemeClr val="bg1">
                    <a:lumMod val="50000"/>
                  </a:schemeClr>
                </a:solidFill>
              </a:rPr>
              <a:t>TECHNICAL DOCS </a:t>
            </a:r>
            <a:r>
              <a:rPr lang="en-US" sz="2400" dirty="0">
                <a:solidFill>
                  <a:schemeClr val="bg1">
                    <a:lumMod val="50000"/>
                  </a:schemeClr>
                </a:solidFill>
                <a:sym typeface="Wingdings" panose="05000000000000000000" pitchFamily="2" charset="2"/>
              </a:rPr>
              <a:t> </a:t>
            </a:r>
            <a:r>
              <a:rPr lang="en-US" sz="2400" dirty="0">
                <a:hlinkClick r:id="rId4"/>
              </a:rPr>
              <a:t>https://abp.io/</a:t>
            </a:r>
            <a:r>
              <a:rPr lang="en-US" sz="2400" b="1" dirty="0">
                <a:hlinkClick r:id="rId4"/>
              </a:rPr>
              <a:t>docs/latest/low-code</a:t>
            </a:r>
            <a:endParaRPr lang="tr-TR" sz="2400" b="1" dirty="0">
              <a:solidFill>
                <a:schemeClr val="bg1">
                  <a:lumMod val="50000"/>
                </a:schemeClr>
              </a:solidFill>
            </a:endParaRPr>
          </a:p>
        </p:txBody>
      </p:sp>
      <p:sp>
        <p:nvSpPr>
          <p:cNvPr id="4" name="TextBox 3">
            <a:extLst>
              <a:ext uri="{FF2B5EF4-FFF2-40B4-BE49-F238E27FC236}">
                <a16:creationId xmlns:a16="http://schemas.microsoft.com/office/drawing/2014/main" id="{79C10246-9532-BFBC-7171-A9984DFCA485}"/>
              </a:ext>
            </a:extLst>
          </p:cNvPr>
          <p:cNvSpPr txBox="1"/>
          <p:nvPr/>
        </p:nvSpPr>
        <p:spPr>
          <a:xfrm>
            <a:off x="442453" y="257389"/>
            <a:ext cx="8311254" cy="553998"/>
          </a:xfrm>
          <a:prstGeom prst="rect">
            <a:avLst/>
          </a:prstGeom>
          <a:noFill/>
        </p:spPr>
        <p:txBody>
          <a:bodyPr wrap="square">
            <a:spAutoFit/>
          </a:bodyPr>
          <a:lstStyle/>
          <a:p>
            <a:r>
              <a:rPr lang="en-US" sz="3000" b="1" i="0" dirty="0">
                <a:solidFill>
                  <a:schemeClr val="tx1"/>
                </a:solidFill>
                <a:effectLst/>
                <a:latin typeface="Lexend" panose="020B0604020202020204" charset="-94"/>
              </a:rPr>
              <a:t>WHAT’S ABP LOW-CODE SYSTEM?</a:t>
            </a:r>
            <a:endParaRPr lang="en-US" sz="3000" b="1" i="0" noProof="0" dirty="0">
              <a:solidFill>
                <a:schemeClr val="tx1"/>
              </a:solidFill>
              <a:effectLst/>
              <a:latin typeface="Lexend" panose="020B0604020202020204" charset="-94"/>
            </a:endParaRPr>
          </a:p>
        </p:txBody>
      </p:sp>
      <p:cxnSp>
        <p:nvCxnSpPr>
          <p:cNvPr id="22" name="Straight Connector 21">
            <a:extLst>
              <a:ext uri="{FF2B5EF4-FFF2-40B4-BE49-F238E27FC236}">
                <a16:creationId xmlns:a16="http://schemas.microsoft.com/office/drawing/2014/main" id="{E780C9B4-B006-68C4-AB00-B19AE54FFDFE}"/>
              </a:ext>
            </a:extLst>
          </p:cNvPr>
          <p:cNvCxnSpPr>
            <a:cxnSpLocks/>
          </p:cNvCxnSpPr>
          <p:nvPr/>
        </p:nvCxnSpPr>
        <p:spPr>
          <a:xfrm>
            <a:off x="598570" y="811387"/>
            <a:ext cx="6324539"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B8EEE59C-C102-B5D1-C9DB-9063A1BF4696}"/>
              </a:ext>
            </a:extLst>
          </p:cNvPr>
          <p:cNvPicPr>
            <a:picLocks noChangeAspect="1"/>
          </p:cNvPicPr>
          <p:nvPr/>
        </p:nvPicPr>
        <p:blipFill>
          <a:blip r:embed="rId5"/>
          <a:stretch>
            <a:fillRect/>
          </a:stretch>
        </p:blipFill>
        <p:spPr>
          <a:xfrm>
            <a:off x="1675659" y="1338403"/>
            <a:ext cx="7078048" cy="359048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40431921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39554" y="1248157"/>
            <a:ext cx="10972800" cy="438912"/>
          </a:xfrm>
          <a:prstGeom prst="rect">
            <a:avLst/>
          </a:prstGeom>
          <a:noFill/>
        </p:spPr>
        <p:txBody>
          <a:bodyPr wrap="square">
            <a:spAutoFit/>
          </a:bodyPr>
          <a:lstStyle/>
          <a:p>
            <a:pPr algn="l"/>
            <a:r>
              <a:rPr sz="1500" b="0" dirty="0">
                <a:solidFill>
                  <a:srgbClr val="677182"/>
                </a:solidFill>
                <a:latin typeface="Aptos"/>
              </a:rPr>
              <a:t>Build data-driven business applications visually — while staying inside the ABP architecture.</a:t>
            </a:r>
          </a:p>
        </p:txBody>
      </p:sp>
      <p:sp>
        <p:nvSpPr>
          <p:cNvPr id="5" name="Rounded Rectangle 4"/>
          <p:cNvSpPr/>
          <p:nvPr/>
        </p:nvSpPr>
        <p:spPr>
          <a:xfrm>
            <a:off x="685800" y="2148840"/>
            <a:ext cx="2331720" cy="1280160"/>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50392" y="2359152"/>
            <a:ext cx="475488" cy="475488"/>
          </a:xfrm>
          <a:prstGeom prst="ellipse">
            <a:avLst/>
          </a:prstGeom>
          <a:solidFill>
            <a:srgbClr val="3D7EFF"/>
          </a:solidFill>
          <a:ln>
            <a:solidFill>
              <a:srgbClr val="3D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50392" y="2395728"/>
            <a:ext cx="475488" cy="320040"/>
          </a:xfrm>
          <a:prstGeom prst="rect">
            <a:avLst/>
          </a:prstGeom>
          <a:noFill/>
        </p:spPr>
        <p:txBody>
          <a:bodyPr wrap="square">
            <a:spAutoFit/>
          </a:bodyPr>
          <a:lstStyle/>
          <a:p>
            <a:pPr algn="ctr"/>
            <a:r>
              <a:rPr sz="1600" b="1">
                <a:solidFill>
                  <a:srgbClr val="FFFFFF"/>
                </a:solidFill>
                <a:latin typeface="Aptos"/>
              </a:rPr>
              <a:t>1</a:t>
            </a:r>
          </a:p>
        </p:txBody>
      </p:sp>
      <p:sp>
        <p:nvSpPr>
          <p:cNvPr id="8" name="TextBox 7"/>
          <p:cNvSpPr txBox="1"/>
          <p:nvPr/>
        </p:nvSpPr>
        <p:spPr>
          <a:xfrm>
            <a:off x="1435607" y="2304288"/>
            <a:ext cx="1325880" cy="274320"/>
          </a:xfrm>
          <a:prstGeom prst="rect">
            <a:avLst/>
          </a:prstGeom>
          <a:noFill/>
        </p:spPr>
        <p:txBody>
          <a:bodyPr wrap="square">
            <a:spAutoFit/>
          </a:bodyPr>
          <a:lstStyle/>
          <a:p>
            <a:pPr algn="l"/>
            <a:r>
              <a:rPr sz="1400" b="1">
                <a:solidFill>
                  <a:srgbClr val="121B2D"/>
                </a:solidFill>
                <a:latin typeface="Aptos"/>
              </a:rPr>
              <a:t>MODEL</a:t>
            </a:r>
          </a:p>
        </p:txBody>
      </p:sp>
      <p:sp>
        <p:nvSpPr>
          <p:cNvPr id="9" name="TextBox 8"/>
          <p:cNvSpPr txBox="1"/>
          <p:nvPr/>
        </p:nvSpPr>
        <p:spPr>
          <a:xfrm>
            <a:off x="850392" y="2871216"/>
            <a:ext cx="1965960" cy="475488"/>
          </a:xfrm>
          <a:prstGeom prst="rect">
            <a:avLst/>
          </a:prstGeom>
          <a:noFill/>
        </p:spPr>
        <p:txBody>
          <a:bodyPr wrap="square">
            <a:spAutoFit/>
          </a:bodyPr>
          <a:lstStyle/>
          <a:p>
            <a:pPr algn="l"/>
            <a:r>
              <a:rPr sz="1200" b="0">
                <a:solidFill>
                  <a:srgbClr val="677182"/>
                </a:solidFill>
                <a:latin typeface="Aptos"/>
              </a:rPr>
              <a:t>Entities &amp; relations</a:t>
            </a:r>
          </a:p>
        </p:txBody>
      </p:sp>
      <p:sp>
        <p:nvSpPr>
          <p:cNvPr id="10" name="TextBox 9"/>
          <p:cNvSpPr txBox="1"/>
          <p:nvPr/>
        </p:nvSpPr>
        <p:spPr>
          <a:xfrm>
            <a:off x="3081528" y="2633472"/>
            <a:ext cx="384048" cy="365760"/>
          </a:xfrm>
          <a:prstGeom prst="rect">
            <a:avLst/>
          </a:prstGeom>
          <a:noFill/>
        </p:spPr>
        <p:txBody>
          <a:bodyPr wrap="square">
            <a:spAutoFit/>
          </a:bodyPr>
          <a:lstStyle/>
          <a:p>
            <a:pPr algn="ctr"/>
            <a:r>
              <a:rPr sz="2400" b="1">
                <a:solidFill>
                  <a:srgbClr val="AAB3C1"/>
                </a:solidFill>
                <a:latin typeface="Aptos"/>
              </a:rPr>
              <a:t>→</a:t>
            </a:r>
          </a:p>
        </p:txBody>
      </p:sp>
      <p:sp>
        <p:nvSpPr>
          <p:cNvPr id="11" name="Rounded Rectangle 10"/>
          <p:cNvSpPr/>
          <p:nvPr/>
        </p:nvSpPr>
        <p:spPr>
          <a:xfrm>
            <a:off x="3520440" y="2148840"/>
            <a:ext cx="2331720" cy="1280160"/>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3685032" y="2359152"/>
            <a:ext cx="475488" cy="475488"/>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85032" y="2395728"/>
            <a:ext cx="475488" cy="320040"/>
          </a:xfrm>
          <a:prstGeom prst="rect">
            <a:avLst/>
          </a:prstGeom>
          <a:noFill/>
        </p:spPr>
        <p:txBody>
          <a:bodyPr wrap="square">
            <a:spAutoFit/>
          </a:bodyPr>
          <a:lstStyle/>
          <a:p>
            <a:pPr algn="ctr"/>
            <a:r>
              <a:rPr sz="1600" b="1">
                <a:solidFill>
                  <a:srgbClr val="FFFFFF"/>
                </a:solidFill>
                <a:latin typeface="Aptos"/>
              </a:rPr>
              <a:t>2</a:t>
            </a:r>
          </a:p>
        </p:txBody>
      </p:sp>
      <p:sp>
        <p:nvSpPr>
          <p:cNvPr id="14" name="TextBox 13"/>
          <p:cNvSpPr txBox="1"/>
          <p:nvPr/>
        </p:nvSpPr>
        <p:spPr>
          <a:xfrm>
            <a:off x="4270248" y="2304288"/>
            <a:ext cx="1325880" cy="274320"/>
          </a:xfrm>
          <a:prstGeom prst="rect">
            <a:avLst/>
          </a:prstGeom>
          <a:noFill/>
        </p:spPr>
        <p:txBody>
          <a:bodyPr wrap="square">
            <a:spAutoFit/>
          </a:bodyPr>
          <a:lstStyle/>
          <a:p>
            <a:pPr algn="l"/>
            <a:r>
              <a:rPr sz="1400" b="1">
                <a:solidFill>
                  <a:srgbClr val="121B2D"/>
                </a:solidFill>
                <a:latin typeface="Aptos"/>
              </a:rPr>
              <a:t>DESIGN</a:t>
            </a:r>
          </a:p>
        </p:txBody>
      </p:sp>
      <p:sp>
        <p:nvSpPr>
          <p:cNvPr id="15" name="TextBox 14"/>
          <p:cNvSpPr txBox="1"/>
          <p:nvPr/>
        </p:nvSpPr>
        <p:spPr>
          <a:xfrm>
            <a:off x="3685031" y="2871216"/>
            <a:ext cx="2151889" cy="276999"/>
          </a:xfrm>
          <a:prstGeom prst="rect">
            <a:avLst/>
          </a:prstGeom>
          <a:noFill/>
        </p:spPr>
        <p:txBody>
          <a:bodyPr wrap="square">
            <a:spAutoFit/>
          </a:bodyPr>
          <a:lstStyle/>
          <a:p>
            <a:pPr algn="l"/>
            <a:r>
              <a:rPr sz="1200" b="0" dirty="0">
                <a:solidFill>
                  <a:srgbClr val="677182"/>
                </a:solidFill>
                <a:latin typeface="Aptos"/>
              </a:rPr>
              <a:t>Pages, forms &amp; permissions</a:t>
            </a:r>
          </a:p>
        </p:txBody>
      </p:sp>
      <p:sp>
        <p:nvSpPr>
          <p:cNvPr id="16" name="TextBox 15"/>
          <p:cNvSpPr txBox="1"/>
          <p:nvPr/>
        </p:nvSpPr>
        <p:spPr>
          <a:xfrm>
            <a:off x="5916168" y="2633472"/>
            <a:ext cx="384048" cy="365760"/>
          </a:xfrm>
          <a:prstGeom prst="rect">
            <a:avLst/>
          </a:prstGeom>
          <a:noFill/>
        </p:spPr>
        <p:txBody>
          <a:bodyPr wrap="square">
            <a:spAutoFit/>
          </a:bodyPr>
          <a:lstStyle/>
          <a:p>
            <a:pPr algn="ctr"/>
            <a:r>
              <a:rPr sz="2400" b="1">
                <a:solidFill>
                  <a:srgbClr val="AAB3C1"/>
                </a:solidFill>
                <a:latin typeface="Aptos"/>
              </a:rPr>
              <a:t>→</a:t>
            </a:r>
          </a:p>
        </p:txBody>
      </p:sp>
      <p:sp>
        <p:nvSpPr>
          <p:cNvPr id="17" name="Rounded Rectangle 16"/>
          <p:cNvSpPr/>
          <p:nvPr/>
        </p:nvSpPr>
        <p:spPr>
          <a:xfrm>
            <a:off x="6355080" y="2148840"/>
            <a:ext cx="2331720" cy="1280160"/>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6519672" y="2359152"/>
            <a:ext cx="475488" cy="475488"/>
          </a:xfrm>
          <a:prstGeom prst="ellipse">
            <a:avLst/>
          </a:prstGeom>
          <a:solidFill>
            <a:srgbClr val="16A085"/>
          </a:solidFill>
          <a:ln>
            <a:solidFill>
              <a:srgbClr val="16A08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19672" y="2395728"/>
            <a:ext cx="475488" cy="320040"/>
          </a:xfrm>
          <a:prstGeom prst="rect">
            <a:avLst/>
          </a:prstGeom>
          <a:noFill/>
        </p:spPr>
        <p:txBody>
          <a:bodyPr wrap="square">
            <a:spAutoFit/>
          </a:bodyPr>
          <a:lstStyle/>
          <a:p>
            <a:pPr algn="ctr"/>
            <a:r>
              <a:rPr sz="1600" b="1">
                <a:solidFill>
                  <a:srgbClr val="FFFFFF"/>
                </a:solidFill>
                <a:latin typeface="Aptos"/>
              </a:rPr>
              <a:t>3</a:t>
            </a:r>
          </a:p>
        </p:txBody>
      </p:sp>
      <p:sp>
        <p:nvSpPr>
          <p:cNvPr id="20" name="TextBox 19"/>
          <p:cNvSpPr txBox="1"/>
          <p:nvPr/>
        </p:nvSpPr>
        <p:spPr>
          <a:xfrm>
            <a:off x="7104888" y="2304288"/>
            <a:ext cx="1325880" cy="274320"/>
          </a:xfrm>
          <a:prstGeom prst="rect">
            <a:avLst/>
          </a:prstGeom>
          <a:noFill/>
        </p:spPr>
        <p:txBody>
          <a:bodyPr wrap="square">
            <a:spAutoFit/>
          </a:bodyPr>
          <a:lstStyle/>
          <a:p>
            <a:pPr algn="l"/>
            <a:r>
              <a:rPr sz="1400" b="1">
                <a:solidFill>
                  <a:srgbClr val="121B2D"/>
                </a:solidFill>
                <a:latin typeface="Aptos"/>
              </a:rPr>
              <a:t>RUN</a:t>
            </a:r>
          </a:p>
        </p:txBody>
      </p:sp>
      <p:sp>
        <p:nvSpPr>
          <p:cNvPr id="21" name="TextBox 20"/>
          <p:cNvSpPr txBox="1"/>
          <p:nvPr/>
        </p:nvSpPr>
        <p:spPr>
          <a:xfrm>
            <a:off x="6519672" y="2871216"/>
            <a:ext cx="2029968" cy="276999"/>
          </a:xfrm>
          <a:prstGeom prst="rect">
            <a:avLst/>
          </a:prstGeom>
          <a:noFill/>
        </p:spPr>
        <p:txBody>
          <a:bodyPr wrap="square">
            <a:spAutoFit/>
          </a:bodyPr>
          <a:lstStyle/>
          <a:p>
            <a:pPr algn="l"/>
            <a:r>
              <a:rPr sz="1200" b="0" dirty="0">
                <a:solidFill>
                  <a:srgbClr val="677182"/>
                </a:solidFill>
                <a:latin typeface="Aptos"/>
              </a:rPr>
              <a:t>CRUD APIs + React runtime</a:t>
            </a:r>
          </a:p>
        </p:txBody>
      </p:sp>
      <p:sp>
        <p:nvSpPr>
          <p:cNvPr id="22" name="TextBox 21"/>
          <p:cNvSpPr txBox="1"/>
          <p:nvPr/>
        </p:nvSpPr>
        <p:spPr>
          <a:xfrm>
            <a:off x="8750808" y="2633472"/>
            <a:ext cx="384048" cy="365760"/>
          </a:xfrm>
          <a:prstGeom prst="rect">
            <a:avLst/>
          </a:prstGeom>
          <a:noFill/>
        </p:spPr>
        <p:txBody>
          <a:bodyPr wrap="square">
            <a:spAutoFit/>
          </a:bodyPr>
          <a:lstStyle/>
          <a:p>
            <a:pPr algn="ctr"/>
            <a:r>
              <a:rPr sz="2400" b="1">
                <a:solidFill>
                  <a:srgbClr val="AAB3C1"/>
                </a:solidFill>
                <a:latin typeface="Aptos"/>
              </a:rPr>
              <a:t>→</a:t>
            </a:r>
          </a:p>
        </p:txBody>
      </p:sp>
      <p:sp>
        <p:nvSpPr>
          <p:cNvPr id="23" name="Rounded Rectangle 22"/>
          <p:cNvSpPr/>
          <p:nvPr/>
        </p:nvSpPr>
        <p:spPr>
          <a:xfrm>
            <a:off x="9189720" y="2148840"/>
            <a:ext cx="2331720" cy="1280160"/>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9354312" y="2359152"/>
            <a:ext cx="475488" cy="475488"/>
          </a:xfrm>
          <a:prstGeom prst="ellipse">
            <a:avLst/>
          </a:prstGeom>
          <a:solidFill>
            <a:srgbClr val="121B2D"/>
          </a:solidFill>
          <a:ln>
            <a:solidFill>
              <a:srgbClr val="121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354312" y="2395728"/>
            <a:ext cx="475488" cy="320040"/>
          </a:xfrm>
          <a:prstGeom prst="rect">
            <a:avLst/>
          </a:prstGeom>
          <a:noFill/>
        </p:spPr>
        <p:txBody>
          <a:bodyPr wrap="square">
            <a:spAutoFit/>
          </a:bodyPr>
          <a:lstStyle/>
          <a:p>
            <a:pPr algn="ctr"/>
            <a:r>
              <a:rPr sz="1600" b="1">
                <a:solidFill>
                  <a:srgbClr val="FFFFFF"/>
                </a:solidFill>
                <a:latin typeface="Aptos"/>
              </a:rPr>
              <a:t>4</a:t>
            </a:r>
          </a:p>
        </p:txBody>
      </p:sp>
      <p:sp>
        <p:nvSpPr>
          <p:cNvPr id="26" name="TextBox 25"/>
          <p:cNvSpPr txBox="1"/>
          <p:nvPr/>
        </p:nvSpPr>
        <p:spPr>
          <a:xfrm>
            <a:off x="9939528" y="2304288"/>
            <a:ext cx="1325880" cy="274320"/>
          </a:xfrm>
          <a:prstGeom prst="rect">
            <a:avLst/>
          </a:prstGeom>
          <a:noFill/>
        </p:spPr>
        <p:txBody>
          <a:bodyPr wrap="square">
            <a:spAutoFit/>
          </a:bodyPr>
          <a:lstStyle/>
          <a:p>
            <a:pPr algn="l"/>
            <a:r>
              <a:rPr sz="1400" b="1">
                <a:solidFill>
                  <a:srgbClr val="121B2D"/>
                </a:solidFill>
                <a:latin typeface="Aptos"/>
              </a:rPr>
              <a:t>EXTEND</a:t>
            </a:r>
          </a:p>
        </p:txBody>
      </p:sp>
      <p:sp>
        <p:nvSpPr>
          <p:cNvPr id="27" name="TextBox 26"/>
          <p:cNvSpPr txBox="1"/>
          <p:nvPr/>
        </p:nvSpPr>
        <p:spPr>
          <a:xfrm>
            <a:off x="9354312" y="2871216"/>
            <a:ext cx="2167128" cy="276999"/>
          </a:xfrm>
          <a:prstGeom prst="rect">
            <a:avLst/>
          </a:prstGeom>
          <a:noFill/>
        </p:spPr>
        <p:txBody>
          <a:bodyPr wrap="square">
            <a:spAutoFit/>
          </a:bodyPr>
          <a:lstStyle/>
          <a:p>
            <a:pPr algn="l"/>
            <a:r>
              <a:rPr sz="1200" b="0" dirty="0">
                <a:solidFill>
                  <a:srgbClr val="677182"/>
                </a:solidFill>
                <a:latin typeface="Aptos"/>
              </a:rPr>
              <a:t>Scripts, endpoints &amp; code</a:t>
            </a:r>
          </a:p>
        </p:txBody>
      </p:sp>
      <p:sp>
        <p:nvSpPr>
          <p:cNvPr id="28" name="Rounded Rectangle 27"/>
          <p:cNvSpPr/>
          <p:nvPr/>
        </p:nvSpPr>
        <p:spPr>
          <a:xfrm>
            <a:off x="622434" y="3831335"/>
            <a:ext cx="10789920" cy="1447431"/>
          </a:xfrm>
          <a:prstGeom prst="roundRect">
            <a:avLst/>
          </a:prstGeom>
          <a:solidFill>
            <a:srgbClr val="121B2D"/>
          </a:solidFill>
          <a:ln>
            <a:solidFill>
              <a:srgbClr val="121B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9788" y="4078224"/>
            <a:ext cx="4937760" cy="954107"/>
          </a:xfrm>
          <a:prstGeom prst="rect">
            <a:avLst/>
          </a:prstGeom>
          <a:noFill/>
        </p:spPr>
        <p:txBody>
          <a:bodyPr wrap="square">
            <a:spAutoFit/>
          </a:bodyPr>
          <a:lstStyle/>
          <a:p>
            <a:pPr algn="l"/>
            <a:r>
              <a:rPr sz="2800" b="1" dirty="0">
                <a:solidFill>
                  <a:srgbClr val="FFFFFF"/>
                </a:solidFill>
                <a:latin typeface="Aptos"/>
              </a:rPr>
              <a:t>Standard CRUD flow, </a:t>
            </a:r>
            <a:br>
              <a:rPr lang="en-US" sz="2800" b="1" dirty="0">
                <a:solidFill>
                  <a:srgbClr val="FFFFFF"/>
                </a:solidFill>
                <a:latin typeface="Aptos"/>
              </a:rPr>
            </a:br>
            <a:r>
              <a:rPr sz="2800" b="1" dirty="0">
                <a:solidFill>
                  <a:srgbClr val="FFFFFF"/>
                </a:solidFill>
                <a:latin typeface="Aptos"/>
              </a:rPr>
              <a:t>without the usual boilerplate</a:t>
            </a:r>
          </a:p>
        </p:txBody>
      </p:sp>
      <p:sp>
        <p:nvSpPr>
          <p:cNvPr id="31" name="Rounded Rectangle 30"/>
          <p:cNvSpPr/>
          <p:nvPr/>
        </p:nvSpPr>
        <p:spPr>
          <a:xfrm>
            <a:off x="777240" y="5559552"/>
            <a:ext cx="1600200" cy="50292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 y="5687568"/>
            <a:ext cx="1600200" cy="201168"/>
          </a:xfrm>
          <a:prstGeom prst="rect">
            <a:avLst/>
          </a:prstGeom>
          <a:noFill/>
        </p:spPr>
        <p:txBody>
          <a:bodyPr wrap="square">
            <a:spAutoFit/>
          </a:bodyPr>
          <a:lstStyle/>
          <a:p>
            <a:pPr algn="ctr"/>
            <a:r>
              <a:rPr sz="1100" b="1">
                <a:solidFill>
                  <a:srgbClr val="121B2D"/>
                </a:solidFill>
                <a:latin typeface="Aptos"/>
              </a:rPr>
              <a:t>Data Grid</a:t>
            </a:r>
          </a:p>
        </p:txBody>
      </p:sp>
      <p:sp>
        <p:nvSpPr>
          <p:cNvPr id="33" name="Rounded Rectangle 32"/>
          <p:cNvSpPr/>
          <p:nvPr/>
        </p:nvSpPr>
        <p:spPr>
          <a:xfrm>
            <a:off x="2633472" y="5559552"/>
            <a:ext cx="1600200" cy="50292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2633472" y="5687568"/>
            <a:ext cx="1600200" cy="201168"/>
          </a:xfrm>
          <a:prstGeom prst="rect">
            <a:avLst/>
          </a:prstGeom>
          <a:noFill/>
        </p:spPr>
        <p:txBody>
          <a:bodyPr wrap="square">
            <a:spAutoFit/>
          </a:bodyPr>
          <a:lstStyle/>
          <a:p>
            <a:pPr algn="ctr"/>
            <a:r>
              <a:rPr sz="1100" b="1">
                <a:solidFill>
                  <a:srgbClr val="121B2D"/>
                </a:solidFill>
                <a:latin typeface="Aptos"/>
              </a:rPr>
              <a:t>Form</a:t>
            </a:r>
          </a:p>
        </p:txBody>
      </p:sp>
      <p:sp>
        <p:nvSpPr>
          <p:cNvPr id="35" name="Rounded Rectangle 34"/>
          <p:cNvSpPr/>
          <p:nvPr/>
        </p:nvSpPr>
        <p:spPr>
          <a:xfrm>
            <a:off x="4489703" y="5559552"/>
            <a:ext cx="1600200" cy="50292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489703" y="5687568"/>
            <a:ext cx="1600200" cy="201168"/>
          </a:xfrm>
          <a:prstGeom prst="rect">
            <a:avLst/>
          </a:prstGeom>
          <a:noFill/>
        </p:spPr>
        <p:txBody>
          <a:bodyPr wrap="square">
            <a:spAutoFit/>
          </a:bodyPr>
          <a:lstStyle/>
          <a:p>
            <a:pPr algn="ctr"/>
            <a:r>
              <a:rPr sz="1100" b="1">
                <a:solidFill>
                  <a:srgbClr val="121B2D"/>
                </a:solidFill>
                <a:latin typeface="Aptos"/>
              </a:rPr>
              <a:t>Kanban</a:t>
            </a:r>
          </a:p>
        </p:txBody>
      </p:sp>
      <p:sp>
        <p:nvSpPr>
          <p:cNvPr id="37" name="Rounded Rectangle 36"/>
          <p:cNvSpPr/>
          <p:nvPr/>
        </p:nvSpPr>
        <p:spPr>
          <a:xfrm>
            <a:off x="6345936" y="5559552"/>
            <a:ext cx="1600200" cy="50292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345936" y="5687568"/>
            <a:ext cx="1600200" cy="201168"/>
          </a:xfrm>
          <a:prstGeom prst="rect">
            <a:avLst/>
          </a:prstGeom>
          <a:noFill/>
        </p:spPr>
        <p:txBody>
          <a:bodyPr wrap="square">
            <a:spAutoFit/>
          </a:bodyPr>
          <a:lstStyle/>
          <a:p>
            <a:pPr algn="ctr"/>
            <a:r>
              <a:rPr sz="1100" b="1">
                <a:solidFill>
                  <a:srgbClr val="121B2D"/>
                </a:solidFill>
                <a:latin typeface="Aptos"/>
              </a:rPr>
              <a:t>Calendar</a:t>
            </a:r>
          </a:p>
        </p:txBody>
      </p:sp>
      <p:sp>
        <p:nvSpPr>
          <p:cNvPr id="39" name="Rounded Rectangle 38"/>
          <p:cNvSpPr/>
          <p:nvPr/>
        </p:nvSpPr>
        <p:spPr>
          <a:xfrm>
            <a:off x="8202167" y="5559552"/>
            <a:ext cx="1600200" cy="50292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02167" y="5687568"/>
            <a:ext cx="1600200" cy="201168"/>
          </a:xfrm>
          <a:prstGeom prst="rect">
            <a:avLst/>
          </a:prstGeom>
          <a:noFill/>
        </p:spPr>
        <p:txBody>
          <a:bodyPr wrap="square">
            <a:spAutoFit/>
          </a:bodyPr>
          <a:lstStyle/>
          <a:p>
            <a:pPr algn="ctr"/>
            <a:r>
              <a:rPr sz="1100" b="1">
                <a:solidFill>
                  <a:srgbClr val="121B2D"/>
                </a:solidFill>
                <a:latin typeface="Aptos"/>
              </a:rPr>
              <a:t>Gallery</a:t>
            </a:r>
          </a:p>
        </p:txBody>
      </p:sp>
      <p:sp>
        <p:nvSpPr>
          <p:cNvPr id="41" name="Rounded Rectangle 40"/>
          <p:cNvSpPr/>
          <p:nvPr/>
        </p:nvSpPr>
        <p:spPr>
          <a:xfrm>
            <a:off x="10058399" y="5559552"/>
            <a:ext cx="1600200" cy="502920"/>
          </a:xfrm>
          <a:prstGeom prst="roundRect">
            <a:avLst/>
          </a:prstGeom>
          <a:solidFill>
            <a:srgbClr val="FFFFFF"/>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0058399" y="5687568"/>
            <a:ext cx="1600200" cy="201168"/>
          </a:xfrm>
          <a:prstGeom prst="rect">
            <a:avLst/>
          </a:prstGeom>
          <a:noFill/>
        </p:spPr>
        <p:txBody>
          <a:bodyPr wrap="square">
            <a:spAutoFit/>
          </a:bodyPr>
          <a:lstStyle/>
          <a:p>
            <a:pPr algn="ctr"/>
            <a:r>
              <a:rPr sz="1100" b="1">
                <a:solidFill>
                  <a:srgbClr val="121B2D"/>
                </a:solidFill>
                <a:latin typeface="Aptos"/>
              </a:rPr>
              <a:t>Dashboard</a:t>
            </a:r>
          </a:p>
        </p:txBody>
      </p:sp>
      <p:sp>
        <p:nvSpPr>
          <p:cNvPr id="45" name="TextBox 44">
            <a:extLst>
              <a:ext uri="{FF2B5EF4-FFF2-40B4-BE49-F238E27FC236}">
                <a16:creationId xmlns:a16="http://schemas.microsoft.com/office/drawing/2014/main" id="{03F7495F-CF7A-84E3-9809-158E656EB083}"/>
              </a:ext>
            </a:extLst>
          </p:cNvPr>
          <p:cNvSpPr txBox="1"/>
          <p:nvPr/>
        </p:nvSpPr>
        <p:spPr>
          <a:xfrm>
            <a:off x="439554" y="316575"/>
            <a:ext cx="8311254" cy="553998"/>
          </a:xfrm>
          <a:prstGeom prst="rect">
            <a:avLst/>
          </a:prstGeom>
          <a:noFill/>
        </p:spPr>
        <p:txBody>
          <a:bodyPr wrap="square">
            <a:spAutoFit/>
          </a:bodyPr>
          <a:lstStyle/>
          <a:p>
            <a:r>
              <a:rPr lang="en-US" sz="3000" b="1" i="0" dirty="0">
                <a:solidFill>
                  <a:schemeClr val="tx1"/>
                </a:solidFill>
                <a:effectLst/>
                <a:latin typeface="Lexend" panose="020B0604020202020204" charset="-94"/>
              </a:rPr>
              <a:t>ABP LOW-CODE SYSTEM</a:t>
            </a:r>
            <a:endParaRPr lang="en-US" sz="3000" b="1" i="0" noProof="0" dirty="0">
              <a:solidFill>
                <a:schemeClr val="tx1"/>
              </a:solidFill>
              <a:effectLst/>
              <a:latin typeface="Lexend" panose="020B0604020202020204" charset="-94"/>
            </a:endParaRPr>
          </a:p>
        </p:txBody>
      </p:sp>
      <p:cxnSp>
        <p:nvCxnSpPr>
          <p:cNvPr id="46" name="Straight Connector 45">
            <a:extLst>
              <a:ext uri="{FF2B5EF4-FFF2-40B4-BE49-F238E27FC236}">
                <a16:creationId xmlns:a16="http://schemas.microsoft.com/office/drawing/2014/main" id="{48F9AA3E-64E2-91FA-D764-5369C6F8A92A}"/>
              </a:ext>
            </a:extLst>
          </p:cNvPr>
          <p:cNvCxnSpPr>
            <a:cxnSpLocks/>
          </p:cNvCxnSpPr>
          <p:nvPr/>
        </p:nvCxnSpPr>
        <p:spPr>
          <a:xfrm>
            <a:off x="522762" y="924455"/>
            <a:ext cx="6324539"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6E33AF90-97DB-6E37-B97E-BDF29021CC03}"/>
              </a:ext>
            </a:extLst>
          </p:cNvPr>
          <p:cNvSpPr/>
          <p:nvPr/>
        </p:nvSpPr>
        <p:spPr>
          <a:xfrm>
            <a:off x="8381812" y="3831335"/>
            <a:ext cx="2688673" cy="1453235"/>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30" name="TextBox 29"/>
          <p:cNvSpPr txBox="1"/>
          <p:nvPr/>
        </p:nvSpPr>
        <p:spPr>
          <a:xfrm>
            <a:off x="8421623" y="3877058"/>
            <a:ext cx="3054097" cy="1323439"/>
          </a:xfrm>
          <a:prstGeom prst="rect">
            <a:avLst/>
          </a:prstGeom>
          <a:noFill/>
        </p:spPr>
        <p:txBody>
          <a:bodyPr wrap="square">
            <a:spAutoFit/>
          </a:bodyPr>
          <a:lstStyle/>
          <a:p>
            <a:r>
              <a:rPr sz="1600" b="1" dirty="0">
                <a:solidFill>
                  <a:srgbClr val="FFFFFF"/>
                </a:solidFill>
                <a:latin typeface="Aptos"/>
              </a:rPr>
              <a:t>N</a:t>
            </a:r>
            <a:r>
              <a:rPr lang="en-US" sz="1600" b="1" dirty="0">
                <a:solidFill>
                  <a:srgbClr val="FFFFFF"/>
                </a:solidFill>
                <a:latin typeface="Aptos"/>
              </a:rPr>
              <a:t>O</a:t>
            </a:r>
            <a:r>
              <a:rPr sz="1600" b="1" dirty="0">
                <a:solidFill>
                  <a:srgbClr val="FFFFFF"/>
                </a:solidFill>
                <a:latin typeface="Aptos"/>
              </a:rPr>
              <a:t> </a:t>
            </a:r>
            <a:r>
              <a:rPr lang="en-US" sz="1600" b="1" dirty="0">
                <a:solidFill>
                  <a:srgbClr val="FFFFFF"/>
                </a:solidFill>
                <a:latin typeface="Aptos"/>
              </a:rPr>
              <a:t>👇</a:t>
            </a:r>
          </a:p>
          <a:p>
            <a:r>
              <a:rPr lang="en-US" sz="1600" b="1" dirty="0">
                <a:solidFill>
                  <a:srgbClr val="FFFFFF"/>
                </a:solidFill>
                <a:latin typeface="Aptos"/>
              </a:rPr>
              <a:t>• </a:t>
            </a:r>
            <a:r>
              <a:rPr sz="1600" b="1" dirty="0">
                <a:solidFill>
                  <a:srgbClr val="FFFFFF"/>
                </a:solidFill>
                <a:latin typeface="Aptos"/>
              </a:rPr>
              <a:t>DTO </a:t>
            </a:r>
            <a:endParaRPr lang="en-US" sz="1600" b="1" dirty="0">
              <a:solidFill>
                <a:srgbClr val="FFFFFF"/>
              </a:solidFill>
              <a:latin typeface="Aptos"/>
            </a:endParaRPr>
          </a:p>
          <a:p>
            <a:r>
              <a:rPr sz="1600" b="1" dirty="0">
                <a:solidFill>
                  <a:srgbClr val="FFFFFF"/>
                </a:solidFill>
                <a:latin typeface="Aptos"/>
              </a:rPr>
              <a:t>• Repository </a:t>
            </a:r>
            <a:endParaRPr lang="en-US" sz="1600" b="1" dirty="0">
              <a:solidFill>
                <a:srgbClr val="FFFFFF"/>
              </a:solidFill>
              <a:latin typeface="Aptos"/>
            </a:endParaRPr>
          </a:p>
          <a:p>
            <a:r>
              <a:rPr sz="1600" b="1" dirty="0">
                <a:solidFill>
                  <a:srgbClr val="FFFFFF"/>
                </a:solidFill>
                <a:latin typeface="Aptos"/>
              </a:rPr>
              <a:t>• Application Service </a:t>
            </a:r>
            <a:endParaRPr lang="en-US" sz="1600" b="1" dirty="0">
              <a:solidFill>
                <a:srgbClr val="FFFFFF"/>
              </a:solidFill>
              <a:latin typeface="Aptos"/>
            </a:endParaRPr>
          </a:p>
          <a:p>
            <a:r>
              <a:rPr sz="1600" b="1" dirty="0">
                <a:solidFill>
                  <a:srgbClr val="FFFFFF"/>
                </a:solidFill>
                <a:latin typeface="Aptos"/>
              </a:rPr>
              <a:t>• Controller</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94360" y="914400"/>
            <a:ext cx="10972800" cy="594360"/>
          </a:xfrm>
          <a:prstGeom prst="rect">
            <a:avLst/>
          </a:prstGeom>
          <a:noFill/>
        </p:spPr>
        <p:txBody>
          <a:bodyPr wrap="square">
            <a:spAutoFit/>
          </a:bodyPr>
          <a:lstStyle/>
          <a:p>
            <a:pPr algn="l"/>
            <a:r>
              <a:rPr sz="2800" b="1" dirty="0">
                <a:solidFill>
                  <a:srgbClr val="121B2D"/>
                </a:solidFill>
                <a:latin typeface="Aptos"/>
              </a:rPr>
              <a:t>Ship More. Change Faster. Depend Less on Development.</a:t>
            </a:r>
          </a:p>
        </p:txBody>
      </p:sp>
      <p:sp>
        <p:nvSpPr>
          <p:cNvPr id="4" name="TextBox 3"/>
          <p:cNvSpPr txBox="1"/>
          <p:nvPr/>
        </p:nvSpPr>
        <p:spPr>
          <a:xfrm>
            <a:off x="594360" y="1353312"/>
            <a:ext cx="10972800" cy="438912"/>
          </a:xfrm>
          <a:prstGeom prst="rect">
            <a:avLst/>
          </a:prstGeom>
          <a:noFill/>
        </p:spPr>
        <p:txBody>
          <a:bodyPr wrap="square">
            <a:spAutoFit/>
          </a:bodyPr>
          <a:lstStyle/>
          <a:p>
            <a:pPr algn="l"/>
            <a:r>
              <a:rPr sz="1500" b="0">
                <a:solidFill>
                  <a:srgbClr val="677182"/>
                </a:solidFill>
                <a:latin typeface="Aptos"/>
              </a:rPr>
              <a:t>Low-Code moves repetitive operational work out of the release cycle without creating a separate platform or black box.</a:t>
            </a:r>
          </a:p>
        </p:txBody>
      </p:sp>
      <p:sp>
        <p:nvSpPr>
          <p:cNvPr id="5" name="Rounded Rectangle 4"/>
          <p:cNvSpPr/>
          <p:nvPr/>
        </p:nvSpPr>
        <p:spPr>
          <a:xfrm>
            <a:off x="685800" y="2057400"/>
            <a:ext cx="5285232" cy="1481328"/>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86968" y="2304288"/>
            <a:ext cx="475488" cy="475488"/>
          </a:xfrm>
          <a:prstGeom prst="ellipse">
            <a:avLst/>
          </a:prstGeom>
          <a:solidFill>
            <a:srgbClr val="3D7EFF"/>
          </a:solidFill>
          <a:ln>
            <a:solidFill>
              <a:srgbClr val="3D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340864"/>
            <a:ext cx="475488" cy="320040"/>
          </a:xfrm>
          <a:prstGeom prst="rect">
            <a:avLst/>
          </a:prstGeom>
          <a:noFill/>
        </p:spPr>
        <p:txBody>
          <a:bodyPr wrap="square">
            <a:spAutoFit/>
          </a:bodyPr>
          <a:lstStyle/>
          <a:p>
            <a:pPr algn="ctr"/>
            <a:r>
              <a:rPr sz="1600" b="1">
                <a:solidFill>
                  <a:srgbClr val="FFFFFF"/>
                </a:solidFill>
                <a:latin typeface="Aptos"/>
              </a:rPr>
              <a:t>⚡</a:t>
            </a:r>
          </a:p>
        </p:txBody>
      </p:sp>
      <p:sp>
        <p:nvSpPr>
          <p:cNvPr id="8" name="TextBox 7"/>
          <p:cNvSpPr txBox="1"/>
          <p:nvPr/>
        </p:nvSpPr>
        <p:spPr>
          <a:xfrm>
            <a:off x="1527048" y="2152186"/>
            <a:ext cx="4069080" cy="274320"/>
          </a:xfrm>
          <a:prstGeom prst="rect">
            <a:avLst/>
          </a:prstGeom>
          <a:noFill/>
        </p:spPr>
        <p:txBody>
          <a:bodyPr wrap="square">
            <a:spAutoFit/>
          </a:bodyPr>
          <a:lstStyle/>
          <a:p>
            <a:pPr algn="l"/>
            <a:r>
              <a:rPr sz="1600" b="1" dirty="0">
                <a:solidFill>
                  <a:srgbClr val="121B2D"/>
                </a:solidFill>
                <a:latin typeface="Aptos"/>
              </a:rPr>
              <a:t>Runtime changes</a:t>
            </a:r>
          </a:p>
        </p:txBody>
      </p:sp>
      <p:sp>
        <p:nvSpPr>
          <p:cNvPr id="9" name="TextBox 8"/>
          <p:cNvSpPr txBox="1"/>
          <p:nvPr/>
        </p:nvSpPr>
        <p:spPr>
          <a:xfrm>
            <a:off x="1527048" y="2436310"/>
            <a:ext cx="4114800" cy="1077218"/>
          </a:xfrm>
          <a:prstGeom prst="rect">
            <a:avLst/>
          </a:prstGeom>
          <a:noFill/>
        </p:spPr>
        <p:txBody>
          <a:bodyPr wrap="square">
            <a:spAutoFit/>
          </a:bodyPr>
          <a:lstStyle/>
          <a:p>
            <a:pPr algn="l"/>
            <a:r>
              <a:rPr sz="1600" b="0" dirty="0">
                <a:solidFill>
                  <a:srgbClr val="677182"/>
                </a:solidFill>
                <a:latin typeface="Aptos"/>
              </a:rPr>
              <a:t>Create or update models, screens and permissions without regenerating the whole solution or waiting for a normal UI release cycle.</a:t>
            </a:r>
          </a:p>
        </p:txBody>
      </p:sp>
      <p:sp>
        <p:nvSpPr>
          <p:cNvPr id="10" name="Rounded Rectangle 9"/>
          <p:cNvSpPr/>
          <p:nvPr/>
        </p:nvSpPr>
        <p:spPr>
          <a:xfrm>
            <a:off x="6199632" y="2057400"/>
            <a:ext cx="5285232" cy="1481328"/>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00800" y="2304288"/>
            <a:ext cx="475488" cy="475488"/>
          </a:xfrm>
          <a:prstGeom prst="ellipse">
            <a:avLst/>
          </a:prstGeom>
          <a:solidFill>
            <a:srgbClr val="3D7EFF"/>
          </a:solidFill>
          <a:ln>
            <a:solidFill>
              <a:srgbClr val="3D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00800" y="2340864"/>
            <a:ext cx="475488" cy="320040"/>
          </a:xfrm>
          <a:prstGeom prst="rect">
            <a:avLst/>
          </a:prstGeom>
          <a:noFill/>
        </p:spPr>
        <p:txBody>
          <a:bodyPr wrap="square">
            <a:spAutoFit/>
          </a:bodyPr>
          <a:lstStyle/>
          <a:p>
            <a:pPr algn="ctr"/>
            <a:r>
              <a:rPr sz="1600" b="1">
                <a:solidFill>
                  <a:srgbClr val="FFFFFF"/>
                </a:solidFill>
                <a:latin typeface="Aptos"/>
              </a:rPr>
              <a:t>↗</a:t>
            </a:r>
          </a:p>
        </p:txBody>
      </p:sp>
      <p:sp>
        <p:nvSpPr>
          <p:cNvPr id="13" name="TextBox 12"/>
          <p:cNvSpPr txBox="1"/>
          <p:nvPr/>
        </p:nvSpPr>
        <p:spPr>
          <a:xfrm>
            <a:off x="7040880" y="2152186"/>
            <a:ext cx="4069080" cy="274320"/>
          </a:xfrm>
          <a:prstGeom prst="rect">
            <a:avLst/>
          </a:prstGeom>
          <a:noFill/>
        </p:spPr>
        <p:txBody>
          <a:bodyPr wrap="square">
            <a:spAutoFit/>
          </a:bodyPr>
          <a:lstStyle/>
          <a:p>
            <a:pPr algn="l"/>
            <a:r>
              <a:rPr sz="1600" b="1">
                <a:solidFill>
                  <a:srgbClr val="121B2D"/>
                </a:solidFill>
                <a:latin typeface="Aptos"/>
              </a:rPr>
              <a:t>Ready-to-use APIs</a:t>
            </a:r>
          </a:p>
        </p:txBody>
      </p:sp>
      <p:sp>
        <p:nvSpPr>
          <p:cNvPr id="14" name="TextBox 13"/>
          <p:cNvSpPr txBox="1"/>
          <p:nvPr/>
        </p:nvSpPr>
        <p:spPr>
          <a:xfrm>
            <a:off x="7040880" y="2470889"/>
            <a:ext cx="4114800" cy="830997"/>
          </a:xfrm>
          <a:prstGeom prst="rect">
            <a:avLst/>
          </a:prstGeom>
          <a:noFill/>
        </p:spPr>
        <p:txBody>
          <a:bodyPr wrap="square">
            <a:spAutoFit/>
          </a:bodyPr>
          <a:lstStyle/>
          <a:p>
            <a:pPr algn="l"/>
            <a:r>
              <a:rPr sz="1600" b="0" dirty="0">
                <a:solidFill>
                  <a:srgbClr val="677182"/>
                </a:solidFill>
                <a:latin typeface="Aptos"/>
              </a:rPr>
              <a:t>Dynamic entities come with CRUD REST APIs; custom endpoints can be added when the standard flow is not enough.</a:t>
            </a:r>
          </a:p>
        </p:txBody>
      </p:sp>
      <p:sp>
        <p:nvSpPr>
          <p:cNvPr id="15" name="Rounded Rectangle 14"/>
          <p:cNvSpPr/>
          <p:nvPr/>
        </p:nvSpPr>
        <p:spPr>
          <a:xfrm>
            <a:off x="685800" y="3867912"/>
            <a:ext cx="5285232" cy="1481328"/>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86968" y="4114800"/>
            <a:ext cx="475488" cy="475488"/>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86968" y="4151376"/>
            <a:ext cx="475488" cy="320040"/>
          </a:xfrm>
          <a:prstGeom prst="rect">
            <a:avLst/>
          </a:prstGeom>
          <a:noFill/>
        </p:spPr>
        <p:txBody>
          <a:bodyPr wrap="square">
            <a:spAutoFit/>
          </a:bodyPr>
          <a:lstStyle/>
          <a:p>
            <a:pPr algn="ctr"/>
            <a:r>
              <a:rPr sz="1600" b="1">
                <a:solidFill>
                  <a:srgbClr val="FFFFFF"/>
                </a:solidFill>
                <a:latin typeface="Aptos"/>
              </a:rPr>
              <a:t>◎</a:t>
            </a:r>
          </a:p>
        </p:txBody>
      </p:sp>
      <p:sp>
        <p:nvSpPr>
          <p:cNvPr id="18" name="TextBox 17"/>
          <p:cNvSpPr txBox="1"/>
          <p:nvPr/>
        </p:nvSpPr>
        <p:spPr>
          <a:xfrm>
            <a:off x="1527048" y="3962698"/>
            <a:ext cx="4069080" cy="274320"/>
          </a:xfrm>
          <a:prstGeom prst="rect">
            <a:avLst/>
          </a:prstGeom>
          <a:noFill/>
        </p:spPr>
        <p:txBody>
          <a:bodyPr wrap="square">
            <a:spAutoFit/>
          </a:bodyPr>
          <a:lstStyle/>
          <a:p>
            <a:pPr algn="l"/>
            <a:r>
              <a:rPr sz="1600" b="1">
                <a:solidFill>
                  <a:srgbClr val="121B2D"/>
                </a:solidFill>
                <a:latin typeface="Aptos"/>
              </a:rPr>
              <a:t>Non-technical builders</a:t>
            </a:r>
          </a:p>
        </p:txBody>
      </p:sp>
      <p:sp>
        <p:nvSpPr>
          <p:cNvPr id="19" name="TextBox 18"/>
          <p:cNvSpPr txBox="1"/>
          <p:nvPr/>
        </p:nvSpPr>
        <p:spPr>
          <a:xfrm>
            <a:off x="1527048" y="4246822"/>
            <a:ext cx="4114800" cy="1077218"/>
          </a:xfrm>
          <a:prstGeom prst="rect">
            <a:avLst/>
          </a:prstGeom>
          <a:noFill/>
        </p:spPr>
        <p:txBody>
          <a:bodyPr wrap="square">
            <a:spAutoFit/>
          </a:bodyPr>
          <a:lstStyle/>
          <a:p>
            <a:pPr algn="l"/>
            <a:r>
              <a:rPr sz="1600" b="0" dirty="0">
                <a:solidFill>
                  <a:srgbClr val="677182"/>
                </a:solidFill>
                <a:latin typeface="Aptos"/>
              </a:rPr>
              <a:t>Business or platform users can create operational screens visually while developers focus on advanced logic and differentiation.</a:t>
            </a:r>
          </a:p>
        </p:txBody>
      </p:sp>
      <p:sp>
        <p:nvSpPr>
          <p:cNvPr id="20" name="Rounded Rectangle 19"/>
          <p:cNvSpPr/>
          <p:nvPr/>
        </p:nvSpPr>
        <p:spPr>
          <a:xfrm>
            <a:off x="6199632" y="3867912"/>
            <a:ext cx="5285232" cy="1481328"/>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00800" y="4114800"/>
            <a:ext cx="475488" cy="475488"/>
          </a:xfrm>
          <a:prstGeom prst="ellipse">
            <a:avLst/>
          </a:prstGeom>
          <a:solidFill>
            <a:srgbClr val="6F42C1"/>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00800" y="4151376"/>
            <a:ext cx="475488" cy="320040"/>
          </a:xfrm>
          <a:prstGeom prst="rect">
            <a:avLst/>
          </a:prstGeom>
          <a:noFill/>
        </p:spPr>
        <p:txBody>
          <a:bodyPr wrap="square">
            <a:spAutoFit/>
          </a:bodyPr>
          <a:lstStyle/>
          <a:p>
            <a:pPr algn="ctr"/>
            <a:r>
              <a:rPr sz="1600" b="1">
                <a:solidFill>
                  <a:srgbClr val="FFFFFF"/>
                </a:solidFill>
                <a:latin typeface="Aptos"/>
              </a:rPr>
              <a:t>⌁</a:t>
            </a:r>
          </a:p>
        </p:txBody>
      </p:sp>
      <p:sp>
        <p:nvSpPr>
          <p:cNvPr id="23" name="TextBox 22"/>
          <p:cNvSpPr txBox="1"/>
          <p:nvPr/>
        </p:nvSpPr>
        <p:spPr>
          <a:xfrm>
            <a:off x="7040880" y="3962698"/>
            <a:ext cx="4069080" cy="274320"/>
          </a:xfrm>
          <a:prstGeom prst="rect">
            <a:avLst/>
          </a:prstGeom>
          <a:noFill/>
        </p:spPr>
        <p:txBody>
          <a:bodyPr wrap="square">
            <a:spAutoFit/>
          </a:bodyPr>
          <a:lstStyle/>
          <a:p>
            <a:pPr algn="l"/>
            <a:r>
              <a:rPr sz="1600" b="1">
                <a:solidFill>
                  <a:srgbClr val="121B2D"/>
                </a:solidFill>
                <a:latin typeface="Aptos"/>
              </a:rPr>
              <a:t>One ABP foundation</a:t>
            </a:r>
          </a:p>
        </p:txBody>
      </p:sp>
      <p:sp>
        <p:nvSpPr>
          <p:cNvPr id="24" name="TextBox 23"/>
          <p:cNvSpPr txBox="1"/>
          <p:nvPr/>
        </p:nvSpPr>
        <p:spPr>
          <a:xfrm>
            <a:off x="7040880" y="4292552"/>
            <a:ext cx="4114800" cy="830997"/>
          </a:xfrm>
          <a:prstGeom prst="rect">
            <a:avLst/>
          </a:prstGeom>
          <a:noFill/>
        </p:spPr>
        <p:txBody>
          <a:bodyPr wrap="square">
            <a:spAutoFit/>
          </a:bodyPr>
          <a:lstStyle/>
          <a:p>
            <a:pPr algn="l"/>
            <a:r>
              <a:rPr sz="1600" b="0" dirty="0">
                <a:solidFill>
                  <a:srgbClr val="677182"/>
                </a:solidFill>
                <a:latin typeface="Aptos"/>
              </a:rPr>
              <a:t>Same database, permissions, multi-tenancy and enterprise foundations — with full-code extension whenever needed.</a:t>
            </a:r>
          </a:p>
        </p:txBody>
      </p:sp>
      <p:sp>
        <p:nvSpPr>
          <p:cNvPr id="25" name="Rounded Rectangle 24"/>
          <p:cNvSpPr/>
          <p:nvPr/>
        </p:nvSpPr>
        <p:spPr>
          <a:xfrm>
            <a:off x="685800" y="5669280"/>
            <a:ext cx="10789920" cy="640080"/>
          </a:xfrm>
          <a:prstGeom prst="roundRect">
            <a:avLst/>
          </a:prstGeom>
          <a:solidFill>
            <a:srgbClr val="EDF6F3"/>
          </a:solidFill>
          <a:ln>
            <a:solidFill>
              <a:srgbClr val="CDE8D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14400" y="5870448"/>
            <a:ext cx="914400" cy="201168"/>
          </a:xfrm>
          <a:prstGeom prst="rect">
            <a:avLst/>
          </a:prstGeom>
          <a:noFill/>
        </p:spPr>
        <p:txBody>
          <a:bodyPr wrap="square">
            <a:spAutoFit/>
          </a:bodyPr>
          <a:lstStyle/>
          <a:p>
            <a:pPr algn="l"/>
            <a:r>
              <a:rPr sz="1000" b="1">
                <a:solidFill>
                  <a:srgbClr val="14966E"/>
                </a:solidFill>
                <a:latin typeface="Aptos"/>
              </a:rPr>
              <a:t>GREAT FOR</a:t>
            </a:r>
          </a:p>
        </p:txBody>
      </p:sp>
      <p:sp>
        <p:nvSpPr>
          <p:cNvPr id="27" name="TextBox 26"/>
          <p:cNvSpPr txBox="1"/>
          <p:nvPr/>
        </p:nvSpPr>
        <p:spPr>
          <a:xfrm>
            <a:off x="1828800" y="5806440"/>
            <a:ext cx="9281160" cy="446276"/>
          </a:xfrm>
          <a:prstGeom prst="rect">
            <a:avLst/>
          </a:prstGeom>
          <a:noFill/>
        </p:spPr>
        <p:txBody>
          <a:bodyPr wrap="square">
            <a:spAutoFit/>
          </a:bodyPr>
          <a:lstStyle/>
          <a:p>
            <a:pPr algn="l"/>
            <a:r>
              <a:rPr sz="1150" b="1" dirty="0">
                <a:solidFill>
                  <a:srgbClr val="121B2D"/>
                </a:solidFill>
                <a:latin typeface="Aptos"/>
              </a:rPr>
              <a:t>Back-office apps  •  Internal tools  •  Admin panels  •  Rapid prototypes  </a:t>
            </a:r>
            <a:br>
              <a:rPr lang="en-US" sz="1150" b="1" dirty="0">
                <a:solidFill>
                  <a:srgbClr val="121B2D"/>
                </a:solidFill>
                <a:latin typeface="Aptos"/>
              </a:rPr>
            </a:br>
            <a:r>
              <a:rPr sz="1150" b="1" dirty="0">
                <a:solidFill>
                  <a:srgbClr val="121B2D"/>
                </a:solidFill>
                <a:latin typeface="Aptos"/>
              </a:rPr>
              <a:t>•  Frequently changing processes  •  Projects without a dedicated development team</a:t>
            </a:r>
          </a:p>
        </p:txBody>
      </p:sp>
      <p:sp>
        <p:nvSpPr>
          <p:cNvPr id="29" name="TextBox 28">
            <a:extLst>
              <a:ext uri="{FF2B5EF4-FFF2-40B4-BE49-F238E27FC236}">
                <a16:creationId xmlns:a16="http://schemas.microsoft.com/office/drawing/2014/main" id="{EB0FF021-BB68-1333-DEC5-7B689BFD5EFC}"/>
              </a:ext>
            </a:extLst>
          </p:cNvPr>
          <p:cNvSpPr txBox="1"/>
          <p:nvPr/>
        </p:nvSpPr>
        <p:spPr>
          <a:xfrm>
            <a:off x="594360" y="157560"/>
            <a:ext cx="8311254" cy="553998"/>
          </a:xfrm>
          <a:prstGeom prst="rect">
            <a:avLst/>
          </a:prstGeom>
          <a:noFill/>
        </p:spPr>
        <p:txBody>
          <a:bodyPr wrap="square">
            <a:spAutoFit/>
          </a:bodyPr>
          <a:lstStyle/>
          <a:p>
            <a:r>
              <a:rPr lang="en-US" sz="3000" b="1" dirty="0">
                <a:solidFill>
                  <a:schemeClr val="tx1"/>
                </a:solidFill>
                <a:latin typeface="Lexend" panose="020B0604020202020204" charset="-94"/>
              </a:rPr>
              <a:t>WHY IT MATTERS</a:t>
            </a:r>
            <a:endParaRPr lang="en-US" sz="3000" b="1" i="0" noProof="0" dirty="0">
              <a:solidFill>
                <a:schemeClr val="tx1"/>
              </a:solidFill>
              <a:effectLst/>
              <a:latin typeface="Lexend" panose="020B0604020202020204" charset="-94"/>
            </a:endParaRPr>
          </a:p>
        </p:txBody>
      </p:sp>
      <p:cxnSp>
        <p:nvCxnSpPr>
          <p:cNvPr id="30" name="Straight Connector 29">
            <a:extLst>
              <a:ext uri="{FF2B5EF4-FFF2-40B4-BE49-F238E27FC236}">
                <a16:creationId xmlns:a16="http://schemas.microsoft.com/office/drawing/2014/main" id="{2460825F-2F9E-88AC-B416-6CFD54B6CC66}"/>
              </a:ext>
            </a:extLst>
          </p:cNvPr>
          <p:cNvCxnSpPr>
            <a:cxnSpLocks/>
          </p:cNvCxnSpPr>
          <p:nvPr/>
        </p:nvCxnSpPr>
        <p:spPr>
          <a:xfrm>
            <a:off x="716341" y="711558"/>
            <a:ext cx="3621483"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F87BE-9BA6-2B72-7046-DAA4F3C5C83D}"/>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947ECE60-0B15-41D4-295B-74757F891957}"/>
              </a:ext>
            </a:extLst>
          </p:cNvPr>
          <p:cNvSpPr txBox="1"/>
          <p:nvPr/>
        </p:nvSpPr>
        <p:spPr>
          <a:xfrm>
            <a:off x="594360" y="157560"/>
            <a:ext cx="8311254" cy="553998"/>
          </a:xfrm>
          <a:prstGeom prst="rect">
            <a:avLst/>
          </a:prstGeom>
          <a:noFill/>
        </p:spPr>
        <p:txBody>
          <a:bodyPr wrap="square">
            <a:spAutoFit/>
          </a:bodyPr>
          <a:lstStyle/>
          <a:p>
            <a:r>
              <a:rPr lang="en-US" sz="3000" b="1" dirty="0">
                <a:solidFill>
                  <a:schemeClr val="tx1"/>
                </a:solidFill>
                <a:latin typeface="Lexend" panose="020B0604020202020204" charset="-94"/>
              </a:rPr>
              <a:t>SEE IT IN ACTION</a:t>
            </a:r>
            <a:endParaRPr lang="en-US" sz="3000" b="1" i="0" noProof="0" dirty="0">
              <a:solidFill>
                <a:schemeClr val="tx1"/>
              </a:solidFill>
              <a:effectLst/>
              <a:latin typeface="Lexend" panose="020B0604020202020204" charset="-94"/>
            </a:endParaRPr>
          </a:p>
        </p:txBody>
      </p:sp>
      <p:cxnSp>
        <p:nvCxnSpPr>
          <p:cNvPr id="30" name="Straight Connector 29">
            <a:extLst>
              <a:ext uri="{FF2B5EF4-FFF2-40B4-BE49-F238E27FC236}">
                <a16:creationId xmlns:a16="http://schemas.microsoft.com/office/drawing/2014/main" id="{05C0BF50-97B3-0DFD-3A4C-63D9651CBC4C}"/>
              </a:ext>
            </a:extLst>
          </p:cNvPr>
          <p:cNvCxnSpPr>
            <a:cxnSpLocks/>
          </p:cNvCxnSpPr>
          <p:nvPr/>
        </p:nvCxnSpPr>
        <p:spPr>
          <a:xfrm>
            <a:off x="716341" y="711558"/>
            <a:ext cx="3627967" cy="0"/>
          </a:xfrm>
          <a:prstGeom prst="line">
            <a:avLst/>
          </a:prstGeom>
          <a:ln w="28575">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3" name="Group 42">
            <a:extLst>
              <a:ext uri="{FF2B5EF4-FFF2-40B4-BE49-F238E27FC236}">
                <a16:creationId xmlns:a16="http://schemas.microsoft.com/office/drawing/2014/main" id="{F18DB79D-7A2A-7BEB-DB00-FC9D20235708}"/>
              </a:ext>
            </a:extLst>
          </p:cNvPr>
          <p:cNvGrpSpPr/>
          <p:nvPr/>
        </p:nvGrpSpPr>
        <p:grpSpPr>
          <a:xfrm>
            <a:off x="716341" y="1014762"/>
            <a:ext cx="9939304" cy="5585314"/>
            <a:chOff x="1973766" y="1115122"/>
            <a:chExt cx="9939304" cy="5585314"/>
          </a:xfrm>
        </p:grpSpPr>
        <p:sp>
          <p:nvSpPr>
            <p:cNvPr id="41" name="Rectangle 40">
              <a:extLst>
                <a:ext uri="{FF2B5EF4-FFF2-40B4-BE49-F238E27FC236}">
                  <a16:creationId xmlns:a16="http://schemas.microsoft.com/office/drawing/2014/main" id="{F079FB0A-139D-466F-94C9-716494A81DB9}"/>
                </a:ext>
              </a:extLst>
            </p:cNvPr>
            <p:cNvSpPr/>
            <p:nvPr/>
          </p:nvSpPr>
          <p:spPr>
            <a:xfrm>
              <a:off x="1973766" y="1115122"/>
              <a:ext cx="8929464" cy="5585314"/>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 name="TextBox 2">
              <a:extLst>
                <a:ext uri="{FF2B5EF4-FFF2-40B4-BE49-F238E27FC236}">
                  <a16:creationId xmlns:a16="http://schemas.microsoft.com/office/drawing/2014/main" id="{34874E16-957D-398D-EFAB-74A98362B2DD}"/>
                </a:ext>
              </a:extLst>
            </p:cNvPr>
            <p:cNvSpPr txBox="1"/>
            <p:nvPr/>
          </p:nvSpPr>
          <p:spPr>
            <a:xfrm>
              <a:off x="2356698" y="1525574"/>
              <a:ext cx="8014158" cy="523220"/>
            </a:xfrm>
            <a:prstGeom prst="rect">
              <a:avLst/>
            </a:prstGeom>
            <a:noFill/>
          </p:spPr>
          <p:txBody>
            <a:bodyPr wrap="square">
              <a:spAutoFit/>
            </a:bodyPr>
            <a:lstStyle/>
            <a:p>
              <a:pPr algn="ctr"/>
              <a:r>
                <a:rPr lang="en-US" sz="2800" b="1" dirty="0">
                  <a:solidFill>
                    <a:srgbClr val="121B2D"/>
                  </a:solidFill>
                  <a:latin typeface="Aptos"/>
                </a:rPr>
                <a:t>HOTEL MANAGEMENT SYSTEM</a:t>
              </a:r>
              <a:endParaRPr sz="2800" b="1" dirty="0">
                <a:solidFill>
                  <a:srgbClr val="121B2D"/>
                </a:solidFill>
                <a:latin typeface="Aptos"/>
              </a:endParaRPr>
            </a:p>
          </p:txBody>
        </p:sp>
        <p:grpSp>
          <p:nvGrpSpPr>
            <p:cNvPr id="37" name="Group 36">
              <a:extLst>
                <a:ext uri="{FF2B5EF4-FFF2-40B4-BE49-F238E27FC236}">
                  <a16:creationId xmlns:a16="http://schemas.microsoft.com/office/drawing/2014/main" id="{287AB60C-AA25-85F8-E751-33EAB62C4321}"/>
                </a:ext>
              </a:extLst>
            </p:cNvPr>
            <p:cNvGrpSpPr/>
            <p:nvPr/>
          </p:nvGrpSpPr>
          <p:grpSpPr>
            <a:xfrm>
              <a:off x="2356698" y="2305484"/>
              <a:ext cx="4910328" cy="932688"/>
              <a:chOff x="685800" y="2057400"/>
              <a:chExt cx="4910328" cy="932688"/>
            </a:xfrm>
          </p:grpSpPr>
          <p:grpSp>
            <p:nvGrpSpPr>
              <p:cNvPr id="28" name="Group 27">
                <a:extLst>
                  <a:ext uri="{FF2B5EF4-FFF2-40B4-BE49-F238E27FC236}">
                    <a16:creationId xmlns:a16="http://schemas.microsoft.com/office/drawing/2014/main" id="{87F3D096-5775-E9E4-A556-95B50AD7E81A}"/>
                  </a:ext>
                </a:extLst>
              </p:cNvPr>
              <p:cNvGrpSpPr/>
              <p:nvPr/>
            </p:nvGrpSpPr>
            <p:grpSpPr>
              <a:xfrm>
                <a:off x="685800" y="2057400"/>
                <a:ext cx="3368114" cy="932688"/>
                <a:chOff x="685800" y="2057400"/>
                <a:chExt cx="3368114" cy="932688"/>
              </a:xfrm>
            </p:grpSpPr>
            <p:sp>
              <p:nvSpPr>
                <p:cNvPr id="5" name="Rounded Rectangle 4">
                  <a:extLst>
                    <a:ext uri="{FF2B5EF4-FFF2-40B4-BE49-F238E27FC236}">
                      <a16:creationId xmlns:a16="http://schemas.microsoft.com/office/drawing/2014/main" id="{50B0A6BA-9624-99D5-F475-71ABB060B4D4}"/>
                    </a:ext>
                  </a:extLst>
                </p:cNvPr>
                <p:cNvSpPr/>
                <p:nvPr/>
              </p:nvSpPr>
              <p:spPr>
                <a:xfrm>
                  <a:off x="685800" y="2057400"/>
                  <a:ext cx="3368114" cy="932688"/>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a:extLst>
                    <a:ext uri="{FF2B5EF4-FFF2-40B4-BE49-F238E27FC236}">
                      <a16:creationId xmlns:a16="http://schemas.microsoft.com/office/drawing/2014/main" id="{FA6B50A7-6E44-C7E6-03D7-F3877F3DAF1C}"/>
                    </a:ext>
                  </a:extLst>
                </p:cNvPr>
                <p:cNvSpPr/>
                <p:nvPr/>
              </p:nvSpPr>
              <p:spPr>
                <a:xfrm>
                  <a:off x="886968" y="2304288"/>
                  <a:ext cx="475488" cy="475488"/>
                </a:xfrm>
                <a:prstGeom prst="ellipse">
                  <a:avLst/>
                </a:prstGeom>
                <a:solidFill>
                  <a:srgbClr val="3D7EFF"/>
                </a:solidFill>
                <a:ln>
                  <a:solidFill>
                    <a:srgbClr val="3D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9F5B4BBF-DF63-5DB6-BBBE-7DCE6231E7D0}"/>
                    </a:ext>
                  </a:extLst>
                </p:cNvPr>
                <p:cNvSpPr txBox="1"/>
                <p:nvPr/>
              </p:nvSpPr>
              <p:spPr>
                <a:xfrm>
                  <a:off x="886968" y="2340864"/>
                  <a:ext cx="475488" cy="461665"/>
                </a:xfrm>
                <a:prstGeom prst="rect">
                  <a:avLst/>
                </a:prstGeom>
                <a:noFill/>
              </p:spPr>
              <p:txBody>
                <a:bodyPr wrap="square">
                  <a:spAutoFit/>
                </a:bodyPr>
                <a:lstStyle/>
                <a:p>
                  <a:pPr algn="ctr"/>
                  <a:r>
                    <a:rPr lang="en-US" sz="2400" b="1" dirty="0">
                      <a:solidFill>
                        <a:srgbClr val="FFFFFF"/>
                      </a:solidFill>
                      <a:latin typeface="Aptos"/>
                    </a:rPr>
                    <a:t>🤵</a:t>
                  </a:r>
                  <a:endParaRPr sz="2400" b="1" dirty="0">
                    <a:solidFill>
                      <a:srgbClr val="FFFFFF"/>
                    </a:solidFill>
                    <a:latin typeface="Aptos"/>
                  </a:endParaRPr>
                </a:p>
              </p:txBody>
            </p:sp>
          </p:grpSp>
          <p:sp>
            <p:nvSpPr>
              <p:cNvPr id="8" name="TextBox 7">
                <a:extLst>
                  <a:ext uri="{FF2B5EF4-FFF2-40B4-BE49-F238E27FC236}">
                    <a16:creationId xmlns:a16="http://schemas.microsoft.com/office/drawing/2014/main" id="{E1A34BF0-4D0D-A6D1-8720-A8D95522A5FA}"/>
                  </a:ext>
                </a:extLst>
              </p:cNvPr>
              <p:cNvSpPr txBox="1"/>
              <p:nvPr/>
            </p:nvSpPr>
            <p:spPr>
              <a:xfrm>
                <a:off x="1527048" y="2340864"/>
                <a:ext cx="4069080" cy="461665"/>
              </a:xfrm>
              <a:prstGeom prst="rect">
                <a:avLst/>
              </a:prstGeom>
              <a:noFill/>
            </p:spPr>
            <p:txBody>
              <a:bodyPr wrap="square">
                <a:spAutoFit/>
              </a:bodyPr>
              <a:lstStyle/>
              <a:p>
                <a:pPr algn="l"/>
                <a:r>
                  <a:rPr lang="en-US" sz="2400" b="1" dirty="0">
                    <a:solidFill>
                      <a:srgbClr val="121B2D"/>
                    </a:solidFill>
                    <a:latin typeface="Aptos"/>
                  </a:rPr>
                  <a:t>Customers</a:t>
                </a:r>
                <a:endParaRPr sz="2400" b="1" dirty="0">
                  <a:solidFill>
                    <a:srgbClr val="121B2D"/>
                  </a:solidFill>
                  <a:latin typeface="Aptos"/>
                </a:endParaRPr>
              </a:p>
            </p:txBody>
          </p:sp>
        </p:grpSp>
        <p:grpSp>
          <p:nvGrpSpPr>
            <p:cNvPr id="34" name="Group 33">
              <a:extLst>
                <a:ext uri="{FF2B5EF4-FFF2-40B4-BE49-F238E27FC236}">
                  <a16:creationId xmlns:a16="http://schemas.microsoft.com/office/drawing/2014/main" id="{5487A824-617D-51CA-3482-3090F30CE01D}"/>
                </a:ext>
              </a:extLst>
            </p:cNvPr>
            <p:cNvGrpSpPr/>
            <p:nvPr/>
          </p:nvGrpSpPr>
          <p:grpSpPr>
            <a:xfrm>
              <a:off x="7002742" y="2305484"/>
              <a:ext cx="4910328" cy="932688"/>
              <a:chOff x="6199632" y="2057400"/>
              <a:chExt cx="4910328" cy="932688"/>
            </a:xfrm>
          </p:grpSpPr>
          <p:grpSp>
            <p:nvGrpSpPr>
              <p:cNvPr id="31" name="Group 30">
                <a:extLst>
                  <a:ext uri="{FF2B5EF4-FFF2-40B4-BE49-F238E27FC236}">
                    <a16:creationId xmlns:a16="http://schemas.microsoft.com/office/drawing/2014/main" id="{B1601866-A81E-89FB-5FFA-12A9F7E21CB5}"/>
                  </a:ext>
                </a:extLst>
              </p:cNvPr>
              <p:cNvGrpSpPr/>
              <p:nvPr/>
            </p:nvGrpSpPr>
            <p:grpSpPr>
              <a:xfrm>
                <a:off x="6199632" y="2057400"/>
                <a:ext cx="3368114" cy="932688"/>
                <a:chOff x="6199632" y="2057400"/>
                <a:chExt cx="3368114" cy="932688"/>
              </a:xfrm>
            </p:grpSpPr>
            <p:sp>
              <p:nvSpPr>
                <p:cNvPr id="10" name="Rounded Rectangle 9">
                  <a:extLst>
                    <a:ext uri="{FF2B5EF4-FFF2-40B4-BE49-F238E27FC236}">
                      <a16:creationId xmlns:a16="http://schemas.microsoft.com/office/drawing/2014/main" id="{A06E91AC-398D-5965-D0DD-64EB59DD6910}"/>
                    </a:ext>
                  </a:extLst>
                </p:cNvPr>
                <p:cNvSpPr/>
                <p:nvPr/>
              </p:nvSpPr>
              <p:spPr>
                <a:xfrm>
                  <a:off x="6199632" y="2057400"/>
                  <a:ext cx="3368114" cy="932688"/>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a:extLst>
                    <a:ext uri="{FF2B5EF4-FFF2-40B4-BE49-F238E27FC236}">
                      <a16:creationId xmlns:a16="http://schemas.microsoft.com/office/drawing/2014/main" id="{A453DFEB-8B56-806A-22EF-F1516694AA87}"/>
                    </a:ext>
                  </a:extLst>
                </p:cNvPr>
                <p:cNvSpPr/>
                <p:nvPr/>
              </p:nvSpPr>
              <p:spPr>
                <a:xfrm>
                  <a:off x="6400800" y="2304288"/>
                  <a:ext cx="475488" cy="475488"/>
                </a:xfrm>
                <a:prstGeom prst="ellipse">
                  <a:avLst/>
                </a:prstGeom>
                <a:solidFill>
                  <a:schemeClr val="accent2"/>
                </a:solidFill>
                <a:ln>
                  <a:solidFill>
                    <a:srgbClr val="3D7E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a:extLst>
                    <a:ext uri="{FF2B5EF4-FFF2-40B4-BE49-F238E27FC236}">
                      <a16:creationId xmlns:a16="http://schemas.microsoft.com/office/drawing/2014/main" id="{B50CDA61-7295-0CD3-11AB-E291B0047DF5}"/>
                    </a:ext>
                  </a:extLst>
                </p:cNvPr>
                <p:cNvSpPr txBox="1"/>
                <p:nvPr/>
              </p:nvSpPr>
              <p:spPr>
                <a:xfrm>
                  <a:off x="6400800" y="2281535"/>
                  <a:ext cx="475488" cy="461665"/>
                </a:xfrm>
                <a:prstGeom prst="rect">
                  <a:avLst/>
                </a:prstGeom>
                <a:noFill/>
              </p:spPr>
              <p:txBody>
                <a:bodyPr wrap="square">
                  <a:spAutoFit/>
                </a:bodyPr>
                <a:lstStyle/>
                <a:p>
                  <a:pPr algn="ctr"/>
                  <a:r>
                    <a:rPr lang="en-US" sz="2400" b="1" dirty="0">
                      <a:solidFill>
                        <a:srgbClr val="FFFFFF"/>
                      </a:solidFill>
                      <a:latin typeface="Aptos"/>
                    </a:rPr>
                    <a:t>🛏️</a:t>
                  </a:r>
                  <a:endParaRPr sz="2400" b="1" dirty="0">
                    <a:solidFill>
                      <a:srgbClr val="FFFFFF"/>
                    </a:solidFill>
                    <a:latin typeface="Aptos"/>
                  </a:endParaRPr>
                </a:p>
              </p:txBody>
            </p:sp>
          </p:grpSp>
          <p:sp>
            <p:nvSpPr>
              <p:cNvPr id="13" name="TextBox 12">
                <a:extLst>
                  <a:ext uri="{FF2B5EF4-FFF2-40B4-BE49-F238E27FC236}">
                    <a16:creationId xmlns:a16="http://schemas.microsoft.com/office/drawing/2014/main" id="{7C2A4510-DA00-F2DE-9143-BCC11A682D75}"/>
                  </a:ext>
                </a:extLst>
              </p:cNvPr>
              <p:cNvSpPr txBox="1"/>
              <p:nvPr/>
            </p:nvSpPr>
            <p:spPr>
              <a:xfrm>
                <a:off x="7040880" y="2340864"/>
                <a:ext cx="4069080" cy="461665"/>
              </a:xfrm>
              <a:prstGeom prst="rect">
                <a:avLst/>
              </a:prstGeom>
              <a:noFill/>
            </p:spPr>
            <p:txBody>
              <a:bodyPr wrap="square">
                <a:spAutoFit/>
              </a:bodyPr>
              <a:lstStyle/>
              <a:p>
                <a:pPr algn="l"/>
                <a:r>
                  <a:rPr lang="en-US" sz="2400" b="1" dirty="0">
                    <a:solidFill>
                      <a:srgbClr val="121B2D"/>
                    </a:solidFill>
                    <a:latin typeface="Aptos"/>
                  </a:rPr>
                  <a:t>Rooms</a:t>
                </a:r>
                <a:endParaRPr sz="2400" b="1" dirty="0">
                  <a:solidFill>
                    <a:srgbClr val="121B2D"/>
                  </a:solidFill>
                  <a:latin typeface="Aptos"/>
                </a:endParaRPr>
              </a:p>
            </p:txBody>
          </p:sp>
        </p:grpSp>
        <p:grpSp>
          <p:nvGrpSpPr>
            <p:cNvPr id="36" name="Group 35">
              <a:extLst>
                <a:ext uri="{FF2B5EF4-FFF2-40B4-BE49-F238E27FC236}">
                  <a16:creationId xmlns:a16="http://schemas.microsoft.com/office/drawing/2014/main" id="{8D2D1AC4-BCD4-6C3E-2160-EDB424260173}"/>
                </a:ext>
              </a:extLst>
            </p:cNvPr>
            <p:cNvGrpSpPr/>
            <p:nvPr/>
          </p:nvGrpSpPr>
          <p:grpSpPr>
            <a:xfrm>
              <a:off x="3276002" y="3961737"/>
              <a:ext cx="6394811" cy="849054"/>
              <a:chOff x="685799" y="3867912"/>
              <a:chExt cx="6394811" cy="849054"/>
            </a:xfrm>
          </p:grpSpPr>
          <p:grpSp>
            <p:nvGrpSpPr>
              <p:cNvPr id="33" name="Group 32">
                <a:extLst>
                  <a:ext uri="{FF2B5EF4-FFF2-40B4-BE49-F238E27FC236}">
                    <a16:creationId xmlns:a16="http://schemas.microsoft.com/office/drawing/2014/main" id="{38169490-F9FC-A952-FD42-B47B59A5EDA6}"/>
                  </a:ext>
                </a:extLst>
              </p:cNvPr>
              <p:cNvGrpSpPr/>
              <p:nvPr/>
            </p:nvGrpSpPr>
            <p:grpSpPr>
              <a:xfrm>
                <a:off x="685799" y="3867912"/>
                <a:ext cx="6054763" cy="849054"/>
                <a:chOff x="685799" y="3867912"/>
                <a:chExt cx="6054763" cy="849054"/>
              </a:xfrm>
            </p:grpSpPr>
            <p:sp>
              <p:nvSpPr>
                <p:cNvPr id="15" name="Rounded Rectangle 14">
                  <a:extLst>
                    <a:ext uri="{FF2B5EF4-FFF2-40B4-BE49-F238E27FC236}">
                      <a16:creationId xmlns:a16="http://schemas.microsoft.com/office/drawing/2014/main" id="{5673BC91-BAC1-6D81-42EB-AA35A17ED7BD}"/>
                    </a:ext>
                  </a:extLst>
                </p:cNvPr>
                <p:cNvSpPr/>
                <p:nvPr/>
              </p:nvSpPr>
              <p:spPr>
                <a:xfrm>
                  <a:off x="685799" y="3867912"/>
                  <a:ext cx="6054763" cy="849054"/>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a:extLst>
                    <a:ext uri="{FF2B5EF4-FFF2-40B4-BE49-F238E27FC236}">
                      <a16:creationId xmlns:a16="http://schemas.microsoft.com/office/drawing/2014/main" id="{B2C6FBE4-7CAA-0683-3DCB-4B2857CAB3B7}"/>
                    </a:ext>
                  </a:extLst>
                </p:cNvPr>
                <p:cNvSpPr/>
                <p:nvPr/>
              </p:nvSpPr>
              <p:spPr>
                <a:xfrm>
                  <a:off x="2374800" y="4067271"/>
                  <a:ext cx="475488" cy="475488"/>
                </a:xfrm>
                <a:prstGeom prst="ellipse">
                  <a:avLst/>
                </a:prstGeom>
                <a:solidFill>
                  <a:srgbClr val="FFC000"/>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DB9CE985-446C-7E7C-5440-C351ACB75FFD}"/>
                    </a:ext>
                  </a:extLst>
                </p:cNvPr>
                <p:cNvSpPr txBox="1"/>
                <p:nvPr/>
              </p:nvSpPr>
              <p:spPr>
                <a:xfrm>
                  <a:off x="2382601" y="4113205"/>
                  <a:ext cx="475488" cy="461665"/>
                </a:xfrm>
                <a:prstGeom prst="rect">
                  <a:avLst/>
                </a:prstGeom>
                <a:noFill/>
              </p:spPr>
              <p:txBody>
                <a:bodyPr wrap="square">
                  <a:spAutoFit/>
                </a:bodyPr>
                <a:lstStyle/>
                <a:p>
                  <a:pPr algn="ctr"/>
                  <a:r>
                    <a:rPr lang="en-US" sz="2400" b="1" dirty="0">
                      <a:solidFill>
                        <a:srgbClr val="FFFFFF"/>
                      </a:solidFill>
                      <a:latin typeface="Aptos"/>
                    </a:rPr>
                    <a:t>📅</a:t>
                  </a:r>
                  <a:endParaRPr sz="2400" b="1" dirty="0">
                    <a:solidFill>
                      <a:srgbClr val="FFFFFF"/>
                    </a:solidFill>
                    <a:latin typeface="Aptos"/>
                  </a:endParaRPr>
                </a:p>
              </p:txBody>
            </p:sp>
          </p:grpSp>
          <p:sp>
            <p:nvSpPr>
              <p:cNvPr id="18" name="TextBox 17">
                <a:extLst>
                  <a:ext uri="{FF2B5EF4-FFF2-40B4-BE49-F238E27FC236}">
                    <a16:creationId xmlns:a16="http://schemas.microsoft.com/office/drawing/2014/main" id="{931FB2E1-8CA8-5C75-E1DA-7863A7164F53}"/>
                  </a:ext>
                </a:extLst>
              </p:cNvPr>
              <p:cNvSpPr txBox="1"/>
              <p:nvPr/>
            </p:nvSpPr>
            <p:spPr>
              <a:xfrm>
                <a:off x="3011530" y="4081094"/>
                <a:ext cx="4069080" cy="461665"/>
              </a:xfrm>
              <a:prstGeom prst="rect">
                <a:avLst/>
              </a:prstGeom>
              <a:noFill/>
            </p:spPr>
            <p:txBody>
              <a:bodyPr wrap="square">
                <a:spAutoFit/>
              </a:bodyPr>
              <a:lstStyle/>
              <a:p>
                <a:pPr algn="l"/>
                <a:r>
                  <a:rPr lang="en-US" sz="2400" b="1" dirty="0">
                    <a:solidFill>
                      <a:srgbClr val="121B2D"/>
                    </a:solidFill>
                    <a:latin typeface="Aptos"/>
                  </a:rPr>
                  <a:t>Reservations</a:t>
                </a:r>
                <a:endParaRPr sz="2400" b="1" dirty="0">
                  <a:solidFill>
                    <a:srgbClr val="121B2D"/>
                  </a:solidFill>
                  <a:latin typeface="Aptos"/>
                </a:endParaRPr>
              </a:p>
            </p:txBody>
          </p:sp>
        </p:grpSp>
        <p:grpSp>
          <p:nvGrpSpPr>
            <p:cNvPr id="35" name="Group 34">
              <a:extLst>
                <a:ext uri="{FF2B5EF4-FFF2-40B4-BE49-F238E27FC236}">
                  <a16:creationId xmlns:a16="http://schemas.microsoft.com/office/drawing/2014/main" id="{85334700-081B-1E95-6C2C-F4A7D2E3DCF2}"/>
                </a:ext>
              </a:extLst>
            </p:cNvPr>
            <p:cNvGrpSpPr/>
            <p:nvPr/>
          </p:nvGrpSpPr>
          <p:grpSpPr>
            <a:xfrm>
              <a:off x="2557866" y="5297388"/>
              <a:ext cx="7812989" cy="849054"/>
              <a:chOff x="5492422" y="3867912"/>
              <a:chExt cx="7812989" cy="849054"/>
            </a:xfrm>
          </p:grpSpPr>
          <p:grpSp>
            <p:nvGrpSpPr>
              <p:cNvPr id="32" name="Group 31">
                <a:extLst>
                  <a:ext uri="{FF2B5EF4-FFF2-40B4-BE49-F238E27FC236}">
                    <a16:creationId xmlns:a16="http://schemas.microsoft.com/office/drawing/2014/main" id="{2D7CF502-E2AF-CD04-6602-96799C476092}"/>
                  </a:ext>
                </a:extLst>
              </p:cNvPr>
              <p:cNvGrpSpPr/>
              <p:nvPr/>
            </p:nvGrpSpPr>
            <p:grpSpPr>
              <a:xfrm>
                <a:off x="5492422" y="3867912"/>
                <a:ext cx="7812989" cy="849054"/>
                <a:chOff x="5492422" y="3867912"/>
                <a:chExt cx="7812989" cy="849054"/>
              </a:xfrm>
            </p:grpSpPr>
            <p:sp>
              <p:nvSpPr>
                <p:cNvPr id="20" name="Rounded Rectangle 19">
                  <a:extLst>
                    <a:ext uri="{FF2B5EF4-FFF2-40B4-BE49-F238E27FC236}">
                      <a16:creationId xmlns:a16="http://schemas.microsoft.com/office/drawing/2014/main" id="{3C6EDB9B-9CBE-4184-5DE1-BE5AF0ECECAA}"/>
                    </a:ext>
                  </a:extLst>
                </p:cNvPr>
                <p:cNvSpPr/>
                <p:nvPr/>
              </p:nvSpPr>
              <p:spPr>
                <a:xfrm>
                  <a:off x="5492422" y="3867912"/>
                  <a:ext cx="7812989" cy="849054"/>
                </a:xfrm>
                <a:prstGeom prst="roundRect">
                  <a:avLst/>
                </a:prstGeom>
                <a:solidFill>
                  <a:srgbClr val="F6F8FC"/>
                </a:solidFill>
                <a:ln>
                  <a:solidFill>
                    <a:srgbClr val="E0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a:extLst>
                    <a:ext uri="{FF2B5EF4-FFF2-40B4-BE49-F238E27FC236}">
                      <a16:creationId xmlns:a16="http://schemas.microsoft.com/office/drawing/2014/main" id="{ADCCF63C-E526-BE6F-4915-639B7D942530}"/>
                    </a:ext>
                  </a:extLst>
                </p:cNvPr>
                <p:cNvSpPr/>
                <p:nvPr/>
              </p:nvSpPr>
              <p:spPr>
                <a:xfrm>
                  <a:off x="7939334" y="4014212"/>
                  <a:ext cx="475488" cy="475488"/>
                </a:xfrm>
                <a:prstGeom prst="ellipse">
                  <a:avLst/>
                </a:prstGeom>
                <a:solidFill>
                  <a:schemeClr val="accent5">
                    <a:lumMod val="60000"/>
                    <a:lumOff val="40000"/>
                  </a:schemeClr>
                </a:solidFill>
                <a:ln>
                  <a:solidFill>
                    <a:srgbClr val="6F42C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22" name="TextBox 21">
                  <a:extLst>
                    <a:ext uri="{FF2B5EF4-FFF2-40B4-BE49-F238E27FC236}">
                      <a16:creationId xmlns:a16="http://schemas.microsoft.com/office/drawing/2014/main" id="{A0F787F3-24F1-725B-7188-9BF28A5F46AA}"/>
                    </a:ext>
                  </a:extLst>
                </p:cNvPr>
                <p:cNvSpPr txBox="1"/>
                <p:nvPr/>
              </p:nvSpPr>
              <p:spPr>
                <a:xfrm>
                  <a:off x="7939334" y="4021125"/>
                  <a:ext cx="475488" cy="461665"/>
                </a:xfrm>
                <a:prstGeom prst="rect">
                  <a:avLst/>
                </a:prstGeom>
                <a:noFill/>
              </p:spPr>
              <p:txBody>
                <a:bodyPr wrap="square">
                  <a:spAutoFit/>
                </a:bodyPr>
                <a:lstStyle/>
                <a:p>
                  <a:pPr algn="ctr"/>
                  <a:r>
                    <a:rPr lang="en-US" sz="2400" b="1" dirty="0">
                      <a:solidFill>
                        <a:srgbClr val="FFFFFF"/>
                      </a:solidFill>
                      <a:latin typeface="Aptos"/>
                    </a:rPr>
                    <a:t>📊</a:t>
                  </a:r>
                  <a:endParaRPr sz="2400" b="1" dirty="0">
                    <a:solidFill>
                      <a:srgbClr val="FFFFFF"/>
                    </a:solidFill>
                    <a:latin typeface="Aptos"/>
                  </a:endParaRPr>
                </a:p>
              </p:txBody>
            </p:sp>
          </p:grpSp>
          <p:sp>
            <p:nvSpPr>
              <p:cNvPr id="23" name="TextBox 22">
                <a:extLst>
                  <a:ext uri="{FF2B5EF4-FFF2-40B4-BE49-F238E27FC236}">
                    <a16:creationId xmlns:a16="http://schemas.microsoft.com/office/drawing/2014/main" id="{40933620-0A5A-7C30-A8BA-BB861E6BA5EB}"/>
                  </a:ext>
                </a:extLst>
              </p:cNvPr>
              <p:cNvSpPr txBox="1"/>
              <p:nvPr/>
            </p:nvSpPr>
            <p:spPr>
              <a:xfrm>
                <a:off x="8579414" y="4052457"/>
                <a:ext cx="4069080" cy="461665"/>
              </a:xfrm>
              <a:prstGeom prst="rect">
                <a:avLst/>
              </a:prstGeom>
              <a:noFill/>
            </p:spPr>
            <p:txBody>
              <a:bodyPr wrap="square">
                <a:spAutoFit/>
              </a:bodyPr>
              <a:lstStyle/>
              <a:p>
                <a:pPr algn="l"/>
                <a:r>
                  <a:rPr lang="en-US" sz="2400" b="1" dirty="0">
                    <a:solidFill>
                      <a:srgbClr val="121B2D"/>
                    </a:solidFill>
                    <a:latin typeface="Aptos"/>
                  </a:rPr>
                  <a:t>Dashboard</a:t>
                </a:r>
                <a:endParaRPr sz="2400" b="1" dirty="0">
                  <a:solidFill>
                    <a:srgbClr val="121B2D"/>
                  </a:solidFill>
                  <a:latin typeface="Aptos"/>
                </a:endParaRPr>
              </a:p>
            </p:txBody>
          </p:sp>
        </p:grpSp>
        <p:sp>
          <p:nvSpPr>
            <p:cNvPr id="38" name="Arrow: Right 37">
              <a:extLst>
                <a:ext uri="{FF2B5EF4-FFF2-40B4-BE49-F238E27FC236}">
                  <a16:creationId xmlns:a16="http://schemas.microsoft.com/office/drawing/2014/main" id="{DEA3B73E-13B5-858E-D68B-243ADF3D1AD2}"/>
                </a:ext>
              </a:extLst>
            </p:cNvPr>
            <p:cNvSpPr/>
            <p:nvPr/>
          </p:nvSpPr>
          <p:spPr>
            <a:xfrm rot="5400000">
              <a:off x="3726957" y="3280034"/>
              <a:ext cx="627594" cy="670397"/>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40" name="Arrow: Right 39">
              <a:extLst>
                <a:ext uri="{FF2B5EF4-FFF2-40B4-BE49-F238E27FC236}">
                  <a16:creationId xmlns:a16="http://schemas.microsoft.com/office/drawing/2014/main" id="{790A25FB-AC16-D843-3F37-68AEB9B0FC17}"/>
                </a:ext>
              </a:extLst>
            </p:cNvPr>
            <p:cNvSpPr/>
            <p:nvPr/>
          </p:nvSpPr>
          <p:spPr>
            <a:xfrm rot="5400000">
              <a:off x="8603713" y="3277524"/>
              <a:ext cx="627594" cy="670397"/>
            </a:xfrm>
            <a:prstGeom prst="rightArrow">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37304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5462B3-1E59-C2D8-316F-07972F239E83}"/>
              </a:ext>
            </a:extLst>
          </p:cNvPr>
          <p:cNvPicPr>
            <a:picLocks noChangeAspect="1"/>
          </p:cNvPicPr>
          <p:nvPr/>
        </p:nvPicPr>
        <p:blipFill>
          <a:blip r:embed="rId3"/>
          <a:stretch>
            <a:fillRect/>
          </a:stretch>
        </p:blipFill>
        <p:spPr>
          <a:xfrm>
            <a:off x="122664" y="155477"/>
            <a:ext cx="6311840" cy="2713662"/>
          </a:xfrm>
          <a:prstGeom prst="rect">
            <a:avLst/>
          </a:prstGeom>
          <a:ln>
            <a:noFill/>
          </a:ln>
          <a:effectLst>
            <a:outerShdw blurRad="292100" dist="139700" dir="2700000" algn="tl" rotWithShape="0">
              <a:srgbClr val="333333">
                <a:alpha val="65000"/>
              </a:srgbClr>
            </a:outerShdw>
          </a:effectLst>
        </p:spPr>
      </p:pic>
      <p:pic>
        <p:nvPicPr>
          <p:cNvPr id="5" name="Picture 4">
            <a:extLst>
              <a:ext uri="{FF2B5EF4-FFF2-40B4-BE49-F238E27FC236}">
                <a16:creationId xmlns:a16="http://schemas.microsoft.com/office/drawing/2014/main" id="{2F758E68-D693-EDE5-05F0-83513981B5E2}"/>
              </a:ext>
            </a:extLst>
          </p:cNvPr>
          <p:cNvPicPr>
            <a:picLocks noChangeAspect="1"/>
          </p:cNvPicPr>
          <p:nvPr/>
        </p:nvPicPr>
        <p:blipFill>
          <a:blip r:embed="rId4"/>
          <a:stretch>
            <a:fillRect/>
          </a:stretch>
        </p:blipFill>
        <p:spPr>
          <a:xfrm>
            <a:off x="6708815" y="155477"/>
            <a:ext cx="5249008" cy="2991267"/>
          </a:xfrm>
          <a:prstGeom prst="rect">
            <a:avLst/>
          </a:prstGeom>
          <a:ln>
            <a:noFill/>
          </a:ln>
          <a:effectLst>
            <a:outerShdw blurRad="292100" dist="139700" dir="2700000" algn="tl" rotWithShape="0">
              <a:srgbClr val="333333">
                <a:alpha val="65000"/>
              </a:srgbClr>
            </a:outerShdw>
          </a:effectLst>
        </p:spPr>
      </p:pic>
      <p:sp>
        <p:nvSpPr>
          <p:cNvPr id="6" name="Arrow: Right 5">
            <a:extLst>
              <a:ext uri="{FF2B5EF4-FFF2-40B4-BE49-F238E27FC236}">
                <a16:creationId xmlns:a16="http://schemas.microsoft.com/office/drawing/2014/main" id="{841D74C9-C042-B5D9-0C86-FC746AE779D2}"/>
              </a:ext>
            </a:extLst>
          </p:cNvPr>
          <p:cNvSpPr/>
          <p:nvPr/>
        </p:nvSpPr>
        <p:spPr>
          <a:xfrm rot="10800000">
            <a:off x="6096000" y="2252546"/>
            <a:ext cx="512956" cy="490654"/>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7D25007C-0D36-138E-BA64-836D949E3075}"/>
              </a:ext>
            </a:extLst>
          </p:cNvPr>
          <p:cNvSpPr/>
          <p:nvPr/>
        </p:nvSpPr>
        <p:spPr>
          <a:xfrm rot="10800000">
            <a:off x="10976517" y="1624550"/>
            <a:ext cx="512956" cy="490654"/>
          </a:xfrm>
          <a:prstGeom prst="rightArrow">
            <a:avLst/>
          </a:prstGeom>
        </p:spPr>
        <p:style>
          <a:lnRef idx="2">
            <a:schemeClr val="accent5">
              <a:shade val="15000"/>
            </a:schemeClr>
          </a:lnRef>
          <a:fillRef idx="1">
            <a:schemeClr val="accent5"/>
          </a:fillRef>
          <a:effectRef idx="0">
            <a:schemeClr val="accent5"/>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20A499A-A80E-A9E9-F7C1-1BD2F908F82B}"/>
              </a:ext>
            </a:extLst>
          </p:cNvPr>
          <p:cNvPicPr>
            <a:picLocks noChangeAspect="1"/>
          </p:cNvPicPr>
          <p:nvPr/>
        </p:nvPicPr>
        <p:blipFill>
          <a:blip r:embed="rId5"/>
          <a:stretch>
            <a:fillRect/>
          </a:stretch>
        </p:blipFill>
        <p:spPr>
          <a:xfrm>
            <a:off x="0" y="3584277"/>
            <a:ext cx="12192000" cy="311590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31918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480AD-E413-A9A4-54BD-5B384A7EFA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B0EF4240-72DE-06BD-07DB-760454DEF8AD}"/>
              </a:ext>
            </a:extLst>
          </p:cNvPr>
          <p:cNvPicPr>
            <a:picLocks noChangeAspect="1"/>
          </p:cNvPicPr>
          <p:nvPr/>
        </p:nvPicPr>
        <p:blipFill>
          <a:blip r:embed="rId3"/>
          <a:stretch>
            <a:fillRect/>
          </a:stretch>
        </p:blipFill>
        <p:spPr>
          <a:xfrm>
            <a:off x="0" y="0"/>
            <a:ext cx="6991350" cy="6572250"/>
          </a:xfrm>
          <a:prstGeom prst="rect">
            <a:avLst/>
          </a:prstGeom>
        </p:spPr>
      </p:pic>
      <p:pic>
        <p:nvPicPr>
          <p:cNvPr id="8" name="Picture 7">
            <a:extLst>
              <a:ext uri="{FF2B5EF4-FFF2-40B4-BE49-F238E27FC236}">
                <a16:creationId xmlns:a16="http://schemas.microsoft.com/office/drawing/2014/main" id="{B12DF984-C960-2718-4792-82BB07E0D091}"/>
              </a:ext>
            </a:extLst>
          </p:cNvPr>
          <p:cNvPicPr>
            <a:picLocks noChangeAspect="1"/>
          </p:cNvPicPr>
          <p:nvPr/>
        </p:nvPicPr>
        <p:blipFill>
          <a:blip r:embed="rId4"/>
          <a:stretch>
            <a:fillRect/>
          </a:stretch>
        </p:blipFill>
        <p:spPr>
          <a:xfrm>
            <a:off x="7077812" y="510955"/>
            <a:ext cx="5021262" cy="4061045"/>
          </a:xfrm>
          <a:prstGeom prst="rect">
            <a:avLst/>
          </a:prstGeom>
        </p:spPr>
      </p:pic>
      <p:sp>
        <p:nvSpPr>
          <p:cNvPr id="2" name="TextBox 1">
            <a:extLst>
              <a:ext uri="{FF2B5EF4-FFF2-40B4-BE49-F238E27FC236}">
                <a16:creationId xmlns:a16="http://schemas.microsoft.com/office/drawing/2014/main" id="{86A04204-184B-C5B3-898B-5B4B8EEE294B}"/>
              </a:ext>
            </a:extLst>
          </p:cNvPr>
          <p:cNvSpPr txBox="1"/>
          <p:nvPr/>
        </p:nvSpPr>
        <p:spPr>
          <a:xfrm>
            <a:off x="8820963" y="110845"/>
            <a:ext cx="2821259" cy="400110"/>
          </a:xfrm>
          <a:prstGeom prst="rect">
            <a:avLst/>
          </a:prstGeom>
          <a:noFill/>
        </p:spPr>
        <p:txBody>
          <a:bodyPr wrap="square" rtlCol="0">
            <a:spAutoFit/>
          </a:bodyPr>
          <a:lstStyle/>
          <a:p>
            <a:r>
              <a:rPr lang="en-US" sz="2000" b="1" dirty="0">
                <a:latin typeface="Lexend" panose="020B0604020202020204" charset="-94"/>
              </a:rPr>
              <a:t>CUSTOMER</a:t>
            </a:r>
          </a:p>
        </p:txBody>
      </p:sp>
    </p:spTree>
    <p:extLst>
      <p:ext uri="{BB962C8B-B14F-4D97-AF65-F5344CB8AC3E}">
        <p14:creationId xmlns:p14="http://schemas.microsoft.com/office/powerpoint/2010/main" val="857997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94034C-B036-064E-BF46-72916D1B3362}"/>
              </a:ext>
            </a:extLst>
          </p:cNvPr>
          <p:cNvPicPr>
            <a:picLocks noChangeAspect="1"/>
          </p:cNvPicPr>
          <p:nvPr/>
        </p:nvPicPr>
        <p:blipFill>
          <a:blip r:embed="rId2"/>
          <a:stretch>
            <a:fillRect/>
          </a:stretch>
        </p:blipFill>
        <p:spPr>
          <a:xfrm>
            <a:off x="356839" y="667840"/>
            <a:ext cx="11478322" cy="5351380"/>
          </a:xfrm>
          <a:prstGeom prst="rect">
            <a:avLst/>
          </a:prstGeom>
        </p:spPr>
      </p:pic>
      <p:sp>
        <p:nvSpPr>
          <p:cNvPr id="4" name="TextBox 3">
            <a:extLst>
              <a:ext uri="{FF2B5EF4-FFF2-40B4-BE49-F238E27FC236}">
                <a16:creationId xmlns:a16="http://schemas.microsoft.com/office/drawing/2014/main" id="{8AE0BAED-163A-0CC4-3A0E-EECE8094485E}"/>
              </a:ext>
            </a:extLst>
          </p:cNvPr>
          <p:cNvSpPr txBox="1"/>
          <p:nvPr/>
        </p:nvSpPr>
        <p:spPr>
          <a:xfrm>
            <a:off x="356839" y="200823"/>
            <a:ext cx="2821259" cy="400110"/>
          </a:xfrm>
          <a:prstGeom prst="rect">
            <a:avLst/>
          </a:prstGeom>
          <a:noFill/>
        </p:spPr>
        <p:txBody>
          <a:bodyPr wrap="square" rtlCol="0">
            <a:spAutoFit/>
          </a:bodyPr>
          <a:lstStyle/>
          <a:p>
            <a:r>
              <a:rPr lang="en-US" sz="2000" b="1" dirty="0">
                <a:latin typeface="Lexend" panose="020B0604020202020204" charset="-94"/>
              </a:rPr>
              <a:t>ROOM</a:t>
            </a:r>
          </a:p>
        </p:txBody>
      </p:sp>
    </p:spTree>
    <p:extLst>
      <p:ext uri="{BB962C8B-B14F-4D97-AF65-F5344CB8AC3E}">
        <p14:creationId xmlns:p14="http://schemas.microsoft.com/office/powerpoint/2010/main" val="2795829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F193F7-3B1A-0249-E72E-74E736B2F4D3}"/>
              </a:ext>
            </a:extLst>
          </p:cNvPr>
          <p:cNvPicPr>
            <a:picLocks noChangeAspect="1"/>
          </p:cNvPicPr>
          <p:nvPr/>
        </p:nvPicPr>
        <p:blipFill>
          <a:blip r:embed="rId2"/>
          <a:stretch>
            <a:fillRect/>
          </a:stretch>
        </p:blipFill>
        <p:spPr>
          <a:xfrm>
            <a:off x="-1" y="0"/>
            <a:ext cx="6445529" cy="2977376"/>
          </a:xfrm>
          <a:prstGeom prst="rect">
            <a:avLst/>
          </a:prstGeom>
        </p:spPr>
      </p:pic>
      <p:pic>
        <p:nvPicPr>
          <p:cNvPr id="5" name="Picture 4">
            <a:extLst>
              <a:ext uri="{FF2B5EF4-FFF2-40B4-BE49-F238E27FC236}">
                <a16:creationId xmlns:a16="http://schemas.microsoft.com/office/drawing/2014/main" id="{6F8BB956-22CF-0552-2FE5-5CC248BCB663}"/>
              </a:ext>
            </a:extLst>
          </p:cNvPr>
          <p:cNvPicPr>
            <a:picLocks noChangeAspect="1"/>
          </p:cNvPicPr>
          <p:nvPr/>
        </p:nvPicPr>
        <p:blipFill>
          <a:blip r:embed="rId3"/>
          <a:stretch>
            <a:fillRect/>
          </a:stretch>
        </p:blipFill>
        <p:spPr>
          <a:xfrm>
            <a:off x="4797653" y="2678325"/>
            <a:ext cx="7394347" cy="4179675"/>
          </a:xfrm>
          <a:prstGeom prst="rect">
            <a:avLst/>
          </a:prstGeom>
        </p:spPr>
      </p:pic>
      <p:sp>
        <p:nvSpPr>
          <p:cNvPr id="4" name="TextBox 3">
            <a:extLst>
              <a:ext uri="{FF2B5EF4-FFF2-40B4-BE49-F238E27FC236}">
                <a16:creationId xmlns:a16="http://schemas.microsoft.com/office/drawing/2014/main" id="{B815DBE6-6DC0-CE9B-DC03-09C42581BDA9}"/>
              </a:ext>
            </a:extLst>
          </p:cNvPr>
          <p:cNvSpPr txBox="1"/>
          <p:nvPr/>
        </p:nvSpPr>
        <p:spPr>
          <a:xfrm>
            <a:off x="8296856" y="99693"/>
            <a:ext cx="2821259" cy="400110"/>
          </a:xfrm>
          <a:prstGeom prst="rect">
            <a:avLst/>
          </a:prstGeom>
          <a:noFill/>
        </p:spPr>
        <p:txBody>
          <a:bodyPr wrap="square" rtlCol="0">
            <a:spAutoFit/>
          </a:bodyPr>
          <a:lstStyle/>
          <a:p>
            <a:r>
              <a:rPr lang="en-US" sz="2000" b="1" dirty="0">
                <a:latin typeface="Lexend" panose="020B0604020202020204" charset="-94"/>
              </a:rPr>
              <a:t>ROOM GALLERY</a:t>
            </a:r>
          </a:p>
        </p:txBody>
      </p:sp>
      <p:sp>
        <p:nvSpPr>
          <p:cNvPr id="7" name="TextBox 6">
            <a:extLst>
              <a:ext uri="{FF2B5EF4-FFF2-40B4-BE49-F238E27FC236}">
                <a16:creationId xmlns:a16="http://schemas.microsoft.com/office/drawing/2014/main" id="{E92EE732-9352-BD75-B744-2E79F8E368BD}"/>
              </a:ext>
            </a:extLst>
          </p:cNvPr>
          <p:cNvSpPr txBox="1"/>
          <p:nvPr/>
        </p:nvSpPr>
        <p:spPr>
          <a:xfrm>
            <a:off x="5553656" y="6258446"/>
            <a:ext cx="542344" cy="400110"/>
          </a:xfrm>
          <a:prstGeom prst="rect">
            <a:avLst/>
          </a:prstGeom>
          <a:noFill/>
        </p:spPr>
        <p:txBody>
          <a:bodyPr wrap="square" rtlCol="0">
            <a:spAutoFit/>
          </a:bodyPr>
          <a:lstStyle/>
          <a:p>
            <a:r>
              <a:rPr lang="en-US" sz="2000" b="1" dirty="0">
                <a:solidFill>
                  <a:srgbClr val="FF0000"/>
                </a:solidFill>
                <a:latin typeface="Lexend" panose="020B0604020202020204" charset="-94"/>
              </a:rPr>
              <a:t>(2)</a:t>
            </a:r>
          </a:p>
        </p:txBody>
      </p:sp>
      <p:sp>
        <p:nvSpPr>
          <p:cNvPr id="9" name="TextBox 8">
            <a:extLst>
              <a:ext uri="{FF2B5EF4-FFF2-40B4-BE49-F238E27FC236}">
                <a16:creationId xmlns:a16="http://schemas.microsoft.com/office/drawing/2014/main" id="{74E3B68D-15C5-5996-105D-2E9458233FAA}"/>
              </a:ext>
            </a:extLst>
          </p:cNvPr>
          <p:cNvSpPr txBox="1"/>
          <p:nvPr/>
        </p:nvSpPr>
        <p:spPr>
          <a:xfrm>
            <a:off x="237586" y="2538093"/>
            <a:ext cx="542344" cy="400110"/>
          </a:xfrm>
          <a:prstGeom prst="rect">
            <a:avLst/>
          </a:prstGeom>
          <a:noFill/>
        </p:spPr>
        <p:txBody>
          <a:bodyPr wrap="square" rtlCol="0">
            <a:spAutoFit/>
          </a:bodyPr>
          <a:lstStyle/>
          <a:p>
            <a:r>
              <a:rPr lang="en-US" sz="2000" b="1" dirty="0">
                <a:solidFill>
                  <a:srgbClr val="FF0000"/>
                </a:solidFill>
                <a:latin typeface="Lexend" panose="020B0604020202020204" charset="-94"/>
              </a:rPr>
              <a:t>(1)</a:t>
            </a:r>
          </a:p>
        </p:txBody>
      </p:sp>
    </p:spTree>
    <p:extLst>
      <p:ext uri="{BB962C8B-B14F-4D97-AF65-F5344CB8AC3E}">
        <p14:creationId xmlns:p14="http://schemas.microsoft.com/office/powerpoint/2010/main" val="4628236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B0B09-FA7C-8CDC-7502-5B776005987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427DAB5-0A64-30F8-1201-FAA6B348956D}"/>
              </a:ext>
            </a:extLst>
          </p:cNvPr>
          <p:cNvSpPr txBox="1"/>
          <p:nvPr/>
        </p:nvSpPr>
        <p:spPr>
          <a:xfrm>
            <a:off x="349445" y="144298"/>
            <a:ext cx="2821259" cy="400110"/>
          </a:xfrm>
          <a:prstGeom prst="rect">
            <a:avLst/>
          </a:prstGeom>
          <a:noFill/>
        </p:spPr>
        <p:txBody>
          <a:bodyPr wrap="square" rtlCol="0">
            <a:spAutoFit/>
          </a:bodyPr>
          <a:lstStyle/>
          <a:p>
            <a:r>
              <a:rPr lang="en-US" sz="2000" b="1" dirty="0">
                <a:latin typeface="Lexend" panose="020B0604020202020204" charset="-94"/>
              </a:rPr>
              <a:t>RESERVATION</a:t>
            </a:r>
          </a:p>
        </p:txBody>
      </p:sp>
      <p:pic>
        <p:nvPicPr>
          <p:cNvPr id="6" name="Picture 5">
            <a:extLst>
              <a:ext uri="{FF2B5EF4-FFF2-40B4-BE49-F238E27FC236}">
                <a16:creationId xmlns:a16="http://schemas.microsoft.com/office/drawing/2014/main" id="{A3C2A60B-9383-8242-AC35-A3BE0E2DF41D}"/>
              </a:ext>
            </a:extLst>
          </p:cNvPr>
          <p:cNvPicPr>
            <a:picLocks noChangeAspect="1"/>
          </p:cNvPicPr>
          <p:nvPr/>
        </p:nvPicPr>
        <p:blipFill>
          <a:blip r:embed="rId3"/>
          <a:stretch>
            <a:fillRect/>
          </a:stretch>
        </p:blipFill>
        <p:spPr>
          <a:xfrm>
            <a:off x="473728" y="774327"/>
            <a:ext cx="9648825" cy="4610100"/>
          </a:xfrm>
          <a:prstGeom prst="rect">
            <a:avLst/>
          </a:prstGeom>
        </p:spPr>
      </p:pic>
    </p:spTree>
    <p:extLst>
      <p:ext uri="{BB962C8B-B14F-4D97-AF65-F5344CB8AC3E}">
        <p14:creationId xmlns:p14="http://schemas.microsoft.com/office/powerpoint/2010/main" val="2573109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430FA-0910-DB8F-C48A-A127F1A7EB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419328C-EB13-F671-4498-155619F4AF5F}"/>
              </a:ext>
            </a:extLst>
          </p:cNvPr>
          <p:cNvSpPr txBox="1"/>
          <p:nvPr/>
        </p:nvSpPr>
        <p:spPr>
          <a:xfrm>
            <a:off x="349445" y="144298"/>
            <a:ext cx="2821259" cy="400110"/>
          </a:xfrm>
          <a:prstGeom prst="rect">
            <a:avLst/>
          </a:prstGeom>
          <a:noFill/>
        </p:spPr>
        <p:txBody>
          <a:bodyPr wrap="square" rtlCol="0">
            <a:spAutoFit/>
          </a:bodyPr>
          <a:lstStyle/>
          <a:p>
            <a:r>
              <a:rPr lang="en-US" sz="2000" b="1" dirty="0">
                <a:latin typeface="Lexend" panose="020B0604020202020204" charset="-94"/>
              </a:rPr>
              <a:t>RESERVATION</a:t>
            </a:r>
          </a:p>
        </p:txBody>
      </p:sp>
      <p:sp>
        <p:nvSpPr>
          <p:cNvPr id="7" name="TextBox 6">
            <a:extLst>
              <a:ext uri="{FF2B5EF4-FFF2-40B4-BE49-F238E27FC236}">
                <a16:creationId xmlns:a16="http://schemas.microsoft.com/office/drawing/2014/main" id="{7E7CF318-4991-18B5-BA9F-35078AB7ABFB}"/>
              </a:ext>
            </a:extLst>
          </p:cNvPr>
          <p:cNvSpPr txBox="1"/>
          <p:nvPr/>
        </p:nvSpPr>
        <p:spPr>
          <a:xfrm>
            <a:off x="2554762" y="141859"/>
            <a:ext cx="2821259" cy="400110"/>
          </a:xfrm>
          <a:prstGeom prst="rect">
            <a:avLst/>
          </a:prstGeom>
          <a:noFill/>
        </p:spPr>
        <p:txBody>
          <a:bodyPr wrap="square" rtlCol="0">
            <a:spAutoFit/>
          </a:bodyPr>
          <a:lstStyle/>
          <a:p>
            <a:r>
              <a:rPr lang="en-US" sz="2000" dirty="0">
                <a:latin typeface="Lexend" panose="020B0604020202020204" charset="-94"/>
              </a:rPr>
              <a:t>INTERCEPTORS</a:t>
            </a:r>
          </a:p>
        </p:txBody>
      </p:sp>
      <p:pic>
        <p:nvPicPr>
          <p:cNvPr id="9" name="Picture 8">
            <a:extLst>
              <a:ext uri="{FF2B5EF4-FFF2-40B4-BE49-F238E27FC236}">
                <a16:creationId xmlns:a16="http://schemas.microsoft.com/office/drawing/2014/main" id="{71CD7AD1-36BE-9FA4-A6CC-D9597BD45E75}"/>
              </a:ext>
            </a:extLst>
          </p:cNvPr>
          <p:cNvPicPr>
            <a:picLocks noChangeAspect="1"/>
          </p:cNvPicPr>
          <p:nvPr/>
        </p:nvPicPr>
        <p:blipFill>
          <a:blip r:embed="rId3"/>
          <a:stretch>
            <a:fillRect/>
          </a:stretch>
        </p:blipFill>
        <p:spPr>
          <a:xfrm>
            <a:off x="349445" y="604353"/>
            <a:ext cx="10661073" cy="6109349"/>
          </a:xfrm>
          <a:prstGeom prst="rect">
            <a:avLst/>
          </a:prstGeom>
        </p:spPr>
      </p:pic>
    </p:spTree>
    <p:extLst>
      <p:ext uri="{BB962C8B-B14F-4D97-AF65-F5344CB8AC3E}">
        <p14:creationId xmlns:p14="http://schemas.microsoft.com/office/powerpoint/2010/main" val="29310964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7CBBF-6331-5A3F-20AF-6C34EF6858A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DA8A9CB-E34C-5908-59F0-C2400440B647}"/>
              </a:ext>
            </a:extLst>
          </p:cNvPr>
          <p:cNvSpPr txBox="1"/>
          <p:nvPr/>
        </p:nvSpPr>
        <p:spPr>
          <a:xfrm>
            <a:off x="349445" y="144298"/>
            <a:ext cx="2821259" cy="400110"/>
          </a:xfrm>
          <a:prstGeom prst="rect">
            <a:avLst/>
          </a:prstGeom>
          <a:noFill/>
        </p:spPr>
        <p:txBody>
          <a:bodyPr wrap="square" rtlCol="0">
            <a:spAutoFit/>
          </a:bodyPr>
          <a:lstStyle/>
          <a:p>
            <a:r>
              <a:rPr lang="en-US" sz="2000" b="1" dirty="0">
                <a:latin typeface="Lexend" panose="020B0604020202020204" charset="-94"/>
              </a:rPr>
              <a:t>RESERVATION</a:t>
            </a:r>
          </a:p>
        </p:txBody>
      </p:sp>
      <p:sp>
        <p:nvSpPr>
          <p:cNvPr id="7" name="TextBox 6">
            <a:extLst>
              <a:ext uri="{FF2B5EF4-FFF2-40B4-BE49-F238E27FC236}">
                <a16:creationId xmlns:a16="http://schemas.microsoft.com/office/drawing/2014/main" id="{62A543A3-FA5D-EB0C-8AEB-37B88439CB5C}"/>
              </a:ext>
            </a:extLst>
          </p:cNvPr>
          <p:cNvSpPr txBox="1"/>
          <p:nvPr/>
        </p:nvSpPr>
        <p:spPr>
          <a:xfrm>
            <a:off x="2554762" y="141859"/>
            <a:ext cx="4190422" cy="400110"/>
          </a:xfrm>
          <a:prstGeom prst="rect">
            <a:avLst/>
          </a:prstGeom>
          <a:noFill/>
        </p:spPr>
        <p:txBody>
          <a:bodyPr wrap="square" rtlCol="0">
            <a:spAutoFit/>
          </a:bodyPr>
          <a:lstStyle/>
          <a:p>
            <a:r>
              <a:rPr lang="en-US" sz="2000" dirty="0">
                <a:latin typeface="Lexend" panose="020B0604020202020204" charset="-94"/>
              </a:rPr>
              <a:t>CALCULATED PROPERTY</a:t>
            </a:r>
          </a:p>
        </p:txBody>
      </p:sp>
      <p:sp>
        <p:nvSpPr>
          <p:cNvPr id="3" name="TextBox 2">
            <a:extLst>
              <a:ext uri="{FF2B5EF4-FFF2-40B4-BE49-F238E27FC236}">
                <a16:creationId xmlns:a16="http://schemas.microsoft.com/office/drawing/2014/main" id="{27A7197A-3211-DB68-7685-7D3B0166D27D}"/>
              </a:ext>
            </a:extLst>
          </p:cNvPr>
          <p:cNvSpPr txBox="1"/>
          <p:nvPr/>
        </p:nvSpPr>
        <p:spPr>
          <a:xfrm>
            <a:off x="693830" y="1901729"/>
            <a:ext cx="8149441" cy="1090042"/>
          </a:xfrm>
          <a:prstGeom prst="rect">
            <a:avLst/>
          </a:prstGeom>
          <a:noFill/>
        </p:spPr>
        <p:txBody>
          <a:bodyPr wrap="square">
            <a:spAutoFit/>
          </a:bodyPr>
          <a:lstStyle/>
          <a:p>
            <a:pPr marL="0" marR="0">
              <a:lnSpc>
                <a:spcPts val="1300"/>
              </a:lnSpc>
              <a:buNone/>
            </a:pPr>
            <a:r>
              <a:rPr lang="en-US" sz="2800" b="1" dirty="0">
                <a:effectLst/>
                <a:latin typeface="Calibri" panose="020F0502020204030204" pitchFamily="34" charset="0"/>
              </a:rPr>
              <a:t> </a:t>
            </a:r>
          </a:p>
          <a:p>
            <a:pPr marL="0" marR="0">
              <a:buNone/>
            </a:pPr>
            <a:r>
              <a:rPr lang="tr-TR" sz="1800" b="1" dirty="0">
                <a:solidFill>
                  <a:srgbClr val="979797"/>
                </a:solidFill>
                <a:effectLst/>
                <a:latin typeface="Consolas" panose="020B0609020204030204" pitchFamily="49" charset="0"/>
              </a:rPr>
              <a:t>(</a:t>
            </a:r>
            <a:r>
              <a:rPr lang="en-US" sz="1800" b="1" dirty="0">
                <a:solidFill>
                  <a:srgbClr val="3AC0A8"/>
                </a:solidFill>
                <a:effectLst/>
                <a:latin typeface="Consolas" panose="020B0609020204030204" pitchFamily="49" charset="0"/>
              </a:rPr>
              <a:t>Year</a:t>
            </a:r>
            <a:r>
              <a:rPr lang="en-US" sz="1800" b="1" dirty="0">
                <a:solidFill>
                  <a:srgbClr val="979797"/>
                </a:solidFill>
                <a:effectLst/>
                <a:latin typeface="Consolas" panose="020B0609020204030204" pitchFamily="49" charset="0"/>
              </a:rPr>
              <a:t>(</a:t>
            </a:r>
            <a:r>
              <a:rPr lang="en-US" sz="1800" b="1" dirty="0" err="1">
                <a:solidFill>
                  <a:srgbClr val="6CA4CF"/>
                </a:solidFill>
                <a:effectLst/>
                <a:latin typeface="Consolas" panose="020B0609020204030204" pitchFamily="49" charset="0"/>
              </a:rPr>
              <a:t>CheckoutDate</a:t>
            </a:r>
            <a:r>
              <a:rPr lang="en-US" sz="1800" b="1" dirty="0">
                <a:solidFill>
                  <a:srgbClr val="979797"/>
                </a:solidFill>
                <a:effectLst/>
                <a:latin typeface="Consolas" panose="020B0609020204030204" pitchFamily="49" charset="0"/>
              </a:rPr>
              <a:t>) - </a:t>
            </a:r>
            <a:r>
              <a:rPr lang="en-US" sz="1800" b="1" dirty="0">
                <a:solidFill>
                  <a:srgbClr val="3AC0A8"/>
                </a:solidFill>
                <a:effectLst/>
                <a:latin typeface="Consolas" panose="020B0609020204030204" pitchFamily="49" charset="0"/>
              </a:rPr>
              <a:t>Year</a:t>
            </a:r>
            <a:r>
              <a:rPr lang="en-US" sz="1800" b="1" dirty="0">
                <a:solidFill>
                  <a:srgbClr val="979797"/>
                </a:solidFill>
                <a:effectLst/>
                <a:latin typeface="Consolas" panose="020B0609020204030204" pitchFamily="49" charset="0"/>
              </a:rPr>
              <a:t>(</a:t>
            </a:r>
            <a:r>
              <a:rPr lang="en-US" sz="1800" b="1" dirty="0" err="1">
                <a:solidFill>
                  <a:srgbClr val="6CA4CF"/>
                </a:solidFill>
                <a:effectLst/>
                <a:latin typeface="Consolas" panose="020B0609020204030204" pitchFamily="49" charset="0"/>
              </a:rPr>
              <a:t>CheckinDate</a:t>
            </a:r>
            <a:r>
              <a:rPr lang="en-US" sz="1800" b="1" dirty="0">
                <a:solidFill>
                  <a:srgbClr val="979797"/>
                </a:solidFill>
                <a:effectLst/>
                <a:latin typeface="Consolas" panose="020B0609020204030204" pitchFamily="49" charset="0"/>
              </a:rPr>
              <a:t>)) * </a:t>
            </a:r>
            <a:r>
              <a:rPr lang="en-US" sz="1800" b="1" dirty="0">
                <a:solidFill>
                  <a:srgbClr val="899C7F"/>
                </a:solidFill>
                <a:effectLst/>
                <a:latin typeface="Consolas" panose="020B0609020204030204" pitchFamily="49" charset="0"/>
              </a:rPr>
              <a:t>365</a:t>
            </a:r>
            <a:endParaRPr lang="en-US" sz="1800" b="1" dirty="0">
              <a:effectLst/>
              <a:latin typeface="Consolas" panose="020B0609020204030204" pitchFamily="49" charset="0"/>
            </a:endParaRPr>
          </a:p>
          <a:p>
            <a:pPr marL="0" marR="0">
              <a:buNone/>
            </a:pPr>
            <a:r>
              <a:rPr lang="tr-TR" sz="1800" b="1" dirty="0">
                <a:solidFill>
                  <a:srgbClr val="979797"/>
                </a:solidFill>
                <a:effectLst/>
                <a:latin typeface="Consolas" panose="020B0609020204030204" pitchFamily="49" charset="0"/>
              </a:rPr>
              <a:t>+ </a:t>
            </a:r>
            <a:r>
              <a:rPr lang="en-US" sz="1800" b="1" dirty="0">
                <a:solidFill>
                  <a:srgbClr val="979797"/>
                </a:solidFill>
                <a:effectLst/>
                <a:latin typeface="Consolas" panose="020B0609020204030204" pitchFamily="49" charset="0"/>
              </a:rPr>
              <a:t>(</a:t>
            </a:r>
            <a:r>
              <a:rPr lang="en-US" sz="1800" b="1" dirty="0">
                <a:solidFill>
                  <a:srgbClr val="3AC0A8"/>
                </a:solidFill>
                <a:effectLst/>
                <a:latin typeface="Consolas" panose="020B0609020204030204" pitchFamily="49" charset="0"/>
              </a:rPr>
              <a:t>Month</a:t>
            </a:r>
            <a:r>
              <a:rPr lang="en-US" sz="1800" b="1" dirty="0">
                <a:solidFill>
                  <a:srgbClr val="979797"/>
                </a:solidFill>
                <a:effectLst/>
                <a:latin typeface="Consolas" panose="020B0609020204030204" pitchFamily="49" charset="0"/>
              </a:rPr>
              <a:t>(</a:t>
            </a:r>
            <a:r>
              <a:rPr lang="en-US" sz="1800" b="1" dirty="0" err="1">
                <a:solidFill>
                  <a:srgbClr val="6CA4CF"/>
                </a:solidFill>
                <a:effectLst/>
                <a:latin typeface="Consolas" panose="020B0609020204030204" pitchFamily="49" charset="0"/>
              </a:rPr>
              <a:t>CheckoutDate</a:t>
            </a:r>
            <a:r>
              <a:rPr lang="en-US" sz="1800" b="1" dirty="0">
                <a:solidFill>
                  <a:srgbClr val="979797"/>
                </a:solidFill>
                <a:effectLst/>
                <a:latin typeface="Consolas" panose="020B0609020204030204" pitchFamily="49" charset="0"/>
              </a:rPr>
              <a:t>) - </a:t>
            </a:r>
            <a:r>
              <a:rPr lang="en-US" sz="1800" b="1" dirty="0">
                <a:solidFill>
                  <a:srgbClr val="3AC0A8"/>
                </a:solidFill>
                <a:effectLst/>
                <a:latin typeface="Consolas" panose="020B0609020204030204" pitchFamily="49" charset="0"/>
              </a:rPr>
              <a:t>Month</a:t>
            </a:r>
            <a:r>
              <a:rPr lang="en-US" sz="1800" b="1" dirty="0">
                <a:solidFill>
                  <a:srgbClr val="979797"/>
                </a:solidFill>
                <a:effectLst/>
                <a:latin typeface="Consolas" panose="020B0609020204030204" pitchFamily="49" charset="0"/>
              </a:rPr>
              <a:t>(</a:t>
            </a:r>
            <a:r>
              <a:rPr lang="en-US" sz="1800" b="1" dirty="0" err="1">
                <a:solidFill>
                  <a:srgbClr val="6CA4CF"/>
                </a:solidFill>
                <a:effectLst/>
                <a:latin typeface="Consolas" panose="020B0609020204030204" pitchFamily="49" charset="0"/>
              </a:rPr>
              <a:t>CheckinDate</a:t>
            </a:r>
            <a:r>
              <a:rPr lang="en-US" sz="1800" b="1" dirty="0">
                <a:solidFill>
                  <a:srgbClr val="979797"/>
                </a:solidFill>
                <a:effectLst/>
                <a:latin typeface="Consolas" panose="020B0609020204030204" pitchFamily="49" charset="0"/>
              </a:rPr>
              <a:t>)) * </a:t>
            </a:r>
            <a:r>
              <a:rPr lang="en-US" sz="1800" b="1" dirty="0">
                <a:solidFill>
                  <a:srgbClr val="899C7F"/>
                </a:solidFill>
                <a:effectLst/>
                <a:latin typeface="Consolas" panose="020B0609020204030204" pitchFamily="49" charset="0"/>
              </a:rPr>
              <a:t>30</a:t>
            </a:r>
            <a:endParaRPr lang="en-US" sz="1800" b="1" dirty="0">
              <a:effectLst/>
              <a:latin typeface="Consolas" panose="020B0609020204030204" pitchFamily="49" charset="0"/>
            </a:endParaRPr>
          </a:p>
          <a:p>
            <a:pPr marL="0" marR="0">
              <a:buNone/>
            </a:pPr>
            <a:r>
              <a:rPr lang="tr-TR" sz="1800" b="1" dirty="0">
                <a:solidFill>
                  <a:srgbClr val="979797"/>
                </a:solidFill>
                <a:effectLst/>
                <a:latin typeface="Consolas" panose="020B0609020204030204" pitchFamily="49" charset="0"/>
              </a:rPr>
              <a:t>+ </a:t>
            </a:r>
            <a:r>
              <a:rPr lang="en-US" sz="1800" b="1" dirty="0">
                <a:solidFill>
                  <a:srgbClr val="3AC0A8"/>
                </a:solidFill>
                <a:effectLst/>
                <a:latin typeface="Consolas" panose="020B0609020204030204" pitchFamily="49" charset="0"/>
              </a:rPr>
              <a:t>Day</a:t>
            </a:r>
            <a:r>
              <a:rPr lang="en-US" sz="1800" b="1" dirty="0">
                <a:solidFill>
                  <a:srgbClr val="979797"/>
                </a:solidFill>
                <a:effectLst/>
                <a:latin typeface="Consolas" panose="020B0609020204030204" pitchFamily="49" charset="0"/>
              </a:rPr>
              <a:t>(</a:t>
            </a:r>
            <a:r>
              <a:rPr lang="en-US" sz="1800" b="1" dirty="0" err="1">
                <a:solidFill>
                  <a:srgbClr val="6CA4CF"/>
                </a:solidFill>
                <a:effectLst/>
                <a:latin typeface="Consolas" panose="020B0609020204030204" pitchFamily="49" charset="0"/>
              </a:rPr>
              <a:t>CheckoutDate</a:t>
            </a:r>
            <a:r>
              <a:rPr lang="en-US" sz="1800" b="1" dirty="0">
                <a:solidFill>
                  <a:srgbClr val="979797"/>
                </a:solidFill>
                <a:effectLst/>
                <a:latin typeface="Consolas" panose="020B0609020204030204" pitchFamily="49" charset="0"/>
              </a:rPr>
              <a:t>) - </a:t>
            </a:r>
            <a:r>
              <a:rPr lang="en-US" sz="1800" b="1" dirty="0">
                <a:solidFill>
                  <a:srgbClr val="3AC0A8"/>
                </a:solidFill>
                <a:effectLst/>
                <a:latin typeface="Consolas" panose="020B0609020204030204" pitchFamily="49" charset="0"/>
              </a:rPr>
              <a:t>Day</a:t>
            </a:r>
            <a:r>
              <a:rPr lang="en-US" sz="1800" b="1" dirty="0">
                <a:solidFill>
                  <a:srgbClr val="979797"/>
                </a:solidFill>
                <a:effectLst/>
                <a:latin typeface="Consolas" panose="020B0609020204030204" pitchFamily="49" charset="0"/>
              </a:rPr>
              <a:t>(</a:t>
            </a:r>
            <a:r>
              <a:rPr lang="en-US" sz="1800" b="1" dirty="0" err="1">
                <a:solidFill>
                  <a:srgbClr val="6CA4CF"/>
                </a:solidFill>
                <a:effectLst/>
                <a:latin typeface="Consolas" panose="020B0609020204030204" pitchFamily="49" charset="0"/>
              </a:rPr>
              <a:t>CheckinDate</a:t>
            </a:r>
            <a:r>
              <a:rPr lang="en-US" sz="1800" b="1" dirty="0">
                <a:solidFill>
                  <a:srgbClr val="979797"/>
                </a:solidFill>
                <a:effectLst/>
                <a:latin typeface="Consolas" panose="020B0609020204030204" pitchFamily="49" charset="0"/>
              </a:rPr>
              <a:t>)</a:t>
            </a:r>
            <a:endParaRPr lang="en-US" sz="1800" b="1" dirty="0">
              <a:effectLst/>
              <a:latin typeface="Consolas" panose="020B0609020204030204" pitchFamily="49" charset="0"/>
            </a:endParaRPr>
          </a:p>
        </p:txBody>
      </p:sp>
    </p:spTree>
    <p:extLst>
      <p:ext uri="{BB962C8B-B14F-4D97-AF65-F5344CB8AC3E}">
        <p14:creationId xmlns:p14="http://schemas.microsoft.com/office/powerpoint/2010/main" val="2117150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528EA37-9F16-CC91-5705-B648C1DD6A20}"/>
              </a:ext>
            </a:extLst>
          </p:cNvPr>
          <p:cNvSpPr txBox="1"/>
          <p:nvPr/>
        </p:nvSpPr>
        <p:spPr>
          <a:xfrm>
            <a:off x="505230" y="498763"/>
            <a:ext cx="9676471" cy="2677656"/>
          </a:xfrm>
          <a:prstGeom prst="rect">
            <a:avLst/>
          </a:prstGeom>
          <a:noFill/>
        </p:spPr>
        <p:txBody>
          <a:bodyPr wrap="square">
            <a:spAutoFit/>
          </a:bodyPr>
          <a:lstStyle/>
          <a:p>
            <a:pPr marL="0" marR="0">
              <a:buNone/>
            </a:pPr>
            <a:r>
              <a:rPr lang="en-US" sz="2800" b="1" dirty="0">
                <a:effectLst/>
                <a:latin typeface="Lexend" panose="020B0604020202020204" charset="-94"/>
              </a:rPr>
              <a:t>ACTIONS: </a:t>
            </a:r>
          </a:p>
          <a:p>
            <a:pPr marL="342900" indent="-342900">
              <a:buFont typeface="Arial" panose="020B0604020202020204" pitchFamily="34" charset="0"/>
              <a:buChar char="•"/>
            </a:pPr>
            <a:r>
              <a:rPr lang="en-US" sz="2000" b="1" dirty="0">
                <a:effectLst/>
                <a:latin typeface="Lexend" panose="020B0604020202020204" charset="-94"/>
              </a:rPr>
              <a:t>HTTP:  </a:t>
            </a:r>
            <a:r>
              <a:rPr lang="en-US" sz="2000" dirty="0">
                <a:latin typeface="Lexend" panose="020B0604020202020204" charset="-94"/>
              </a:rPr>
              <a:t>Create custom HTTP endpoints and Web APIs for your application.</a:t>
            </a:r>
          </a:p>
          <a:p>
            <a:pPr marL="342900" indent="-342900">
              <a:buFont typeface="Arial" panose="020B0604020202020204" pitchFamily="34" charset="0"/>
              <a:buChar char="•"/>
            </a:pPr>
            <a:r>
              <a:rPr lang="en-US" sz="2000" b="1" dirty="0">
                <a:effectLst/>
                <a:latin typeface="Lexend" panose="020B0604020202020204" charset="-94"/>
              </a:rPr>
              <a:t>Handlers: </a:t>
            </a:r>
            <a:r>
              <a:rPr lang="en-US" sz="2000" dirty="0">
                <a:latin typeface="Lexend" panose="020B0604020202020204" charset="-94"/>
              </a:rPr>
              <a:t>Listen for distributed events and run custom logic when an event is published.</a:t>
            </a:r>
          </a:p>
          <a:p>
            <a:pPr marL="342900" indent="-342900">
              <a:buFont typeface="Arial" panose="020B0604020202020204" pitchFamily="34" charset="0"/>
              <a:buChar char="•"/>
            </a:pPr>
            <a:r>
              <a:rPr lang="en-US" sz="2000" b="1" dirty="0">
                <a:effectLst/>
                <a:latin typeface="Lexend" panose="020B0604020202020204" charset="-94"/>
              </a:rPr>
              <a:t>Jobs: </a:t>
            </a:r>
            <a:r>
              <a:rPr lang="en-US" sz="2000" dirty="0">
                <a:effectLst/>
                <a:latin typeface="Lexend" panose="020B0604020202020204" charset="-94"/>
              </a:rPr>
              <a:t>Background jobs…</a:t>
            </a:r>
            <a:r>
              <a:rPr lang="en-US" sz="2000" b="1" dirty="0">
                <a:effectLst/>
                <a:latin typeface="Lexend" panose="020B0604020202020204" charset="-94"/>
              </a:rPr>
              <a:t> </a:t>
            </a:r>
            <a:r>
              <a:rPr lang="en-US" sz="2000" dirty="0">
                <a:latin typeface="Lexend" panose="020B0604020202020204" charset="-94"/>
              </a:rPr>
              <a:t>Run asynchronous tasks in the background, such as sending emails, generating reports, or processing data.</a:t>
            </a:r>
            <a:endParaRPr lang="en-US" sz="2000" b="1" dirty="0">
              <a:effectLst/>
              <a:latin typeface="Lexend" panose="020B0604020202020204" charset="-94"/>
            </a:endParaRPr>
          </a:p>
          <a:p>
            <a:pPr marL="342900" indent="-342900">
              <a:buFont typeface="Arial" panose="020B0604020202020204" pitchFamily="34" charset="0"/>
              <a:buChar char="•"/>
            </a:pPr>
            <a:r>
              <a:rPr lang="en-US" sz="2000" b="1" dirty="0">
                <a:effectLst/>
                <a:latin typeface="Lexend" panose="020B0604020202020204" charset="-94"/>
              </a:rPr>
              <a:t>Workers: </a:t>
            </a:r>
            <a:r>
              <a:rPr lang="en-US" sz="2000" dirty="0">
                <a:latin typeface="Lexend" panose="020B0604020202020204" charset="-94"/>
              </a:rPr>
              <a:t>Background workers…Run recurring tasks automatically on a defined schedule or interval.</a:t>
            </a:r>
            <a:r>
              <a:rPr lang="en-US" sz="1100" dirty="0">
                <a:effectLst/>
                <a:latin typeface="Lexend" panose="020B0604020202020204" charset="-94"/>
              </a:rPr>
              <a:t> </a:t>
            </a:r>
          </a:p>
        </p:txBody>
      </p:sp>
      <p:sp>
        <p:nvSpPr>
          <p:cNvPr id="7" name="TextBox 6">
            <a:extLst>
              <a:ext uri="{FF2B5EF4-FFF2-40B4-BE49-F238E27FC236}">
                <a16:creationId xmlns:a16="http://schemas.microsoft.com/office/drawing/2014/main" id="{32DF3960-71C6-D9B8-1FEE-32FB7BD8CE69}"/>
              </a:ext>
            </a:extLst>
          </p:cNvPr>
          <p:cNvSpPr txBox="1"/>
          <p:nvPr/>
        </p:nvSpPr>
        <p:spPr>
          <a:xfrm>
            <a:off x="505230" y="3429000"/>
            <a:ext cx="9676471" cy="3046988"/>
          </a:xfrm>
          <a:prstGeom prst="rect">
            <a:avLst/>
          </a:prstGeom>
          <a:noFill/>
        </p:spPr>
        <p:txBody>
          <a:bodyPr wrap="square">
            <a:spAutoFit/>
          </a:bodyPr>
          <a:lstStyle/>
          <a:p>
            <a:pPr marL="0" marR="0">
              <a:buNone/>
            </a:pPr>
            <a:r>
              <a:rPr lang="en-US" sz="2800" b="1" dirty="0">
                <a:effectLst/>
                <a:latin typeface="Lexend" panose="020B0604020202020204" charset="-94"/>
              </a:rPr>
              <a:t>PAGES: </a:t>
            </a:r>
          </a:p>
          <a:p>
            <a:pPr marL="342900" indent="-342900">
              <a:buFont typeface="Arial" panose="020B0604020202020204" pitchFamily="34" charset="0"/>
              <a:buChar char="•"/>
            </a:pPr>
            <a:r>
              <a:rPr lang="en-US" sz="2000" b="1" dirty="0">
                <a:latin typeface="Lexend" panose="020B0604020202020204" charset="-94"/>
              </a:rPr>
              <a:t>Group </a:t>
            </a:r>
            <a:r>
              <a:rPr lang="en-US" sz="2000" b="1" dirty="0">
                <a:effectLst/>
                <a:latin typeface="Lexend" panose="020B0604020202020204" charset="-94"/>
              </a:rPr>
              <a:t>: </a:t>
            </a:r>
            <a:r>
              <a:rPr lang="en-US" sz="2000" dirty="0"/>
              <a:t>Grouping features for navigation menu.</a:t>
            </a:r>
            <a:endParaRPr lang="en-US" sz="2000" b="1" dirty="0">
              <a:effectLst/>
              <a:latin typeface="Lexend" panose="020B0604020202020204" charset="-94"/>
            </a:endParaRPr>
          </a:p>
          <a:p>
            <a:pPr marL="342900" indent="-342900">
              <a:buFont typeface="Arial" panose="020B0604020202020204" pitchFamily="34" charset="0"/>
              <a:buChar char="•"/>
            </a:pPr>
            <a:r>
              <a:rPr lang="en-US" sz="2000" b="1" dirty="0">
                <a:latin typeface="Lexend" panose="020B0604020202020204" charset="-94"/>
              </a:rPr>
              <a:t>New: </a:t>
            </a:r>
            <a:r>
              <a:rPr lang="en-US" sz="2000" dirty="0"/>
              <a:t>Create a new standalone page. You can add multiple pages to the application.</a:t>
            </a:r>
            <a:endParaRPr lang="en-US" sz="2000" b="1" dirty="0">
              <a:latin typeface="Lexend" panose="020B0604020202020204" charset="-94"/>
            </a:endParaRPr>
          </a:p>
          <a:p>
            <a:pPr marL="342900" indent="-342900">
              <a:buFont typeface="Arial" panose="020B0604020202020204" pitchFamily="34" charset="0"/>
              <a:buChar char="•"/>
            </a:pPr>
            <a:r>
              <a:rPr lang="en-US" sz="2000" b="1" dirty="0">
                <a:latin typeface="Lexend" panose="020B0604020202020204" charset="-94"/>
              </a:rPr>
              <a:t>Form: </a:t>
            </a:r>
            <a:r>
              <a:rPr lang="en-US" sz="2000" dirty="0"/>
              <a:t>Create forms for adding and updating entity records.</a:t>
            </a:r>
            <a:endParaRPr lang="en-US" sz="2000" b="1" dirty="0">
              <a:latin typeface="Lexend" panose="020B0604020202020204" charset="-94"/>
            </a:endParaRPr>
          </a:p>
          <a:p>
            <a:pPr marL="342900" indent="-342900">
              <a:buFont typeface="Arial" panose="020B0604020202020204" pitchFamily="34" charset="0"/>
              <a:buChar char="•"/>
            </a:pPr>
            <a:r>
              <a:rPr lang="en-US" sz="2000" b="1" dirty="0">
                <a:latin typeface="Lexend" panose="020B0604020202020204" charset="-94"/>
              </a:rPr>
              <a:t>Permissions: </a:t>
            </a:r>
            <a:r>
              <a:rPr lang="en-US" sz="2000" dirty="0"/>
              <a:t>Control access to the page and the actions users can perform.</a:t>
            </a:r>
            <a:endParaRPr lang="en-US" sz="2000" b="1" dirty="0">
              <a:latin typeface="Lexend" panose="020B0604020202020204" charset="-94"/>
            </a:endParaRPr>
          </a:p>
          <a:p>
            <a:pPr marL="342900" indent="-342900">
              <a:buFont typeface="Arial" panose="020B0604020202020204" pitchFamily="34" charset="0"/>
              <a:buChar char="•"/>
            </a:pPr>
            <a:r>
              <a:rPr lang="en-US" sz="2000" b="1" dirty="0">
                <a:latin typeface="Lexend" panose="020B0604020202020204" charset="-94"/>
              </a:rPr>
              <a:t>Health</a:t>
            </a:r>
            <a:r>
              <a:rPr lang="en-US" sz="2400" b="1" dirty="0">
                <a:latin typeface="Lexend" panose="020B0604020202020204" charset="-94"/>
              </a:rPr>
              <a:t>:</a:t>
            </a:r>
            <a:r>
              <a:rPr lang="en-US" sz="2000" dirty="0"/>
              <a:t> Find configuration and design issues in the Low-Code Designer. This is not an application runtime health check.</a:t>
            </a:r>
          </a:p>
          <a:p>
            <a:pPr marL="342900" indent="-342900">
              <a:buFont typeface="Arial" panose="020B0604020202020204" pitchFamily="34" charset="0"/>
              <a:buChar char="•"/>
            </a:pPr>
            <a:endParaRPr lang="en-US" sz="2000" b="1" dirty="0">
              <a:latin typeface="Lexend" panose="020B0604020202020204" charset="-94"/>
            </a:endParaRPr>
          </a:p>
        </p:txBody>
      </p:sp>
    </p:spTree>
    <p:extLst>
      <p:ext uri="{BB962C8B-B14F-4D97-AF65-F5344CB8AC3E}">
        <p14:creationId xmlns:p14="http://schemas.microsoft.com/office/powerpoint/2010/main" val="14682540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EDB66-569A-A9DD-667C-0F3FA70094B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382E826-EE1C-B508-3928-FCE4C18BD51F}"/>
              </a:ext>
            </a:extLst>
          </p:cNvPr>
          <p:cNvSpPr txBox="1"/>
          <p:nvPr/>
        </p:nvSpPr>
        <p:spPr>
          <a:xfrm>
            <a:off x="677193" y="2499739"/>
            <a:ext cx="9676471" cy="1569660"/>
          </a:xfrm>
          <a:prstGeom prst="rect">
            <a:avLst/>
          </a:prstGeom>
          <a:noFill/>
        </p:spPr>
        <p:txBody>
          <a:bodyPr wrap="square">
            <a:spAutoFit/>
          </a:bodyPr>
          <a:lstStyle/>
          <a:p>
            <a:pPr marL="0" marR="0">
              <a:buNone/>
            </a:pPr>
            <a:r>
              <a:rPr lang="en-US" sz="2800" b="1" dirty="0">
                <a:effectLst/>
                <a:latin typeface="Lexend" panose="020B0604020202020204" charset="-94"/>
              </a:rPr>
              <a:t>PERMISSIONS:</a:t>
            </a:r>
          </a:p>
          <a:p>
            <a:r>
              <a:rPr lang="en-US" sz="2000" dirty="0"/>
              <a:t>Create custom permissions to control access to pages and actions. Permissions can be organized under parent permissions.</a:t>
            </a:r>
          </a:p>
          <a:p>
            <a:pPr marL="0" marR="0">
              <a:buNone/>
            </a:pPr>
            <a:endParaRPr lang="en-US" sz="2800" b="1" dirty="0">
              <a:effectLst/>
              <a:latin typeface="Lexend" panose="020B0604020202020204" charset="-94"/>
            </a:endParaRPr>
          </a:p>
        </p:txBody>
      </p:sp>
      <p:sp>
        <p:nvSpPr>
          <p:cNvPr id="6" name="TextBox 5">
            <a:extLst>
              <a:ext uri="{FF2B5EF4-FFF2-40B4-BE49-F238E27FC236}">
                <a16:creationId xmlns:a16="http://schemas.microsoft.com/office/drawing/2014/main" id="{80288C43-E5DC-EBAC-348D-C0E9B4D93AAB}"/>
              </a:ext>
            </a:extLst>
          </p:cNvPr>
          <p:cNvSpPr txBox="1"/>
          <p:nvPr/>
        </p:nvSpPr>
        <p:spPr>
          <a:xfrm>
            <a:off x="677192" y="4069399"/>
            <a:ext cx="9676471" cy="1138773"/>
          </a:xfrm>
          <a:prstGeom prst="rect">
            <a:avLst/>
          </a:prstGeom>
          <a:noFill/>
        </p:spPr>
        <p:txBody>
          <a:bodyPr wrap="square">
            <a:spAutoFit/>
          </a:bodyPr>
          <a:lstStyle/>
          <a:p>
            <a:pPr marL="0" marR="0">
              <a:buNone/>
            </a:pPr>
            <a:r>
              <a:rPr lang="en-US" sz="2800" b="1" dirty="0">
                <a:latin typeface="Lexend" panose="020B0604020202020204" charset="-94"/>
              </a:rPr>
              <a:t>HEALTH</a:t>
            </a:r>
            <a:r>
              <a:rPr lang="en-US" sz="2800" b="1" dirty="0">
                <a:effectLst/>
                <a:latin typeface="Lexend" panose="020B0604020202020204" charset="-94"/>
              </a:rPr>
              <a:t>:</a:t>
            </a:r>
          </a:p>
          <a:p>
            <a:r>
              <a:rPr lang="en-US" sz="2000" dirty="0"/>
              <a:t>Checks the Low-Code model for broken references and configuration issues before they cause runtime errors.</a:t>
            </a:r>
            <a:endParaRPr lang="en-US" sz="2800" b="1" dirty="0">
              <a:effectLst/>
              <a:latin typeface="Lexend" panose="020B0604020202020204" charset="-94"/>
            </a:endParaRPr>
          </a:p>
        </p:txBody>
      </p:sp>
      <p:sp>
        <p:nvSpPr>
          <p:cNvPr id="9" name="TextBox 8">
            <a:extLst>
              <a:ext uri="{FF2B5EF4-FFF2-40B4-BE49-F238E27FC236}">
                <a16:creationId xmlns:a16="http://schemas.microsoft.com/office/drawing/2014/main" id="{4D333647-7250-D87F-750A-A0DBE4F2EE43}"/>
              </a:ext>
            </a:extLst>
          </p:cNvPr>
          <p:cNvSpPr txBox="1"/>
          <p:nvPr/>
        </p:nvSpPr>
        <p:spPr>
          <a:xfrm>
            <a:off x="677192" y="791579"/>
            <a:ext cx="9676471" cy="1138773"/>
          </a:xfrm>
          <a:prstGeom prst="rect">
            <a:avLst/>
          </a:prstGeom>
          <a:noFill/>
        </p:spPr>
        <p:txBody>
          <a:bodyPr wrap="square">
            <a:spAutoFit/>
          </a:bodyPr>
          <a:lstStyle/>
          <a:p>
            <a:pPr marL="0" marR="0">
              <a:buNone/>
            </a:pPr>
            <a:r>
              <a:rPr lang="en-US" sz="2800" b="1" dirty="0">
                <a:effectLst/>
                <a:latin typeface="Lexend" panose="020B0604020202020204" charset="-94"/>
              </a:rPr>
              <a:t>FORMS: </a:t>
            </a:r>
          </a:p>
          <a:p>
            <a:r>
              <a:rPr lang="en-US" sz="2000" dirty="0"/>
              <a:t>Creates a form for an entity, automatically generating fields from its properties. Typically used for </a:t>
            </a:r>
            <a:r>
              <a:rPr lang="en-US" sz="2000" b="1" dirty="0"/>
              <a:t>Create</a:t>
            </a:r>
            <a:r>
              <a:rPr lang="en-US" sz="2000" dirty="0"/>
              <a:t> and </a:t>
            </a:r>
            <a:r>
              <a:rPr lang="en-US" sz="2000" b="1" dirty="0"/>
              <a:t>Update</a:t>
            </a:r>
            <a:r>
              <a:rPr lang="en-US" sz="2000" dirty="0"/>
              <a:t> operations.</a:t>
            </a:r>
            <a:endParaRPr lang="en-US" sz="1100" dirty="0">
              <a:effectLst/>
              <a:latin typeface="Lexend" panose="020B0604020202020204" charset="-94"/>
            </a:endParaRPr>
          </a:p>
        </p:txBody>
      </p:sp>
    </p:spTree>
    <p:extLst>
      <p:ext uri="{BB962C8B-B14F-4D97-AF65-F5344CB8AC3E}">
        <p14:creationId xmlns:p14="http://schemas.microsoft.com/office/powerpoint/2010/main" val="696302834"/>
      </p:ext>
    </p:extLst>
  </p:cSld>
  <p:clrMapOvr>
    <a:masterClrMapping/>
  </p:clrMapOvr>
</p:sld>
</file>

<file path=ppt/theme/theme1.xml><?xml version="1.0" encoding="utf-8"?>
<a:theme xmlns:a="http://schemas.openxmlformats.org/drawingml/2006/main" name="Office Teması">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1426</TotalTime>
  <Words>1142</Words>
  <Application>Microsoft Office PowerPoint</Application>
  <PresentationFormat>Widescreen</PresentationFormat>
  <Paragraphs>156</Paragraphs>
  <Slides>25</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Arial</vt:lpstr>
      <vt:lpstr>Play</vt:lpstr>
      <vt:lpstr>Wingdings</vt:lpstr>
      <vt:lpstr>Aptos</vt:lpstr>
      <vt:lpstr>Lexend Light</vt:lpstr>
      <vt:lpstr>Consolas</vt:lpstr>
      <vt:lpstr>Lexend</vt:lpstr>
      <vt:lpstr>Poppins</vt:lpstr>
      <vt:lpstr>Calibri</vt:lpstr>
      <vt:lpstr>Office Teması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Volosoft Bilisim</dc:creator>
  <cp:lastModifiedBy>Alper Ebiçoğlu</cp:lastModifiedBy>
  <cp:revision>238</cp:revision>
  <dcterms:created xsi:type="dcterms:W3CDTF">2024-10-07T11:11:00Z</dcterms:created>
  <dcterms:modified xsi:type="dcterms:W3CDTF">2026-08-13T16:37:26Z</dcterms:modified>
</cp:coreProperties>
</file>