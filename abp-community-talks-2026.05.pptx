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7"/>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 id="347" r:id="rId14"/>
    <p:sldId id="256" r:id="rId15"/>
    <p:sldId id="257" r:id="rId16"/>
  </p:sldIdLst>
  <p:sldSz cx="12192000" cy="6858000"/>
  <p:notesSz cx="6858000" cy="9144000"/>
  <p:embeddedFontLst>
    <p:embeddedFont>
      <p:font typeface="Lexend" panose="020B0604020202020204" charset="-94"/>
      <p:regular r:id="rId18"/>
      <p:bold r:id="rId19"/>
    </p:embeddedFont>
    <p:embeddedFont>
      <p:font typeface="Lexend Light" panose="020B0604020202020204" charset="-94"/>
      <p:regular r:id="rId20"/>
    </p:embeddedFont>
    <p:embeddedFont>
      <p:font typeface="Play" panose="020B0604020202020204" charset="0"/>
      <p:regular r:id="rId21"/>
      <p:bold r:id="rId22"/>
    </p:embeddedFont>
    <p:embeddedFont>
      <p:font typeface="Poppins" panose="00000500000000000000" pitchFamily="2" charset="-94"/>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77576" autoAdjust="0"/>
  </p:normalViewPr>
  <p:slideViewPr>
    <p:cSldViewPr snapToGrid="0">
      <p:cViewPr varScale="1">
        <p:scale>
          <a:sx n="86" d="100"/>
          <a:sy n="86" d="100"/>
        </p:scale>
        <p:origin x="147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51"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4.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4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6CD45C5-4100-846C-0E38-C4BA1EA421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D3662A9-BF0E-309F-2D84-5413A2C33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07955E-FD50-8521-C764-86B9ABC098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678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15</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2140201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abp.io/low-cod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bp.io/docs/latest/low-co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499619B-CCB9-7E46-C541-7F12371982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6D5E9-FB76-9CF0-F589-34E4B06F4E83}"/>
              </a:ext>
            </a:extLst>
          </p:cNvPr>
          <p:cNvSpPr txBox="1"/>
          <p:nvPr/>
        </p:nvSpPr>
        <p:spPr>
          <a:xfrm>
            <a:off x="1256492" y="5412879"/>
            <a:ext cx="11021001" cy="1131977"/>
          </a:xfrm>
          <a:prstGeom prst="rect">
            <a:avLst/>
          </a:prstGeom>
          <a:noFill/>
        </p:spPr>
        <p:txBody>
          <a:bodyPr wrap="square">
            <a:spAutoFit/>
          </a:bodyPr>
          <a:lstStyle/>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INTRODUCTION PAGE </a:t>
            </a:r>
            <a:r>
              <a:rPr lang="en-US" sz="2400" b="1" dirty="0">
                <a:solidFill>
                  <a:schemeClr val="bg1">
                    <a:lumMod val="50000"/>
                  </a:schemeClr>
                </a:solidFill>
                <a:sym typeface="Wingdings" panose="05000000000000000000" pitchFamily="2" charset="2"/>
              </a:rPr>
              <a:t> </a:t>
            </a:r>
            <a:r>
              <a:rPr lang="en-US" sz="2400" dirty="0">
                <a:solidFill>
                  <a:schemeClr val="bg1">
                    <a:lumMod val="50000"/>
                  </a:schemeClr>
                </a:solidFill>
                <a:hlinkClick r:id="rId3"/>
              </a:rPr>
              <a:t>https://abp.io/</a:t>
            </a:r>
            <a:r>
              <a:rPr lang="en-US" sz="2400" b="1" dirty="0">
                <a:solidFill>
                  <a:schemeClr val="bg1">
                    <a:lumMod val="50000"/>
                  </a:schemeClr>
                </a:solidFill>
                <a:hlinkClick r:id="rId3"/>
              </a:rPr>
              <a:t>low-code</a:t>
            </a:r>
            <a:r>
              <a:rPr lang="en-US" sz="2400" b="1" dirty="0">
                <a:solidFill>
                  <a:schemeClr val="bg1">
                    <a:lumMod val="50000"/>
                  </a:schemeClr>
                </a:solidFill>
              </a:rPr>
              <a:t> </a:t>
            </a:r>
          </a:p>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TECHNICAL DOCS </a:t>
            </a:r>
            <a:r>
              <a:rPr lang="en-US" sz="2400" dirty="0">
                <a:solidFill>
                  <a:schemeClr val="bg1">
                    <a:lumMod val="50000"/>
                  </a:schemeClr>
                </a:solidFill>
                <a:sym typeface="Wingdings" panose="05000000000000000000" pitchFamily="2" charset="2"/>
              </a:rPr>
              <a:t> </a:t>
            </a:r>
            <a:r>
              <a:rPr lang="en-US" sz="2400" dirty="0">
                <a:hlinkClick r:id="rId4"/>
              </a:rPr>
              <a:t>https://abp.io/</a:t>
            </a:r>
            <a:r>
              <a:rPr lang="en-US" sz="2400" b="1" dirty="0">
                <a:hlinkClick r:id="rId4"/>
              </a:rPr>
              <a:t>docs/latest/low-code</a:t>
            </a:r>
            <a:endParaRPr lang="tr-TR" sz="2400" b="1" dirty="0">
              <a:solidFill>
                <a:schemeClr val="bg1">
                  <a:lumMod val="50000"/>
                </a:schemeClr>
              </a:solidFill>
            </a:endParaRPr>
          </a:p>
        </p:txBody>
      </p:sp>
      <p:sp>
        <p:nvSpPr>
          <p:cNvPr id="4" name="TextBox 3">
            <a:extLst>
              <a:ext uri="{FF2B5EF4-FFF2-40B4-BE49-F238E27FC236}">
                <a16:creationId xmlns:a16="http://schemas.microsoft.com/office/drawing/2014/main" id="{79C10246-9532-BFBC-7171-A9984DFCA485}"/>
              </a:ext>
            </a:extLst>
          </p:cNvPr>
          <p:cNvSpPr txBox="1"/>
          <p:nvPr/>
        </p:nvSpPr>
        <p:spPr>
          <a:xfrm>
            <a:off x="442453" y="257389"/>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WHAT’S ABP LOW-CODE SYSTEM?</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780C9B4-B006-68C4-AB00-B19AE54FFDFE}"/>
              </a:ext>
            </a:extLst>
          </p:cNvPr>
          <p:cNvCxnSpPr>
            <a:cxnSpLocks/>
          </p:cNvCxnSpPr>
          <p:nvPr/>
        </p:nvCxnSpPr>
        <p:spPr>
          <a:xfrm>
            <a:off x="598570" y="811387"/>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8EEE59C-C102-B5D1-C9DB-9063A1BF4696}"/>
              </a:ext>
            </a:extLst>
          </p:cNvPr>
          <p:cNvPicPr>
            <a:picLocks noChangeAspect="1"/>
          </p:cNvPicPr>
          <p:nvPr/>
        </p:nvPicPr>
        <p:blipFill>
          <a:blip r:embed="rId5"/>
          <a:stretch>
            <a:fillRect/>
          </a:stretch>
        </p:blipFill>
        <p:spPr>
          <a:xfrm>
            <a:off x="1675659" y="1338403"/>
            <a:ext cx="7078048" cy="359048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4043192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39554" y="1248157"/>
            <a:ext cx="10972800" cy="438912"/>
          </a:xfrm>
          <a:prstGeom prst="rect">
            <a:avLst/>
          </a:prstGeom>
          <a:noFill/>
        </p:spPr>
        <p:txBody>
          <a:bodyPr wrap="square">
            <a:spAutoFit/>
          </a:bodyPr>
          <a:lstStyle/>
          <a:p>
            <a:pPr algn="l"/>
            <a:r>
              <a:rPr sz="1500" b="0" dirty="0">
                <a:solidFill>
                  <a:srgbClr val="677182"/>
                </a:solidFill>
                <a:latin typeface="Aptos"/>
              </a:rPr>
              <a:t>Build data-driven business applications visually — while staying inside the ABP architecture.</a:t>
            </a:r>
          </a:p>
        </p:txBody>
      </p:sp>
      <p:sp>
        <p:nvSpPr>
          <p:cNvPr id="5" name="Rounded Rectangle 4"/>
          <p:cNvSpPr/>
          <p:nvPr/>
        </p:nvSpPr>
        <p:spPr>
          <a:xfrm>
            <a:off x="68580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50392" y="2359152"/>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2395728"/>
            <a:ext cx="475488" cy="320040"/>
          </a:xfrm>
          <a:prstGeom prst="rect">
            <a:avLst/>
          </a:prstGeom>
          <a:noFill/>
        </p:spPr>
        <p:txBody>
          <a:bodyPr wrap="square">
            <a:spAutoFit/>
          </a:bodyPr>
          <a:lstStyle/>
          <a:p>
            <a:pPr algn="ctr"/>
            <a:r>
              <a:rPr sz="1600" b="1">
                <a:solidFill>
                  <a:srgbClr val="FFFFFF"/>
                </a:solidFill>
                <a:latin typeface="Aptos"/>
              </a:rPr>
              <a:t>1</a:t>
            </a:r>
          </a:p>
        </p:txBody>
      </p:sp>
      <p:sp>
        <p:nvSpPr>
          <p:cNvPr id="8" name="TextBox 7"/>
          <p:cNvSpPr txBox="1"/>
          <p:nvPr/>
        </p:nvSpPr>
        <p:spPr>
          <a:xfrm>
            <a:off x="1435607" y="2304288"/>
            <a:ext cx="1325880" cy="274320"/>
          </a:xfrm>
          <a:prstGeom prst="rect">
            <a:avLst/>
          </a:prstGeom>
          <a:noFill/>
        </p:spPr>
        <p:txBody>
          <a:bodyPr wrap="square">
            <a:spAutoFit/>
          </a:bodyPr>
          <a:lstStyle/>
          <a:p>
            <a:pPr algn="l"/>
            <a:r>
              <a:rPr sz="1400" b="1">
                <a:solidFill>
                  <a:srgbClr val="121B2D"/>
                </a:solidFill>
                <a:latin typeface="Aptos"/>
              </a:rPr>
              <a:t>MODEL</a:t>
            </a:r>
          </a:p>
        </p:txBody>
      </p:sp>
      <p:sp>
        <p:nvSpPr>
          <p:cNvPr id="9" name="TextBox 8"/>
          <p:cNvSpPr txBox="1"/>
          <p:nvPr/>
        </p:nvSpPr>
        <p:spPr>
          <a:xfrm>
            <a:off x="850392" y="2871216"/>
            <a:ext cx="1965960" cy="475488"/>
          </a:xfrm>
          <a:prstGeom prst="rect">
            <a:avLst/>
          </a:prstGeom>
          <a:noFill/>
        </p:spPr>
        <p:txBody>
          <a:bodyPr wrap="square">
            <a:spAutoFit/>
          </a:bodyPr>
          <a:lstStyle/>
          <a:p>
            <a:pPr algn="l"/>
            <a:r>
              <a:rPr sz="1200" b="0">
                <a:solidFill>
                  <a:srgbClr val="677182"/>
                </a:solidFill>
                <a:latin typeface="Aptos"/>
              </a:rPr>
              <a:t>Entities &amp; relations</a:t>
            </a:r>
          </a:p>
        </p:txBody>
      </p:sp>
      <p:sp>
        <p:nvSpPr>
          <p:cNvPr id="10" name="TextBox 9"/>
          <p:cNvSpPr txBox="1"/>
          <p:nvPr/>
        </p:nvSpPr>
        <p:spPr>
          <a:xfrm>
            <a:off x="308152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1" name="Rounded Rectangle 10"/>
          <p:cNvSpPr/>
          <p:nvPr/>
        </p:nvSpPr>
        <p:spPr>
          <a:xfrm>
            <a:off x="352044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85032" y="2359152"/>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2395728"/>
            <a:ext cx="475488" cy="320040"/>
          </a:xfrm>
          <a:prstGeom prst="rect">
            <a:avLst/>
          </a:prstGeom>
          <a:noFill/>
        </p:spPr>
        <p:txBody>
          <a:bodyPr wrap="square">
            <a:spAutoFit/>
          </a:bodyPr>
          <a:lstStyle/>
          <a:p>
            <a:pPr algn="ctr"/>
            <a:r>
              <a:rPr sz="1600" b="1">
                <a:solidFill>
                  <a:srgbClr val="FFFFFF"/>
                </a:solidFill>
                <a:latin typeface="Aptos"/>
              </a:rPr>
              <a:t>2</a:t>
            </a:r>
          </a:p>
        </p:txBody>
      </p:sp>
      <p:sp>
        <p:nvSpPr>
          <p:cNvPr id="14" name="TextBox 13"/>
          <p:cNvSpPr txBox="1"/>
          <p:nvPr/>
        </p:nvSpPr>
        <p:spPr>
          <a:xfrm>
            <a:off x="4270248" y="2304288"/>
            <a:ext cx="1325880" cy="274320"/>
          </a:xfrm>
          <a:prstGeom prst="rect">
            <a:avLst/>
          </a:prstGeom>
          <a:noFill/>
        </p:spPr>
        <p:txBody>
          <a:bodyPr wrap="square">
            <a:spAutoFit/>
          </a:bodyPr>
          <a:lstStyle/>
          <a:p>
            <a:pPr algn="l"/>
            <a:r>
              <a:rPr sz="1400" b="1">
                <a:solidFill>
                  <a:srgbClr val="121B2D"/>
                </a:solidFill>
                <a:latin typeface="Aptos"/>
              </a:rPr>
              <a:t>DESIGN</a:t>
            </a:r>
          </a:p>
        </p:txBody>
      </p:sp>
      <p:sp>
        <p:nvSpPr>
          <p:cNvPr id="15" name="TextBox 14"/>
          <p:cNvSpPr txBox="1"/>
          <p:nvPr/>
        </p:nvSpPr>
        <p:spPr>
          <a:xfrm>
            <a:off x="3685031" y="2871216"/>
            <a:ext cx="2151889" cy="276999"/>
          </a:xfrm>
          <a:prstGeom prst="rect">
            <a:avLst/>
          </a:prstGeom>
          <a:noFill/>
        </p:spPr>
        <p:txBody>
          <a:bodyPr wrap="square">
            <a:spAutoFit/>
          </a:bodyPr>
          <a:lstStyle/>
          <a:p>
            <a:pPr algn="l"/>
            <a:r>
              <a:rPr sz="1200" b="0" dirty="0">
                <a:solidFill>
                  <a:srgbClr val="677182"/>
                </a:solidFill>
                <a:latin typeface="Aptos"/>
              </a:rPr>
              <a:t>Pages, forms &amp; permissions</a:t>
            </a:r>
          </a:p>
        </p:txBody>
      </p:sp>
      <p:sp>
        <p:nvSpPr>
          <p:cNvPr id="16" name="TextBox 15"/>
          <p:cNvSpPr txBox="1"/>
          <p:nvPr/>
        </p:nvSpPr>
        <p:spPr>
          <a:xfrm>
            <a:off x="591616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7" name="Rounded Rectangle 16"/>
          <p:cNvSpPr/>
          <p:nvPr/>
        </p:nvSpPr>
        <p:spPr>
          <a:xfrm>
            <a:off x="635508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19672" y="2359152"/>
            <a:ext cx="475488" cy="475488"/>
          </a:xfrm>
          <a:prstGeom prst="ellipse">
            <a:avLst/>
          </a:prstGeom>
          <a:solidFill>
            <a:srgbClr val="16A085"/>
          </a:solidFill>
          <a:ln>
            <a:solidFill>
              <a:srgbClr val="16A0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9672" y="2395728"/>
            <a:ext cx="475488" cy="320040"/>
          </a:xfrm>
          <a:prstGeom prst="rect">
            <a:avLst/>
          </a:prstGeom>
          <a:noFill/>
        </p:spPr>
        <p:txBody>
          <a:bodyPr wrap="square">
            <a:spAutoFit/>
          </a:bodyPr>
          <a:lstStyle/>
          <a:p>
            <a:pPr algn="ctr"/>
            <a:r>
              <a:rPr sz="1600" b="1">
                <a:solidFill>
                  <a:srgbClr val="FFFFFF"/>
                </a:solidFill>
                <a:latin typeface="Aptos"/>
              </a:rPr>
              <a:t>3</a:t>
            </a:r>
          </a:p>
        </p:txBody>
      </p:sp>
      <p:sp>
        <p:nvSpPr>
          <p:cNvPr id="20" name="TextBox 19"/>
          <p:cNvSpPr txBox="1"/>
          <p:nvPr/>
        </p:nvSpPr>
        <p:spPr>
          <a:xfrm>
            <a:off x="7104888" y="2304288"/>
            <a:ext cx="1325880" cy="274320"/>
          </a:xfrm>
          <a:prstGeom prst="rect">
            <a:avLst/>
          </a:prstGeom>
          <a:noFill/>
        </p:spPr>
        <p:txBody>
          <a:bodyPr wrap="square">
            <a:spAutoFit/>
          </a:bodyPr>
          <a:lstStyle/>
          <a:p>
            <a:pPr algn="l"/>
            <a:r>
              <a:rPr sz="1400" b="1">
                <a:solidFill>
                  <a:srgbClr val="121B2D"/>
                </a:solidFill>
                <a:latin typeface="Aptos"/>
              </a:rPr>
              <a:t>RUN</a:t>
            </a:r>
          </a:p>
        </p:txBody>
      </p:sp>
      <p:sp>
        <p:nvSpPr>
          <p:cNvPr id="21" name="TextBox 20"/>
          <p:cNvSpPr txBox="1"/>
          <p:nvPr/>
        </p:nvSpPr>
        <p:spPr>
          <a:xfrm>
            <a:off x="6519672" y="2871216"/>
            <a:ext cx="2029968" cy="276999"/>
          </a:xfrm>
          <a:prstGeom prst="rect">
            <a:avLst/>
          </a:prstGeom>
          <a:noFill/>
        </p:spPr>
        <p:txBody>
          <a:bodyPr wrap="square">
            <a:spAutoFit/>
          </a:bodyPr>
          <a:lstStyle/>
          <a:p>
            <a:pPr algn="l"/>
            <a:r>
              <a:rPr sz="1200" b="0" dirty="0">
                <a:solidFill>
                  <a:srgbClr val="677182"/>
                </a:solidFill>
                <a:latin typeface="Aptos"/>
              </a:rPr>
              <a:t>CRUD APIs + React runtime</a:t>
            </a:r>
          </a:p>
        </p:txBody>
      </p:sp>
      <p:sp>
        <p:nvSpPr>
          <p:cNvPr id="22" name="TextBox 21"/>
          <p:cNvSpPr txBox="1"/>
          <p:nvPr/>
        </p:nvSpPr>
        <p:spPr>
          <a:xfrm>
            <a:off x="875080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23" name="Rounded Rectangle 22"/>
          <p:cNvSpPr/>
          <p:nvPr/>
        </p:nvSpPr>
        <p:spPr>
          <a:xfrm>
            <a:off x="918972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54312" y="2359152"/>
            <a:ext cx="475488" cy="475488"/>
          </a:xfrm>
          <a:prstGeom prst="ellipse">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54312" y="2395728"/>
            <a:ext cx="475488" cy="320040"/>
          </a:xfrm>
          <a:prstGeom prst="rect">
            <a:avLst/>
          </a:prstGeom>
          <a:noFill/>
        </p:spPr>
        <p:txBody>
          <a:bodyPr wrap="square">
            <a:spAutoFit/>
          </a:bodyPr>
          <a:lstStyle/>
          <a:p>
            <a:pPr algn="ctr"/>
            <a:r>
              <a:rPr sz="1600" b="1">
                <a:solidFill>
                  <a:srgbClr val="FFFFFF"/>
                </a:solidFill>
                <a:latin typeface="Aptos"/>
              </a:rPr>
              <a:t>4</a:t>
            </a:r>
          </a:p>
        </p:txBody>
      </p:sp>
      <p:sp>
        <p:nvSpPr>
          <p:cNvPr id="26" name="TextBox 25"/>
          <p:cNvSpPr txBox="1"/>
          <p:nvPr/>
        </p:nvSpPr>
        <p:spPr>
          <a:xfrm>
            <a:off x="9939528" y="2304288"/>
            <a:ext cx="1325880" cy="274320"/>
          </a:xfrm>
          <a:prstGeom prst="rect">
            <a:avLst/>
          </a:prstGeom>
          <a:noFill/>
        </p:spPr>
        <p:txBody>
          <a:bodyPr wrap="square">
            <a:spAutoFit/>
          </a:bodyPr>
          <a:lstStyle/>
          <a:p>
            <a:pPr algn="l"/>
            <a:r>
              <a:rPr sz="1400" b="1">
                <a:solidFill>
                  <a:srgbClr val="121B2D"/>
                </a:solidFill>
                <a:latin typeface="Aptos"/>
              </a:rPr>
              <a:t>EXTEND</a:t>
            </a:r>
          </a:p>
        </p:txBody>
      </p:sp>
      <p:sp>
        <p:nvSpPr>
          <p:cNvPr id="27" name="TextBox 26"/>
          <p:cNvSpPr txBox="1"/>
          <p:nvPr/>
        </p:nvSpPr>
        <p:spPr>
          <a:xfrm>
            <a:off x="9354312" y="2871216"/>
            <a:ext cx="2167128" cy="276999"/>
          </a:xfrm>
          <a:prstGeom prst="rect">
            <a:avLst/>
          </a:prstGeom>
          <a:noFill/>
        </p:spPr>
        <p:txBody>
          <a:bodyPr wrap="square">
            <a:spAutoFit/>
          </a:bodyPr>
          <a:lstStyle/>
          <a:p>
            <a:pPr algn="l"/>
            <a:r>
              <a:rPr sz="1200" b="0" dirty="0">
                <a:solidFill>
                  <a:srgbClr val="677182"/>
                </a:solidFill>
                <a:latin typeface="Aptos"/>
              </a:rPr>
              <a:t>Scripts, endpoints &amp; code</a:t>
            </a:r>
          </a:p>
        </p:txBody>
      </p:sp>
      <p:sp>
        <p:nvSpPr>
          <p:cNvPr id="28" name="Rounded Rectangle 27"/>
          <p:cNvSpPr/>
          <p:nvPr/>
        </p:nvSpPr>
        <p:spPr>
          <a:xfrm>
            <a:off x="622434" y="3831335"/>
            <a:ext cx="10789920" cy="1447431"/>
          </a:xfrm>
          <a:prstGeom prst="roundRect">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9788" y="4078224"/>
            <a:ext cx="4937760" cy="954107"/>
          </a:xfrm>
          <a:prstGeom prst="rect">
            <a:avLst/>
          </a:prstGeom>
          <a:noFill/>
        </p:spPr>
        <p:txBody>
          <a:bodyPr wrap="square">
            <a:spAutoFit/>
          </a:bodyPr>
          <a:lstStyle/>
          <a:p>
            <a:pPr algn="l"/>
            <a:r>
              <a:rPr sz="2800" b="1" dirty="0">
                <a:solidFill>
                  <a:srgbClr val="FFFFFF"/>
                </a:solidFill>
                <a:latin typeface="Aptos"/>
              </a:rPr>
              <a:t>Standard CRUD flow, </a:t>
            </a:r>
            <a:br>
              <a:rPr lang="en-US" sz="2800" b="1" dirty="0">
                <a:solidFill>
                  <a:srgbClr val="FFFFFF"/>
                </a:solidFill>
                <a:latin typeface="Aptos"/>
              </a:rPr>
            </a:br>
            <a:r>
              <a:rPr sz="2800" b="1" dirty="0">
                <a:solidFill>
                  <a:srgbClr val="FFFFFF"/>
                </a:solidFill>
                <a:latin typeface="Aptos"/>
              </a:rPr>
              <a:t>without the usual boilerplate</a:t>
            </a:r>
          </a:p>
        </p:txBody>
      </p:sp>
      <p:sp>
        <p:nvSpPr>
          <p:cNvPr id="31" name="Rounded Rectangle 30"/>
          <p:cNvSpPr/>
          <p:nvPr/>
        </p:nvSpPr>
        <p:spPr>
          <a:xfrm>
            <a:off x="777240"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5687568"/>
            <a:ext cx="1600200" cy="201168"/>
          </a:xfrm>
          <a:prstGeom prst="rect">
            <a:avLst/>
          </a:prstGeom>
          <a:noFill/>
        </p:spPr>
        <p:txBody>
          <a:bodyPr wrap="square">
            <a:spAutoFit/>
          </a:bodyPr>
          <a:lstStyle/>
          <a:p>
            <a:pPr algn="ctr"/>
            <a:r>
              <a:rPr sz="1100" b="1">
                <a:solidFill>
                  <a:srgbClr val="121B2D"/>
                </a:solidFill>
                <a:latin typeface="Aptos"/>
              </a:rPr>
              <a:t>Data Grid</a:t>
            </a:r>
          </a:p>
        </p:txBody>
      </p:sp>
      <p:sp>
        <p:nvSpPr>
          <p:cNvPr id="33" name="Rounded Rectangle 32"/>
          <p:cNvSpPr/>
          <p:nvPr/>
        </p:nvSpPr>
        <p:spPr>
          <a:xfrm>
            <a:off x="2633472"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33472" y="5687568"/>
            <a:ext cx="1600200" cy="201168"/>
          </a:xfrm>
          <a:prstGeom prst="rect">
            <a:avLst/>
          </a:prstGeom>
          <a:noFill/>
        </p:spPr>
        <p:txBody>
          <a:bodyPr wrap="square">
            <a:spAutoFit/>
          </a:bodyPr>
          <a:lstStyle/>
          <a:p>
            <a:pPr algn="ctr"/>
            <a:r>
              <a:rPr sz="1100" b="1">
                <a:solidFill>
                  <a:srgbClr val="121B2D"/>
                </a:solidFill>
                <a:latin typeface="Aptos"/>
              </a:rPr>
              <a:t>Form</a:t>
            </a:r>
          </a:p>
        </p:txBody>
      </p:sp>
      <p:sp>
        <p:nvSpPr>
          <p:cNvPr id="35" name="Rounded Rectangle 34"/>
          <p:cNvSpPr/>
          <p:nvPr/>
        </p:nvSpPr>
        <p:spPr>
          <a:xfrm>
            <a:off x="4489703"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89703" y="5687568"/>
            <a:ext cx="1600200" cy="201168"/>
          </a:xfrm>
          <a:prstGeom prst="rect">
            <a:avLst/>
          </a:prstGeom>
          <a:noFill/>
        </p:spPr>
        <p:txBody>
          <a:bodyPr wrap="square">
            <a:spAutoFit/>
          </a:bodyPr>
          <a:lstStyle/>
          <a:p>
            <a:pPr algn="ctr"/>
            <a:r>
              <a:rPr sz="1100" b="1">
                <a:solidFill>
                  <a:srgbClr val="121B2D"/>
                </a:solidFill>
                <a:latin typeface="Aptos"/>
              </a:rPr>
              <a:t>Kanban</a:t>
            </a:r>
          </a:p>
        </p:txBody>
      </p:sp>
      <p:sp>
        <p:nvSpPr>
          <p:cNvPr id="37" name="Rounded Rectangle 36"/>
          <p:cNvSpPr/>
          <p:nvPr/>
        </p:nvSpPr>
        <p:spPr>
          <a:xfrm>
            <a:off x="6345936"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45936" y="5687568"/>
            <a:ext cx="1600200" cy="201168"/>
          </a:xfrm>
          <a:prstGeom prst="rect">
            <a:avLst/>
          </a:prstGeom>
          <a:noFill/>
        </p:spPr>
        <p:txBody>
          <a:bodyPr wrap="square">
            <a:spAutoFit/>
          </a:bodyPr>
          <a:lstStyle/>
          <a:p>
            <a:pPr algn="ctr"/>
            <a:r>
              <a:rPr sz="1100" b="1">
                <a:solidFill>
                  <a:srgbClr val="121B2D"/>
                </a:solidFill>
                <a:latin typeface="Aptos"/>
              </a:rPr>
              <a:t>Calendar</a:t>
            </a:r>
          </a:p>
        </p:txBody>
      </p:sp>
      <p:sp>
        <p:nvSpPr>
          <p:cNvPr id="39" name="Rounded Rectangle 38"/>
          <p:cNvSpPr/>
          <p:nvPr/>
        </p:nvSpPr>
        <p:spPr>
          <a:xfrm>
            <a:off x="8202167"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2167" y="5687568"/>
            <a:ext cx="1600200" cy="201168"/>
          </a:xfrm>
          <a:prstGeom prst="rect">
            <a:avLst/>
          </a:prstGeom>
          <a:noFill/>
        </p:spPr>
        <p:txBody>
          <a:bodyPr wrap="square">
            <a:spAutoFit/>
          </a:bodyPr>
          <a:lstStyle/>
          <a:p>
            <a:pPr algn="ctr"/>
            <a:r>
              <a:rPr sz="1100" b="1">
                <a:solidFill>
                  <a:srgbClr val="121B2D"/>
                </a:solidFill>
                <a:latin typeface="Aptos"/>
              </a:rPr>
              <a:t>Gallery</a:t>
            </a:r>
          </a:p>
        </p:txBody>
      </p:sp>
      <p:sp>
        <p:nvSpPr>
          <p:cNvPr id="41" name="Rounded Rectangle 40"/>
          <p:cNvSpPr/>
          <p:nvPr/>
        </p:nvSpPr>
        <p:spPr>
          <a:xfrm>
            <a:off x="10058399"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58399" y="5687568"/>
            <a:ext cx="1600200" cy="201168"/>
          </a:xfrm>
          <a:prstGeom prst="rect">
            <a:avLst/>
          </a:prstGeom>
          <a:noFill/>
        </p:spPr>
        <p:txBody>
          <a:bodyPr wrap="square">
            <a:spAutoFit/>
          </a:bodyPr>
          <a:lstStyle/>
          <a:p>
            <a:pPr algn="ctr"/>
            <a:r>
              <a:rPr sz="1100" b="1">
                <a:solidFill>
                  <a:srgbClr val="121B2D"/>
                </a:solidFill>
                <a:latin typeface="Aptos"/>
              </a:rPr>
              <a:t>Dashboard</a:t>
            </a:r>
          </a:p>
        </p:txBody>
      </p:sp>
      <p:sp>
        <p:nvSpPr>
          <p:cNvPr id="45" name="TextBox 44">
            <a:extLst>
              <a:ext uri="{FF2B5EF4-FFF2-40B4-BE49-F238E27FC236}">
                <a16:creationId xmlns:a16="http://schemas.microsoft.com/office/drawing/2014/main" id="{03F7495F-CF7A-84E3-9809-158E656EB083}"/>
              </a:ext>
            </a:extLst>
          </p:cNvPr>
          <p:cNvSpPr txBox="1"/>
          <p:nvPr/>
        </p:nvSpPr>
        <p:spPr>
          <a:xfrm>
            <a:off x="439554" y="316575"/>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LOW-CODE SYSTEM</a:t>
            </a:r>
            <a:endParaRPr lang="en-US" sz="3000" b="1" i="0" noProof="0" dirty="0">
              <a:solidFill>
                <a:schemeClr val="tx1"/>
              </a:solidFill>
              <a:effectLst/>
              <a:latin typeface="Lexend" panose="020B0604020202020204" charset="-94"/>
            </a:endParaRPr>
          </a:p>
        </p:txBody>
      </p:sp>
      <p:cxnSp>
        <p:nvCxnSpPr>
          <p:cNvPr id="46" name="Straight Connector 45">
            <a:extLst>
              <a:ext uri="{FF2B5EF4-FFF2-40B4-BE49-F238E27FC236}">
                <a16:creationId xmlns:a16="http://schemas.microsoft.com/office/drawing/2014/main" id="{48F9AA3E-64E2-91FA-D764-5369C6F8A92A}"/>
              </a:ext>
            </a:extLst>
          </p:cNvPr>
          <p:cNvCxnSpPr>
            <a:cxnSpLocks/>
          </p:cNvCxnSpPr>
          <p:nvPr/>
        </p:nvCxnSpPr>
        <p:spPr>
          <a:xfrm>
            <a:off x="522762" y="924455"/>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6E33AF90-97DB-6E37-B97E-BDF29021CC03}"/>
              </a:ext>
            </a:extLst>
          </p:cNvPr>
          <p:cNvSpPr/>
          <p:nvPr/>
        </p:nvSpPr>
        <p:spPr>
          <a:xfrm>
            <a:off x="8381812" y="3831335"/>
            <a:ext cx="2688673" cy="1453235"/>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0" name="TextBox 29"/>
          <p:cNvSpPr txBox="1"/>
          <p:nvPr/>
        </p:nvSpPr>
        <p:spPr>
          <a:xfrm>
            <a:off x="8421623" y="3877058"/>
            <a:ext cx="3054097" cy="1323439"/>
          </a:xfrm>
          <a:prstGeom prst="rect">
            <a:avLst/>
          </a:prstGeom>
          <a:noFill/>
        </p:spPr>
        <p:txBody>
          <a:bodyPr wrap="square">
            <a:spAutoFit/>
          </a:bodyPr>
          <a:lstStyle/>
          <a:p>
            <a:r>
              <a:rPr sz="1600" b="1" dirty="0">
                <a:solidFill>
                  <a:srgbClr val="FFFFFF"/>
                </a:solidFill>
                <a:latin typeface="Aptos"/>
              </a:rPr>
              <a:t>N</a:t>
            </a:r>
            <a:r>
              <a:rPr lang="en-US" sz="1600" b="1" dirty="0">
                <a:solidFill>
                  <a:srgbClr val="FFFFFF"/>
                </a:solidFill>
                <a:latin typeface="Aptos"/>
              </a:rPr>
              <a:t>O</a:t>
            </a:r>
            <a:r>
              <a:rPr sz="1600" b="1" dirty="0">
                <a:solidFill>
                  <a:srgbClr val="FFFFFF"/>
                </a:solidFill>
                <a:latin typeface="Aptos"/>
              </a:rPr>
              <a:t> </a:t>
            </a:r>
            <a:r>
              <a:rPr lang="en-US" sz="1600" b="1" dirty="0">
                <a:solidFill>
                  <a:srgbClr val="FFFFFF"/>
                </a:solidFill>
                <a:latin typeface="Aptos"/>
              </a:rPr>
              <a:t>👇</a:t>
            </a:r>
          </a:p>
          <a:p>
            <a:r>
              <a:rPr lang="en-US" sz="1600" b="1" dirty="0">
                <a:solidFill>
                  <a:srgbClr val="FFFFFF"/>
                </a:solidFill>
                <a:latin typeface="Aptos"/>
              </a:rPr>
              <a:t>• </a:t>
            </a:r>
            <a:r>
              <a:rPr sz="1600" b="1" dirty="0">
                <a:solidFill>
                  <a:srgbClr val="FFFFFF"/>
                </a:solidFill>
                <a:latin typeface="Aptos"/>
              </a:rPr>
              <a:t>DTO </a:t>
            </a:r>
            <a:endParaRPr lang="en-US" sz="1600" b="1" dirty="0">
              <a:solidFill>
                <a:srgbClr val="FFFFFF"/>
              </a:solidFill>
              <a:latin typeface="Aptos"/>
            </a:endParaRPr>
          </a:p>
          <a:p>
            <a:r>
              <a:rPr sz="1600" b="1" dirty="0">
                <a:solidFill>
                  <a:srgbClr val="FFFFFF"/>
                </a:solidFill>
                <a:latin typeface="Aptos"/>
              </a:rPr>
              <a:t>• Repository </a:t>
            </a:r>
            <a:endParaRPr lang="en-US" sz="1600" b="1" dirty="0">
              <a:solidFill>
                <a:srgbClr val="FFFFFF"/>
              </a:solidFill>
              <a:latin typeface="Aptos"/>
            </a:endParaRPr>
          </a:p>
          <a:p>
            <a:r>
              <a:rPr sz="1600" b="1" dirty="0">
                <a:solidFill>
                  <a:srgbClr val="FFFFFF"/>
                </a:solidFill>
                <a:latin typeface="Aptos"/>
              </a:rPr>
              <a:t>• Application Service </a:t>
            </a:r>
            <a:endParaRPr lang="en-US" sz="1600" b="1" dirty="0">
              <a:solidFill>
                <a:srgbClr val="FFFFFF"/>
              </a:solidFill>
              <a:latin typeface="Aptos"/>
            </a:endParaRPr>
          </a:p>
          <a:p>
            <a:r>
              <a:rPr sz="1600" b="1" dirty="0">
                <a:solidFill>
                  <a:srgbClr val="FFFFFF"/>
                </a:solidFill>
                <a:latin typeface="Aptos"/>
              </a:rPr>
              <a:t>• Controller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4360" y="914400"/>
            <a:ext cx="10972800" cy="594360"/>
          </a:xfrm>
          <a:prstGeom prst="rect">
            <a:avLst/>
          </a:prstGeom>
          <a:noFill/>
        </p:spPr>
        <p:txBody>
          <a:bodyPr wrap="square">
            <a:spAutoFit/>
          </a:bodyPr>
          <a:lstStyle/>
          <a:p>
            <a:pPr algn="l"/>
            <a:r>
              <a:rPr sz="2800" b="1" dirty="0">
                <a:solidFill>
                  <a:srgbClr val="121B2D"/>
                </a:solidFill>
                <a:latin typeface="Aptos"/>
              </a:rPr>
              <a:t>Ship More. Change Faster. Depend Less on Development.</a:t>
            </a:r>
          </a:p>
        </p:txBody>
      </p:sp>
      <p:sp>
        <p:nvSpPr>
          <p:cNvPr id="4" name="TextBox 3"/>
          <p:cNvSpPr txBox="1"/>
          <p:nvPr/>
        </p:nvSpPr>
        <p:spPr>
          <a:xfrm>
            <a:off x="594360" y="1353312"/>
            <a:ext cx="10972800" cy="438912"/>
          </a:xfrm>
          <a:prstGeom prst="rect">
            <a:avLst/>
          </a:prstGeom>
          <a:noFill/>
        </p:spPr>
        <p:txBody>
          <a:bodyPr wrap="square">
            <a:spAutoFit/>
          </a:bodyPr>
          <a:lstStyle/>
          <a:p>
            <a:pPr algn="l"/>
            <a:r>
              <a:rPr sz="1500" b="0">
                <a:solidFill>
                  <a:srgbClr val="677182"/>
                </a:solidFill>
                <a:latin typeface="Aptos"/>
              </a:rPr>
              <a:t>Low-Code moves repetitive operational work out of the release cycle without creating a separate platform or black box.</a:t>
            </a:r>
          </a:p>
        </p:txBody>
      </p:sp>
      <p:sp>
        <p:nvSpPr>
          <p:cNvPr id="5" name="Rounded Rectangle 4"/>
          <p:cNvSpPr/>
          <p:nvPr/>
        </p:nvSpPr>
        <p:spPr>
          <a:xfrm>
            <a:off x="685800"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8" name="TextBox 7"/>
          <p:cNvSpPr txBox="1"/>
          <p:nvPr/>
        </p:nvSpPr>
        <p:spPr>
          <a:xfrm>
            <a:off x="1527048" y="2152186"/>
            <a:ext cx="4069080" cy="274320"/>
          </a:xfrm>
          <a:prstGeom prst="rect">
            <a:avLst/>
          </a:prstGeom>
          <a:noFill/>
        </p:spPr>
        <p:txBody>
          <a:bodyPr wrap="square">
            <a:spAutoFit/>
          </a:bodyPr>
          <a:lstStyle/>
          <a:p>
            <a:pPr algn="l"/>
            <a:r>
              <a:rPr sz="1600" b="1" dirty="0">
                <a:solidFill>
                  <a:srgbClr val="121B2D"/>
                </a:solidFill>
                <a:latin typeface="Aptos"/>
              </a:rPr>
              <a:t>Runtime changes</a:t>
            </a:r>
          </a:p>
        </p:txBody>
      </p:sp>
      <p:sp>
        <p:nvSpPr>
          <p:cNvPr id="9" name="TextBox 8"/>
          <p:cNvSpPr txBox="1"/>
          <p:nvPr/>
        </p:nvSpPr>
        <p:spPr>
          <a:xfrm>
            <a:off x="1527048" y="2436310"/>
            <a:ext cx="4114800" cy="1077218"/>
          </a:xfrm>
          <a:prstGeom prst="rect">
            <a:avLst/>
          </a:prstGeom>
          <a:noFill/>
        </p:spPr>
        <p:txBody>
          <a:bodyPr wrap="square">
            <a:spAutoFit/>
          </a:bodyPr>
          <a:lstStyle/>
          <a:p>
            <a:pPr algn="l"/>
            <a:r>
              <a:rPr sz="1600" b="0" dirty="0">
                <a:solidFill>
                  <a:srgbClr val="677182"/>
                </a:solidFill>
                <a:latin typeface="Aptos"/>
              </a:rPr>
              <a:t>Create or update models, screens and permissions without regenerating the whole solution or waiting for a normal UI release cycle.</a:t>
            </a:r>
          </a:p>
        </p:txBody>
      </p:sp>
      <p:sp>
        <p:nvSpPr>
          <p:cNvPr id="10" name="Rounded Rectangle 9"/>
          <p:cNvSpPr/>
          <p:nvPr/>
        </p:nvSpPr>
        <p:spPr>
          <a:xfrm>
            <a:off x="6199632"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0"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3" name="TextBox 12"/>
          <p:cNvSpPr txBox="1"/>
          <p:nvPr/>
        </p:nvSpPr>
        <p:spPr>
          <a:xfrm>
            <a:off x="7040880" y="2152186"/>
            <a:ext cx="4069080" cy="274320"/>
          </a:xfrm>
          <a:prstGeom prst="rect">
            <a:avLst/>
          </a:prstGeom>
          <a:noFill/>
        </p:spPr>
        <p:txBody>
          <a:bodyPr wrap="square">
            <a:spAutoFit/>
          </a:bodyPr>
          <a:lstStyle/>
          <a:p>
            <a:pPr algn="l"/>
            <a:r>
              <a:rPr sz="1600" b="1">
                <a:solidFill>
                  <a:srgbClr val="121B2D"/>
                </a:solidFill>
                <a:latin typeface="Aptos"/>
              </a:rPr>
              <a:t>Ready-to-use APIs</a:t>
            </a:r>
          </a:p>
        </p:txBody>
      </p:sp>
      <p:sp>
        <p:nvSpPr>
          <p:cNvPr id="14" name="TextBox 13"/>
          <p:cNvSpPr txBox="1"/>
          <p:nvPr/>
        </p:nvSpPr>
        <p:spPr>
          <a:xfrm>
            <a:off x="7040880" y="2470889"/>
            <a:ext cx="4114800" cy="830997"/>
          </a:xfrm>
          <a:prstGeom prst="rect">
            <a:avLst/>
          </a:prstGeom>
          <a:noFill/>
        </p:spPr>
        <p:txBody>
          <a:bodyPr wrap="square">
            <a:spAutoFit/>
          </a:bodyPr>
          <a:lstStyle/>
          <a:p>
            <a:pPr algn="l"/>
            <a:r>
              <a:rPr sz="1600" b="0" dirty="0">
                <a:solidFill>
                  <a:srgbClr val="677182"/>
                </a:solidFill>
                <a:latin typeface="Aptos"/>
              </a:rPr>
              <a:t>Dynamic entities come with CRUD REST APIs; custom endpoints can be added when the standard flow is not enough.</a:t>
            </a:r>
          </a:p>
        </p:txBody>
      </p:sp>
      <p:sp>
        <p:nvSpPr>
          <p:cNvPr id="15" name="Rounded Rectangle 14"/>
          <p:cNvSpPr/>
          <p:nvPr/>
        </p:nvSpPr>
        <p:spPr>
          <a:xfrm>
            <a:off x="685800"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86968"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8" name="TextBox 17"/>
          <p:cNvSpPr txBox="1"/>
          <p:nvPr/>
        </p:nvSpPr>
        <p:spPr>
          <a:xfrm>
            <a:off x="1527048" y="3962698"/>
            <a:ext cx="4069080" cy="274320"/>
          </a:xfrm>
          <a:prstGeom prst="rect">
            <a:avLst/>
          </a:prstGeom>
          <a:noFill/>
        </p:spPr>
        <p:txBody>
          <a:bodyPr wrap="square">
            <a:spAutoFit/>
          </a:bodyPr>
          <a:lstStyle/>
          <a:p>
            <a:pPr algn="l"/>
            <a:r>
              <a:rPr sz="1600" b="1">
                <a:solidFill>
                  <a:srgbClr val="121B2D"/>
                </a:solidFill>
                <a:latin typeface="Aptos"/>
              </a:rPr>
              <a:t>Non-technical builders</a:t>
            </a:r>
          </a:p>
        </p:txBody>
      </p:sp>
      <p:sp>
        <p:nvSpPr>
          <p:cNvPr id="19" name="TextBox 18"/>
          <p:cNvSpPr txBox="1"/>
          <p:nvPr/>
        </p:nvSpPr>
        <p:spPr>
          <a:xfrm>
            <a:off x="1527048" y="4246822"/>
            <a:ext cx="4114800" cy="1077218"/>
          </a:xfrm>
          <a:prstGeom prst="rect">
            <a:avLst/>
          </a:prstGeom>
          <a:noFill/>
        </p:spPr>
        <p:txBody>
          <a:bodyPr wrap="square">
            <a:spAutoFit/>
          </a:bodyPr>
          <a:lstStyle/>
          <a:p>
            <a:pPr algn="l"/>
            <a:r>
              <a:rPr sz="1600" b="0" dirty="0">
                <a:solidFill>
                  <a:srgbClr val="677182"/>
                </a:solidFill>
                <a:latin typeface="Aptos"/>
              </a:rPr>
              <a:t>Business or platform users can create operational screens visually while developers focus on advanced logic and differentiation.</a:t>
            </a:r>
          </a:p>
        </p:txBody>
      </p:sp>
      <p:sp>
        <p:nvSpPr>
          <p:cNvPr id="20" name="Rounded Rectangle 19"/>
          <p:cNvSpPr/>
          <p:nvPr/>
        </p:nvSpPr>
        <p:spPr>
          <a:xfrm>
            <a:off x="6199632"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00800"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23" name="TextBox 22"/>
          <p:cNvSpPr txBox="1"/>
          <p:nvPr/>
        </p:nvSpPr>
        <p:spPr>
          <a:xfrm>
            <a:off x="7040880" y="3962698"/>
            <a:ext cx="4069080" cy="274320"/>
          </a:xfrm>
          <a:prstGeom prst="rect">
            <a:avLst/>
          </a:prstGeom>
          <a:noFill/>
        </p:spPr>
        <p:txBody>
          <a:bodyPr wrap="square">
            <a:spAutoFit/>
          </a:bodyPr>
          <a:lstStyle/>
          <a:p>
            <a:pPr algn="l"/>
            <a:r>
              <a:rPr sz="1600" b="1">
                <a:solidFill>
                  <a:srgbClr val="121B2D"/>
                </a:solidFill>
                <a:latin typeface="Aptos"/>
              </a:rPr>
              <a:t>One ABP foundation</a:t>
            </a:r>
          </a:p>
        </p:txBody>
      </p:sp>
      <p:sp>
        <p:nvSpPr>
          <p:cNvPr id="24" name="TextBox 23"/>
          <p:cNvSpPr txBox="1"/>
          <p:nvPr/>
        </p:nvSpPr>
        <p:spPr>
          <a:xfrm>
            <a:off x="7040880" y="4292552"/>
            <a:ext cx="4114800" cy="830997"/>
          </a:xfrm>
          <a:prstGeom prst="rect">
            <a:avLst/>
          </a:prstGeom>
          <a:noFill/>
        </p:spPr>
        <p:txBody>
          <a:bodyPr wrap="square">
            <a:spAutoFit/>
          </a:bodyPr>
          <a:lstStyle/>
          <a:p>
            <a:pPr algn="l"/>
            <a:r>
              <a:rPr sz="1600" b="0" dirty="0">
                <a:solidFill>
                  <a:srgbClr val="677182"/>
                </a:solidFill>
                <a:latin typeface="Aptos"/>
              </a:rPr>
              <a:t>Same database, permissions, multi-tenancy and enterprise foundations — with full-code extension whenever needed.</a:t>
            </a:r>
          </a:p>
        </p:txBody>
      </p:sp>
      <p:sp>
        <p:nvSpPr>
          <p:cNvPr id="25" name="Rounded Rectangle 24"/>
          <p:cNvSpPr/>
          <p:nvPr/>
        </p:nvSpPr>
        <p:spPr>
          <a:xfrm>
            <a:off x="685800" y="5669280"/>
            <a:ext cx="10789920" cy="640080"/>
          </a:xfrm>
          <a:prstGeom prst="roundRect">
            <a:avLst/>
          </a:prstGeom>
          <a:solidFill>
            <a:srgbClr val="EDF6F3"/>
          </a:solidFill>
          <a:ln>
            <a:solidFill>
              <a:srgbClr val="CDE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5870448"/>
            <a:ext cx="914400" cy="201168"/>
          </a:xfrm>
          <a:prstGeom prst="rect">
            <a:avLst/>
          </a:prstGeom>
          <a:noFill/>
        </p:spPr>
        <p:txBody>
          <a:bodyPr wrap="square">
            <a:spAutoFit/>
          </a:bodyPr>
          <a:lstStyle/>
          <a:p>
            <a:pPr algn="l"/>
            <a:r>
              <a:rPr sz="1000" b="1">
                <a:solidFill>
                  <a:srgbClr val="14966E"/>
                </a:solidFill>
                <a:latin typeface="Aptos"/>
              </a:rPr>
              <a:t>GREAT FOR</a:t>
            </a:r>
          </a:p>
        </p:txBody>
      </p:sp>
      <p:sp>
        <p:nvSpPr>
          <p:cNvPr id="27" name="TextBox 26"/>
          <p:cNvSpPr txBox="1"/>
          <p:nvPr/>
        </p:nvSpPr>
        <p:spPr>
          <a:xfrm>
            <a:off x="1828800" y="5806440"/>
            <a:ext cx="9281160" cy="446276"/>
          </a:xfrm>
          <a:prstGeom prst="rect">
            <a:avLst/>
          </a:prstGeom>
          <a:noFill/>
        </p:spPr>
        <p:txBody>
          <a:bodyPr wrap="square">
            <a:spAutoFit/>
          </a:bodyPr>
          <a:lstStyle/>
          <a:p>
            <a:pPr algn="l"/>
            <a:r>
              <a:rPr sz="1150" b="1" dirty="0">
                <a:solidFill>
                  <a:srgbClr val="121B2D"/>
                </a:solidFill>
                <a:latin typeface="Aptos"/>
              </a:rPr>
              <a:t>Back-office apps  •  Internal tools  •  Admin panels  •  Rapid prototypes  </a:t>
            </a:r>
            <a:br>
              <a:rPr lang="en-US" sz="1150" b="1" dirty="0">
                <a:solidFill>
                  <a:srgbClr val="121B2D"/>
                </a:solidFill>
                <a:latin typeface="Aptos"/>
              </a:rPr>
            </a:br>
            <a:r>
              <a:rPr sz="1150" b="1" dirty="0">
                <a:solidFill>
                  <a:srgbClr val="121B2D"/>
                </a:solidFill>
                <a:latin typeface="Aptos"/>
              </a:rPr>
              <a:t>•  Frequently changing processes  •  Projects without a dedicated development team</a:t>
            </a:r>
          </a:p>
        </p:txBody>
      </p:sp>
      <p:sp>
        <p:nvSpPr>
          <p:cNvPr id="29" name="TextBox 28">
            <a:extLst>
              <a:ext uri="{FF2B5EF4-FFF2-40B4-BE49-F238E27FC236}">
                <a16:creationId xmlns:a16="http://schemas.microsoft.com/office/drawing/2014/main" id="{EB0FF021-BB68-1333-DEC5-7B689BFD5EFC}"/>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WHY IT MATTERS</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2460825F-2F9E-88AC-B416-6CFD54B6CC66}"/>
              </a:ext>
            </a:extLst>
          </p:cNvPr>
          <p:cNvCxnSpPr>
            <a:cxnSpLocks/>
          </p:cNvCxnSpPr>
          <p:nvPr/>
        </p:nvCxnSpPr>
        <p:spPr>
          <a:xfrm>
            <a:off x="716341" y="711558"/>
            <a:ext cx="3621483"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911</TotalTime>
  <Words>765</Words>
  <Application>Microsoft Office PowerPoint</Application>
  <PresentationFormat>Widescreen</PresentationFormat>
  <Paragraphs>92</Paragraphs>
  <Slides>15</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Lexend</vt:lpstr>
      <vt:lpstr>Poppins</vt:lpstr>
      <vt:lpstr>Aptos</vt:lpstr>
      <vt:lpstr>Arial</vt:lpstr>
      <vt:lpstr>Wingdings</vt:lpstr>
      <vt:lpstr>Play</vt:lpstr>
      <vt:lpstr>Lexend Light</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215</cp:revision>
  <dcterms:created xsi:type="dcterms:W3CDTF">2024-10-07T11:11:00Z</dcterms:created>
  <dcterms:modified xsi:type="dcterms:W3CDTF">2026-08-12T11:25:39Z</dcterms:modified>
</cp:coreProperties>
</file>