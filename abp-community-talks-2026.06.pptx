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323" r:id="rId2"/>
    <p:sldId id="303" r:id="rId3"/>
    <p:sldId id="334" r:id="rId4"/>
    <p:sldId id="360" r:id="rId5"/>
    <p:sldId id="361" r:id="rId6"/>
    <p:sldId id="362" r:id="rId7"/>
    <p:sldId id="363" r:id="rId8"/>
    <p:sldId id="364" r:id="rId9"/>
    <p:sldId id="365" r:id="rId10"/>
    <p:sldId id="366" r:id="rId11"/>
    <p:sldId id="391" r:id="rId12"/>
    <p:sldId id="392" r:id="rId13"/>
    <p:sldId id="393" r:id="rId14"/>
    <p:sldId id="394" r:id="rId15"/>
    <p:sldId id="395" r:id="rId16"/>
    <p:sldId id="396" r:id="rId17"/>
    <p:sldId id="397" r:id="rId18"/>
    <p:sldId id="398" r:id="rId19"/>
    <p:sldId id="399" r:id="rId20"/>
    <p:sldId id="400" r:id="rId21"/>
    <p:sldId id="401" r:id="rId22"/>
    <p:sldId id="402" r:id="rId23"/>
    <p:sldId id="403" r:id="rId24"/>
    <p:sldId id="404" r:id="rId25"/>
    <p:sldId id="405" r:id="rId26"/>
    <p:sldId id="406" r:id="rId27"/>
    <p:sldId id="407" r:id="rId28"/>
    <p:sldId id="408" r:id="rId29"/>
    <p:sldId id="409" r:id="rId30"/>
    <p:sldId id="410" r:id="rId31"/>
    <p:sldId id="411" r:id="rId32"/>
    <p:sldId id="412" r:id="rId33"/>
    <p:sldId id="413" r:id="rId34"/>
    <p:sldId id="389" r:id="rId35"/>
    <p:sldId id="420" r:id="rId36"/>
    <p:sldId id="417" r:id="rId37"/>
    <p:sldId id="419" r:id="rId38"/>
    <p:sldId id="414" r:id="rId39"/>
    <p:sldId id="418" r:id="rId40"/>
  </p:sldIdLst>
  <p:sldSz cx="12192000" cy="6858000"/>
  <p:notesSz cx="6858000" cy="9144000"/>
  <p:embeddedFontLst>
    <p:embeddedFont>
      <p:font typeface="Lexend" panose="020B0604020202020204" charset="-94"/>
      <p:regular r:id="rId42"/>
      <p:bold r:id="rId43"/>
    </p:embeddedFont>
    <p:embeddedFont>
      <p:font typeface="Play" panose="020B0604020202020204" charset="0"/>
      <p:regular r:id="rId44"/>
      <p:bold r:id="rId45"/>
    </p:embeddedFont>
    <p:embeddedFont>
      <p:font typeface="Poppins" panose="00000500000000000000" pitchFamily="2" charset="-94"/>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2A63187-5530-4163-A9CC-C297B84383A5}">
          <p14:sldIdLst>
            <p14:sldId id="323"/>
            <p14:sldId id="303"/>
            <p14:sldId id="334"/>
            <p14:sldId id="360"/>
            <p14:sldId id="361"/>
            <p14:sldId id="362"/>
            <p14:sldId id="363"/>
            <p14:sldId id="364"/>
            <p14:sldId id="365"/>
            <p14:sldId id="366"/>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389"/>
            <p14:sldId id="420"/>
            <p14:sldId id="417"/>
            <p14:sldId id="419"/>
            <p14:sldId id="414"/>
          </p14:sldIdLst>
        </p14:section>
        <p14:section name="Project Steps" id="{2E7C0FCA-AAB3-4022-8274-D39FF82EF12F}">
          <p14:sldIdLst>
            <p14:sldId id="418"/>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ihNSh0nE7P5bmNZynwZ07PSv3TU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B8F"/>
    <a:srgbClr val="F8F8F8"/>
    <a:srgbClr val="196B24"/>
    <a:srgbClr val="1F1F1F"/>
    <a:srgbClr val="A646A0"/>
    <a:srgbClr val="D4D2C8"/>
    <a:srgbClr val="4691C9"/>
    <a:srgbClr val="467886"/>
    <a:srgbClr val="292D33"/>
    <a:srgbClr val="2128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2662" autoAdjust="0"/>
  </p:normalViewPr>
  <p:slideViewPr>
    <p:cSldViewPr snapToGrid="0">
      <p:cViewPr varScale="1">
        <p:scale>
          <a:sx n="81" d="100"/>
          <a:sy n="81" d="100"/>
        </p:scale>
        <p:origin x="16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a:solidFill>
                  <a:schemeClr val="dk1"/>
                </a:solidFill>
                <a:latin typeface="Arial"/>
                <a:ea typeface="Arial"/>
                <a:cs typeface="Arial"/>
                <a:sym typeface="Arial"/>
              </a:rPr>
              <a:t>‹#›</a:t>
            </a:fld>
            <a:endParaRPr sz="1200" b="0" i="0" u="none" strike="noStrike" cap="none" dirty="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29817BD9-07C7-C168-1CC4-A20702FCE6E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F5A31253-0F4E-ED3C-0779-38D545637D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F26A0CDD-0018-A81B-3AAF-EE17D32BD2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6807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a:t>
            </a:fld>
            <a:endParaRPr lang="tr-T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5775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1A095BF3-A342-11C1-EAD3-C31A2520597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8873D1C-889C-1016-639D-48B6DCD454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3BF7F5B5-E8E8-CD67-3088-FA7480522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13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46DE405-BA6A-B7E9-E690-90F5EBA9E069}"/>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BB7351F1-D9A4-9C30-DB5F-FAAC97F3D8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DC02171-3F68-5E38-B504-8105969DF4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11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8F7F960F-C072-34D6-AA0F-90E7EA3B6F1C}"/>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53AF960B-576B-1C91-D026-32ADD6F68A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0053423A-FE96-DCDC-3B02-A9A71863A4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5834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EFC96F8A-4731-3984-615E-863DD88EF4A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771F776-88C9-F42D-7D39-C55498D1C9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13D8B90-3DEE-6BFE-A527-5319BEEBAE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1243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754964D-0249-ACB6-15A5-A1564645AF13}"/>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CE686FFD-4ADE-9D4B-D67F-1D9B34F70D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2C6C3AD9-E4C1-ED37-4BDC-0C44F9EB00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047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E08B16BC-2103-BC86-059E-69896C78596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FAE9BB7-F93E-A907-6B86-028F2B2544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A49ACBA0-13B6-21C5-346D-3A93B11C57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6165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646ECB9-5A02-CAD5-2D7D-33E5E8DB90B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58E46D59-A1EC-C2BD-B58E-E4D9DE0F6C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9ECA55BA-E7DC-8C2C-FC9D-FD2D88F752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9055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71DD9DB4-9D91-677D-0471-2E82794920BB}"/>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8CE6F076-D880-FD61-43F5-584942F529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practical guide for ASP.NET Core developers learning ABP Framework, covering common barriers, CRUD vs real modules, DDD trade-offs, and a better path.</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8949A6AF-2528-530D-13D5-07EA5AF1E2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9497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13CF386-AD92-B40F-D420-98E9C164A294}"/>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CCBC716-5D75-2651-0A28-6B3EE54C54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reflective look at why major .NET OSS projects are going commercial, what it means for teams, and how to manage dependency risk.</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66DE5272-58E2-C60D-D362-0277F945AB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0153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CB227D35-B8D2-E170-2347-AF4213EE8E48}"/>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25D0FFCA-FAC8-C3C6-CF6C-152D45D1BF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practical ABP.io solution that lets a Host Super Admin access any tenant using the __tenant header, without changing tenant IDs inside every method. It explains why </a:t>
            </a:r>
            <a:r>
              <a:rPr lang="en-US" sz="1200" b="0" i="0" u="none" strike="noStrike" cap="none" dirty="0" err="1">
                <a:solidFill>
                  <a:schemeClr val="dk1"/>
                </a:solidFill>
                <a:effectLst/>
                <a:latin typeface="Arial"/>
                <a:ea typeface="Arial"/>
                <a:cs typeface="Arial"/>
                <a:sym typeface="Arial"/>
              </a:rPr>
              <a:t>CurrentTenant.Change</a:t>
            </a:r>
            <a:r>
              <a:rPr lang="en-US" sz="1200" b="0" i="0" u="none" strike="noStrike" cap="none" dirty="0">
                <a:solidFill>
                  <a:schemeClr val="dk1"/>
                </a:solidFill>
                <a:effectLst/>
                <a:latin typeface="Arial"/>
                <a:ea typeface="Arial"/>
                <a:cs typeface="Arial"/>
                <a:sym typeface="Arial"/>
              </a:rPr>
              <a:t>() and custom permission providers fail, then introduces a tenant resolver and permission checker to make authorization work correctly across the tenant.</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E1CECD05-DFCA-C5CC-300B-79BD3FC140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9414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B83AD83B-A4AC-9793-2891-5EB339F2102F}"/>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6FF8AEAB-12FB-6A3D-9F63-E1614CC1E6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Read to learn how </a:t>
            </a:r>
            <a:r>
              <a:rPr lang="en-US" sz="1200" b="0" i="0" u="none" strike="noStrike" cap="none" dirty="0" err="1">
                <a:solidFill>
                  <a:schemeClr val="dk1"/>
                </a:solidFill>
                <a:effectLst/>
                <a:latin typeface="Arial"/>
                <a:ea typeface="Arial"/>
                <a:cs typeface="Arial"/>
                <a:sym typeface="Arial"/>
              </a:rPr>
              <a:t>Volobox</a:t>
            </a:r>
            <a:r>
              <a:rPr lang="en-US" sz="1200" b="0" i="0" u="none" strike="noStrike" cap="none" dirty="0">
                <a:solidFill>
                  <a:schemeClr val="dk1"/>
                </a:solidFill>
                <a:effectLst/>
                <a:latin typeface="Arial"/>
                <a:ea typeface="Arial"/>
                <a:cs typeface="Arial"/>
                <a:sym typeface="Arial"/>
              </a:rPr>
              <a:t> turns an assigned task into a reviewed pull request with every step visible, permissioned, and audited...</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173C01E0-46FA-BDC0-636F-4B852A727B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2033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55F36D1-5EAC-FBF2-68CC-11AC71623D9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30085811-E89D-33E9-5D4D-7235D47BB9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Compare ABP Studio with .NET Aspire, generic AI IDEs, and CRUD generators, and see how Studio, Agent, Solution Runner, and Suite fit together across solution structure, runtime workflows, and UI generation.</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A5C5450-56B9-D30E-72D2-AA5D902031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5421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BED4E276-EAA7-ED20-13FF-4CFD74AC505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212944A-8301-B4C6-E6F1-50EB7F4486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Compare ABP Platform with DIY ASP.NET Core, Clean Architecture templates, and starter kits, and learn which trade-offs matter for multi-tenancy, identity, modularity, UI choices, and long-term maintenance.</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B1A48AD8-695D-03F0-1A46-3F69822313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8022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7408AE25-547E-97B3-3B4E-3F4BA2333C13}"/>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B105B78-F4F6-D9BC-AAC5-89B66321389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Ever tried explaining your project to your mother or kid… and realized you have no idea how to explain it without technical jargon? 😅 This article explores how to explain your technical project to non-IT people so that they can understand... But without dumbing them down. From choosing the right words and analogies to handling the questions you didn’t expect, it might completely change how you present your next project. And yes, your mother is the ultimate test. 😉</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97011C8-C292-FFDE-B9C1-E921EE2181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5692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5F14185-3DBD-DD6C-2BD4-378113F55779}"/>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39AC8F5D-0557-5180-635B-04A3A1D4B0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Angular Resource APIs introduce a declarative, Signal-driven approach to data fetching, eliminating much of the boilerplate traditionally associated with asynchronous state management. In this article, we'll explore </a:t>
            </a:r>
            <a:r>
              <a:rPr lang="en-US" sz="1200" b="0" i="0" u="none" strike="noStrike" cap="none" dirty="0" err="1">
                <a:solidFill>
                  <a:schemeClr val="dk1"/>
                </a:solidFill>
                <a:effectLst/>
                <a:latin typeface="Arial"/>
                <a:ea typeface="Arial"/>
                <a:cs typeface="Arial"/>
                <a:sym typeface="Arial"/>
              </a:rPr>
              <a:t>Angular's</a:t>
            </a:r>
            <a:r>
              <a:rPr lang="en-US" sz="1200" b="0" i="0" u="none" strike="noStrike" cap="none" dirty="0">
                <a:solidFill>
                  <a:schemeClr val="dk1"/>
                </a:solidFill>
                <a:effectLst/>
                <a:latin typeface="Arial"/>
                <a:ea typeface="Arial"/>
                <a:cs typeface="Arial"/>
                <a:sym typeface="Arial"/>
              </a:rPr>
              <a:t> Resource APIs, compare them with Observable-based patterns, and see how ABP integrates them into generated service APIs. You'll learn when to use Resource APIs, how they work under the hood, and how they help you build cleaner, more reactive Angular applications.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1A58018C-F3FA-7573-3800-7446B3AB1C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946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3D20747D-780D-5CCE-29CD-30FB451D8F4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72FC08B-40C1-7B47-642F-0356C30665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Learn how ABP Studio's AI Agent now supports "Bring Your Own Key" (BYOK): connect your own OpenAI-compatible service, Azure OpenAI, or local </a:t>
            </a:r>
            <a:r>
              <a:rPr lang="en-US" sz="1200" b="0" i="0" u="none" strike="noStrike" cap="none" dirty="0" err="1">
                <a:solidFill>
                  <a:schemeClr val="dk1"/>
                </a:solidFill>
                <a:effectLst/>
                <a:latin typeface="Arial"/>
                <a:ea typeface="Arial"/>
                <a:cs typeface="Arial"/>
                <a:sym typeface="Arial"/>
              </a:rPr>
              <a:t>Ollama</a:t>
            </a:r>
            <a:r>
              <a:rPr lang="en-US" sz="1200" b="0" i="0" u="none" strike="noStrike" cap="none" dirty="0">
                <a:solidFill>
                  <a:schemeClr val="dk1"/>
                </a:solidFill>
                <a:effectLst/>
                <a:latin typeface="Arial"/>
                <a:ea typeface="Arial"/>
                <a:cs typeface="Arial"/>
                <a:sym typeface="Arial"/>
              </a:rPr>
              <a:t> server instead of using Built-in AI.</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AFD128C3-95F6-54CC-F173-79D83FC7CD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9255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D03999A-FA0C-14B5-8FBC-28D9774FDD6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482474ED-46F7-8C3C-3AC5-01C0578662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hands-on look at four .NET 11 features you will use in everyday code: LINQ </a:t>
            </a:r>
            <a:r>
              <a:rPr lang="en-US" sz="1200" b="0" i="0" u="none" strike="noStrike" cap="none" dirty="0" err="1">
                <a:solidFill>
                  <a:schemeClr val="dk1"/>
                </a:solidFill>
                <a:effectLst/>
                <a:latin typeface="Arial"/>
                <a:ea typeface="Arial"/>
                <a:cs typeface="Arial"/>
                <a:sym typeface="Arial"/>
              </a:rPr>
              <a:t>FullJoin</a:t>
            </a:r>
            <a:r>
              <a:rPr lang="en-US" sz="1200" b="0" i="0" u="none" strike="noStrike" cap="none" dirty="0">
                <a:solidFill>
                  <a:schemeClr val="dk1"/>
                </a:solidFill>
                <a:effectLst/>
                <a:latin typeface="Arial"/>
                <a:ea typeface="Arial"/>
                <a:cs typeface="Arial"/>
                <a:sym typeface="Arial"/>
              </a:rPr>
              <a:t>, async </a:t>
            </a:r>
            <a:r>
              <a:rPr lang="en-US" sz="1200" b="0" i="0" u="none" strike="noStrike" cap="none" dirty="0" err="1">
                <a:solidFill>
                  <a:schemeClr val="dk1"/>
                </a:solidFill>
                <a:effectLst/>
                <a:latin typeface="Arial"/>
                <a:ea typeface="Arial"/>
                <a:cs typeface="Arial"/>
                <a:sym typeface="Arial"/>
              </a:rPr>
              <a:t>DataAnnotations</a:t>
            </a:r>
            <a:r>
              <a:rPr lang="en-US" sz="1200" b="0" i="0" u="none" strike="noStrike" cap="none" dirty="0">
                <a:solidFill>
                  <a:schemeClr val="dk1"/>
                </a:solidFill>
                <a:effectLst/>
                <a:latin typeface="Arial"/>
                <a:ea typeface="Arial"/>
                <a:cs typeface="Arial"/>
                <a:sym typeface="Arial"/>
              </a:rPr>
              <a:t> validation, built-in </a:t>
            </a:r>
            <a:r>
              <a:rPr lang="en-US" sz="1200" b="0" i="0" u="none" strike="noStrike" cap="none" dirty="0" err="1">
                <a:solidFill>
                  <a:schemeClr val="dk1"/>
                </a:solidFill>
                <a:effectLst/>
                <a:latin typeface="Arial"/>
                <a:ea typeface="Arial"/>
                <a:cs typeface="Arial"/>
                <a:sym typeface="Arial"/>
              </a:rPr>
              <a:t>MemoryCache</a:t>
            </a:r>
            <a:r>
              <a:rPr lang="en-US" sz="1200" b="0" i="0" u="none" strike="noStrike" cap="none" dirty="0">
                <a:solidFill>
                  <a:schemeClr val="dk1"/>
                </a:solidFill>
                <a:effectLst/>
                <a:latin typeface="Arial"/>
                <a:ea typeface="Arial"/>
                <a:cs typeface="Arial"/>
                <a:sym typeface="Arial"/>
              </a:rPr>
              <a:t> metrics, and configuration-driven Activity tracing rules. Each one comes with a runnable example, real output from RC1, the gotchas found while testing, and an adoption checklist. All examples live in a sample app with 28 tests.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C91070A-D426-E475-AAF8-6964C39D44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0053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6D17061-548B-B13E-4726-ABA48445153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F9BDAE96-49DC-8563-08F3-27B21394C9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Shipping multi-platform, secure containers without maintaining complex </a:t>
            </a:r>
            <a:r>
              <a:rPr lang="en-US" sz="1200" b="0" i="0" u="none" strike="noStrike" cap="none" dirty="0" err="1">
                <a:solidFill>
                  <a:schemeClr val="dk1"/>
                </a:solidFill>
                <a:effectLst/>
                <a:latin typeface="Arial"/>
                <a:ea typeface="Arial"/>
                <a:cs typeface="Arial"/>
                <a:sym typeface="Arial"/>
              </a:rPr>
              <a:t>Dockerfiles</a:t>
            </a:r>
            <a:r>
              <a:rPr lang="en-US" sz="1200" b="0" i="0" u="none" strike="noStrike" cap="none" dirty="0">
                <a:solidFill>
                  <a:schemeClr val="dk1"/>
                </a:solidFill>
                <a:effectLst/>
                <a:latin typeface="Arial"/>
                <a:ea typeface="Arial"/>
                <a:cs typeface="Arial"/>
                <a:sym typeface="Arial"/>
              </a:rPr>
              <a:t> is the holy grail for platform engineering. With .NET 11 (Release Candidate 1), Microsoft heavily markets its built-in SDK container publishing as the solution. But marketing claims and CI/CD realities often clash.</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35F51834-C886-65B1-8055-AF1853C806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9167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CA417DC4-0078-9312-6796-235A75D55AAF}"/>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918FBE1-A2BA-31A1-8006-5A4A593E92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SQL Server 2025 added a vector type, distance functions, and </a:t>
            </a:r>
            <a:r>
              <a:rPr lang="en-US" sz="1200" b="0" i="0" u="none" strike="noStrike" cap="none" dirty="0" err="1">
                <a:solidFill>
                  <a:schemeClr val="dk1"/>
                </a:solidFill>
                <a:effectLst/>
                <a:latin typeface="Arial"/>
                <a:ea typeface="Arial"/>
                <a:cs typeface="Arial"/>
                <a:sym typeface="Arial"/>
              </a:rPr>
              <a:t>DiskANN</a:t>
            </a:r>
            <a:r>
              <a:rPr lang="en-US" sz="1200" b="0" i="0" u="none" strike="noStrike" cap="none" dirty="0">
                <a:solidFill>
                  <a:schemeClr val="dk1"/>
                </a:solidFill>
                <a:effectLst/>
                <a:latin typeface="Arial"/>
                <a:ea typeface="Arial"/>
                <a:cs typeface="Arial"/>
                <a:sym typeface="Arial"/>
              </a:rPr>
              <a:t> vector indexes. EF Core 10 made the storage side usable from .NET. EF Core 11 adds the remaining query-side building blocks: approximate search over a vector index, full-text search table-valued functions, and translation for .NET 11's new </a:t>
            </a:r>
            <a:r>
              <a:rPr lang="en-US" sz="1200" b="0" i="0" u="none" strike="noStrike" cap="none" dirty="0" err="1">
                <a:solidFill>
                  <a:schemeClr val="dk1"/>
                </a:solidFill>
                <a:effectLst/>
                <a:latin typeface="Arial"/>
                <a:ea typeface="Arial"/>
                <a:cs typeface="Arial"/>
                <a:sym typeface="Arial"/>
              </a:rPr>
              <a:t>FullJoin</a:t>
            </a:r>
            <a:r>
              <a:rPr lang="en-US" sz="1200" b="0" i="0" u="none" strike="noStrike" cap="none" dirty="0">
                <a:solidFill>
                  <a:schemeClr val="dk1"/>
                </a:solidFill>
                <a:effectLst/>
                <a:latin typeface="Arial"/>
                <a:ea typeface="Arial"/>
                <a:cs typeface="Arial"/>
                <a:sym typeface="Arial"/>
              </a:rPr>
              <a:t> operator. This article follows that help center from the first embedding to a working hybrid search, adding each feature at the point where the previous step stops being enough.</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1AB77D2C-027C-80AF-A932-5C6BDA8E52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7533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FB04B21A-4EB8-A318-ECD9-922F8C0F83A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76F0650-34B2-D19E-CBD5-22898DAC2D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This article explores the new Runtime Async improvements in .NET 11, focusing on cleaner live async stack traces and faster async execution paths. It explains how moving more async handling into the runtime and JIT can reduce overhead, improve debugging, and create new performance optimization opportunities while keeping the familiar async/await programming model unchanged.</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81934626-73D1-BFBE-FC38-4858234BA9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0249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B2C95664-0ACF-01C4-1DAD-5AD8C6F42A94}"/>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500B44F3-01C4-78DC-405E-1AC071C13C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Explore the key </a:t>
            </a:r>
            <a:r>
              <a:rPr lang="en-US" sz="1200" b="0" i="0" u="none" strike="noStrike" cap="none" dirty="0" err="1">
                <a:solidFill>
                  <a:schemeClr val="dk1"/>
                </a:solidFill>
                <a:effectLst/>
                <a:latin typeface="Arial"/>
                <a:ea typeface="Arial"/>
                <a:cs typeface="Arial"/>
                <a:sym typeface="Arial"/>
              </a:rPr>
              <a:t>System.Text.Json</a:t>
            </a:r>
            <a:r>
              <a:rPr lang="en-US" sz="1200" b="0" i="0" u="none" strike="noStrike" cap="none" dirty="0">
                <a:solidFill>
                  <a:schemeClr val="dk1"/>
                </a:solidFill>
                <a:effectLst/>
                <a:latin typeface="Arial"/>
                <a:ea typeface="Arial"/>
                <a:cs typeface="Arial"/>
                <a:sym typeface="Arial"/>
              </a:rPr>
              <a:t> improvements in .NET 11, including flexible naming policies, C# union type serialization, and NDJSON streaming. This article demonstrates these features with runnable ASP.NET Core examples and explains their impact on API contracts, frontend clients, </a:t>
            </a:r>
            <a:r>
              <a:rPr lang="en-US" sz="1200" b="0" i="0" u="none" strike="noStrike" cap="none" dirty="0" err="1">
                <a:solidFill>
                  <a:schemeClr val="dk1"/>
                </a:solidFill>
                <a:effectLst/>
                <a:latin typeface="Arial"/>
                <a:ea typeface="Arial"/>
                <a:cs typeface="Arial"/>
                <a:sym typeface="Arial"/>
              </a:rPr>
              <a:t>OpenAPI</a:t>
            </a:r>
            <a:r>
              <a:rPr lang="en-US" sz="1200" b="0" i="0" u="none" strike="noStrike" cap="none" dirty="0">
                <a:solidFill>
                  <a:schemeClr val="dk1"/>
                </a:solidFill>
                <a:effectLst/>
                <a:latin typeface="Arial"/>
                <a:ea typeface="Arial"/>
                <a:cs typeface="Arial"/>
                <a:sym typeface="Arial"/>
              </a:rPr>
              <a:t>, streaming, performance, and production adoption.</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52E0261B-9089-DB8F-7B3E-F289D2A277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9597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856C387-7617-4F56-629B-A99BE061FE1E}"/>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656DAC24-1D10-28D5-B99C-702B959956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Explore Blazor .NET 11's Virtualize improvements, including variable-height items, scroll anchoring, </a:t>
            </a:r>
            <a:r>
              <a:rPr lang="en-US" sz="1200" b="0" i="0" u="none" strike="noStrike" cap="none" dirty="0" err="1">
                <a:solidFill>
                  <a:schemeClr val="dk1"/>
                </a:solidFill>
                <a:effectLst/>
                <a:latin typeface="Arial"/>
                <a:ea typeface="Arial"/>
                <a:cs typeface="Arial"/>
                <a:sym typeface="Arial"/>
              </a:rPr>
              <a:t>AnchorMode</a:t>
            </a:r>
            <a:r>
              <a:rPr lang="en-US" sz="1200" b="0" i="0" u="none" strike="noStrike" cap="none" dirty="0">
                <a:solidFill>
                  <a:schemeClr val="dk1"/>
                </a:solidFill>
                <a:effectLst/>
                <a:latin typeface="Arial"/>
                <a:ea typeface="Arial"/>
                <a:cs typeface="Arial"/>
                <a:sym typeface="Arial"/>
              </a:rPr>
              <a:t>, and strict Content Security Policy support. Build efficient feeds, chats, and data grids with practical code examples, performance benchmarks, cross-browser tests, and production considerations based on .NET 11 RC1.</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3C28174C-55F6-9AC3-CB47-70161DB120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7368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C6C6006-C026-519A-063E-FE4391DA8296}"/>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57A2C28C-3CD4-53F1-7E88-B7E3E20DA8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In this article, we'll start with the simplest possible usage of each feature, look at what they actually compile to, compare them with the patterns we use today, and then build a small order API where both features do real work. I built and tested every example on .NET 11 RC1, and I'll share the exact outputs, including a few surprises that ABP developers should know about before they start using these features.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FE687DF4-F895-F769-8F1E-883176BA27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512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B9E55EF6-1236-8C06-31CC-C6267EFBA3E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A3276CA9-FD95-868A-AA98-6525952E55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Add enhanced plans, feature limits, and customer overrides to ABP with </a:t>
            </a:r>
            <a:r>
              <a:rPr lang="en-US" sz="1200" b="0" i="0" u="none" strike="noStrike" cap="none" dirty="0" err="1">
                <a:solidFill>
                  <a:schemeClr val="dk1"/>
                </a:solidFill>
                <a:effectLst/>
                <a:latin typeface="Arial"/>
                <a:ea typeface="Arial"/>
                <a:cs typeface="Arial"/>
                <a:sym typeface="Arial"/>
              </a:rPr>
              <a:t>Subscrio</a:t>
            </a:r>
            <a:r>
              <a:rPr lang="en-US" sz="1200" b="0" i="0" u="none" strike="noStrike" cap="none" dirty="0">
                <a:solidFill>
                  <a:schemeClr val="dk1"/>
                </a:solidFill>
                <a:effectLst/>
                <a:latin typeface="Arial"/>
                <a:ea typeface="Arial"/>
                <a:cs typeface="Arial"/>
                <a:sym typeface="Arial"/>
              </a:rPr>
              <a:t>, a free, open-source entitlement engine. Follow a working .NET sample from feature defaults to plan values and a customer-specific override, while application code keeps using </a:t>
            </a:r>
            <a:r>
              <a:rPr lang="en-US" sz="1200" b="0" i="0" u="none" strike="noStrike" cap="none" dirty="0" err="1">
                <a:solidFill>
                  <a:schemeClr val="dk1"/>
                </a:solidFill>
                <a:effectLst/>
                <a:latin typeface="Arial"/>
                <a:ea typeface="Arial"/>
                <a:cs typeface="Arial"/>
                <a:sym typeface="Arial"/>
              </a:rPr>
              <a:t>IFeatureChecker</a:t>
            </a:r>
            <a:r>
              <a:rPr lang="en-US" sz="1200" b="0" i="0" u="none" strike="noStrike" cap="none" dirty="0">
                <a:solidFill>
                  <a:schemeClr val="dk1"/>
                </a:solidFill>
                <a:effectLst/>
                <a:latin typeface="Arial"/>
                <a:ea typeface="Arial"/>
                <a:cs typeface="Arial"/>
                <a:sym typeface="Arial"/>
              </a:rPr>
              <a:t>. Supports recurring subscriptions, one-time purchases, and lifetime access.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5C2F3C4-A46E-B88D-3924-60C78F216C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5418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885608BB-B95D-2C04-21D2-DEFD454F08F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BBAB3B39-5952-ECB2-CA65-374E2F4EBB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hands-on look at EF Core 11's LINQ translation improvements (</a:t>
            </a:r>
            <a:r>
              <a:rPr lang="en-US" sz="1200" b="0" i="0" u="none" strike="noStrike" cap="none" dirty="0" err="1">
                <a:solidFill>
                  <a:schemeClr val="dk1"/>
                </a:solidFill>
                <a:effectLst/>
                <a:latin typeface="Arial"/>
                <a:ea typeface="Arial"/>
                <a:cs typeface="Arial"/>
                <a:sym typeface="Arial"/>
              </a:rPr>
              <a:t>FullJoin</a:t>
            </a:r>
            <a:r>
              <a:rPr lang="en-US" sz="1200" b="0" i="0" u="none" strike="noStrike" cap="none" dirty="0">
                <a:solidFill>
                  <a:schemeClr val="dk1"/>
                </a:solidFill>
                <a:effectLst/>
                <a:latin typeface="Arial"/>
                <a:ea typeface="Arial"/>
                <a:cs typeface="Arial"/>
                <a:sym typeface="Arial"/>
              </a:rPr>
              <a:t>, </a:t>
            </a:r>
            <a:r>
              <a:rPr lang="en-US" sz="1200" b="0" i="0" u="none" strike="noStrike" cap="none" dirty="0" err="1">
                <a:solidFill>
                  <a:schemeClr val="dk1"/>
                </a:solidFill>
                <a:effectLst/>
                <a:latin typeface="Arial"/>
                <a:ea typeface="Arial"/>
                <a:cs typeface="Arial"/>
                <a:sym typeface="Arial"/>
              </a:rPr>
              <a:t>GroupBy</a:t>
            </a:r>
            <a:r>
              <a:rPr lang="en-US" sz="1200" b="0" i="0" u="none" strike="noStrike" cap="none" dirty="0">
                <a:solidFill>
                  <a:schemeClr val="dk1"/>
                </a:solidFill>
                <a:effectLst/>
                <a:latin typeface="Arial"/>
                <a:ea typeface="Arial"/>
                <a:cs typeface="Arial"/>
                <a:sym typeface="Arial"/>
              </a:rPr>
              <a:t> with </a:t>
            </a:r>
            <a:r>
              <a:rPr lang="en-US" sz="1200" b="0" i="0" u="none" strike="noStrike" cap="none" dirty="0" err="1">
                <a:solidFill>
                  <a:schemeClr val="dk1"/>
                </a:solidFill>
                <a:effectLst/>
                <a:latin typeface="Arial"/>
                <a:ea typeface="Arial"/>
                <a:cs typeface="Arial"/>
                <a:sym typeface="Arial"/>
              </a:rPr>
              <a:t>MaxBy</a:t>
            </a:r>
            <a:r>
              <a:rPr lang="en-US" sz="1200" b="0" i="0" u="none" strike="noStrike" cap="none" dirty="0">
                <a:solidFill>
                  <a:schemeClr val="dk1"/>
                </a:solidFill>
                <a:effectLst/>
                <a:latin typeface="Arial"/>
                <a:ea typeface="Arial"/>
                <a:cs typeface="Arial"/>
                <a:sym typeface="Arial"/>
              </a:rPr>
              <a:t>, </a:t>
            </a:r>
            <a:r>
              <a:rPr lang="en-US" sz="1200" b="0" i="0" u="none" strike="noStrike" cap="none" dirty="0" err="1">
                <a:solidFill>
                  <a:schemeClr val="dk1"/>
                </a:solidFill>
                <a:effectLst/>
                <a:latin typeface="Arial"/>
                <a:ea typeface="Arial"/>
                <a:cs typeface="Arial"/>
                <a:sym typeface="Arial"/>
              </a:rPr>
              <a:t>MinBy</a:t>
            </a:r>
            <a:r>
              <a:rPr lang="en-US" sz="1200" b="0" i="0" u="none" strike="noStrike" cap="none" dirty="0">
                <a:solidFill>
                  <a:schemeClr val="dk1"/>
                </a:solidFill>
                <a:effectLst/>
                <a:latin typeface="Arial"/>
                <a:ea typeface="Arial"/>
                <a:cs typeface="Arial"/>
                <a:sym typeface="Arial"/>
              </a:rPr>
              <a:t>/</a:t>
            </a:r>
            <a:r>
              <a:rPr lang="en-US" sz="1200" b="0" i="0" u="none" strike="noStrike" cap="none" dirty="0" err="1">
                <a:solidFill>
                  <a:schemeClr val="dk1"/>
                </a:solidFill>
                <a:effectLst/>
                <a:latin typeface="Arial"/>
                <a:ea typeface="Arial"/>
                <a:cs typeface="Arial"/>
                <a:sym typeface="Arial"/>
              </a:rPr>
              <a:t>MaxBy</a:t>
            </a:r>
            <a:r>
              <a:rPr lang="en-US" sz="1200" b="0" i="0" u="none" strike="noStrike" cap="none" dirty="0">
                <a:solidFill>
                  <a:schemeClr val="dk1"/>
                </a:solidFill>
                <a:effectLst/>
                <a:latin typeface="Arial"/>
                <a:ea typeface="Arial"/>
                <a:cs typeface="Arial"/>
                <a:sym typeface="Arial"/>
              </a:rPr>
              <a:t> and leaner split queries), tested against a real SQL Server database with a music "year in review" report. Each feature comes with the generated SQL, and a test proves the </a:t>
            </a:r>
            <a:r>
              <a:rPr lang="en-US" sz="1200" b="0" i="0" u="none" strike="noStrike" cap="none" dirty="0" err="1">
                <a:solidFill>
                  <a:schemeClr val="dk1"/>
                </a:solidFill>
                <a:effectLst/>
                <a:latin typeface="Arial"/>
                <a:ea typeface="Arial"/>
                <a:cs typeface="Arial"/>
                <a:sym typeface="Arial"/>
              </a:rPr>
              <a:t>GroupBy</a:t>
            </a:r>
            <a:r>
              <a:rPr lang="en-US" sz="1200" b="0" i="0" u="none" strike="noStrike" cap="none" dirty="0">
                <a:solidFill>
                  <a:schemeClr val="dk1"/>
                </a:solidFill>
                <a:effectLst/>
                <a:latin typeface="Arial"/>
                <a:ea typeface="Arial"/>
                <a:cs typeface="Arial"/>
                <a:sym typeface="Arial"/>
              </a:rPr>
              <a:t> + </a:t>
            </a:r>
            <a:r>
              <a:rPr lang="en-US" sz="1200" b="0" i="0" u="none" strike="noStrike" cap="none" dirty="0" err="1">
                <a:solidFill>
                  <a:schemeClr val="dk1"/>
                </a:solidFill>
                <a:effectLst/>
                <a:latin typeface="Arial"/>
                <a:ea typeface="Arial"/>
                <a:cs typeface="Arial"/>
                <a:sym typeface="Arial"/>
              </a:rPr>
              <a:t>MaxBy</a:t>
            </a:r>
            <a:r>
              <a:rPr lang="en-US" sz="1200" b="0" i="0" u="none" strike="noStrike" cap="none" dirty="0">
                <a:solidFill>
                  <a:schemeClr val="dk1"/>
                </a:solidFill>
                <a:effectLst/>
                <a:latin typeface="Arial"/>
                <a:ea typeface="Arial"/>
                <a:cs typeface="Arial"/>
                <a:sym typeface="Arial"/>
              </a:rPr>
              <a:t> query runs in a single round-trip.</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0FC6B569-2DE1-469B-5EE7-AD59B38FD1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3567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C8C21BA-10E3-068B-731F-68F7E990FD5A}"/>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4952322A-4910-6DC4-DEF9-2C194E2334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.NET 11 puts </a:t>
            </a:r>
            <a:r>
              <a:rPr lang="en-US" sz="1200" b="0" i="0" u="none" strike="noStrike" cap="none" dirty="0" err="1">
                <a:solidFill>
                  <a:schemeClr val="dk1"/>
                </a:solidFill>
                <a:effectLst/>
                <a:latin typeface="Arial"/>
                <a:ea typeface="Arial"/>
                <a:cs typeface="Arial"/>
                <a:sym typeface="Arial"/>
              </a:rPr>
              <a:t>QuickGrid's</a:t>
            </a:r>
            <a:r>
              <a:rPr lang="en-US" sz="1200" b="0" i="0" u="none" strike="noStrike" cap="none" dirty="0">
                <a:solidFill>
                  <a:schemeClr val="dk1"/>
                </a:solidFill>
                <a:effectLst/>
                <a:latin typeface="Arial"/>
                <a:ea typeface="Arial"/>
                <a:cs typeface="Arial"/>
                <a:sym typeface="Arial"/>
              </a:rPr>
              <a:t> sort and page state in the URL (?sort=</a:t>
            </a:r>
            <a:r>
              <a:rPr lang="en-US" sz="1200" b="0" i="0" u="none" strike="noStrike" cap="none" dirty="0" err="1">
                <a:solidFill>
                  <a:schemeClr val="dk1"/>
                </a:solidFill>
                <a:effectLst/>
                <a:latin typeface="Arial"/>
                <a:ea typeface="Arial"/>
                <a:cs typeface="Arial"/>
                <a:sym typeface="Arial"/>
              </a:rPr>
              <a:t>Name&amp;direction</a:t>
            </a:r>
            <a:r>
              <a:rPr lang="en-US" sz="1200" b="0" i="0" u="none" strike="noStrike" cap="none" dirty="0">
                <a:solidFill>
                  <a:schemeClr val="dk1"/>
                </a:solidFill>
                <a:effectLst/>
                <a:latin typeface="Arial"/>
                <a:ea typeface="Arial"/>
                <a:cs typeface="Arial"/>
                <a:sym typeface="Arial"/>
              </a:rPr>
              <a:t>=</a:t>
            </a:r>
            <a:r>
              <a:rPr lang="en-US" sz="1200" b="0" i="0" u="none" strike="noStrike" cap="none" dirty="0" err="1">
                <a:solidFill>
                  <a:schemeClr val="dk1"/>
                </a:solidFill>
                <a:effectLst/>
                <a:latin typeface="Arial"/>
                <a:ea typeface="Arial"/>
                <a:cs typeface="Arial"/>
                <a:sym typeface="Arial"/>
              </a:rPr>
              <a:t>desc&amp;page</a:t>
            </a:r>
            <a:r>
              <a:rPr lang="en-US" sz="1200" b="0" i="0" u="none" strike="noStrike" cap="none" dirty="0">
                <a:solidFill>
                  <a:schemeClr val="dk1"/>
                </a:solidFill>
                <a:effectLst/>
                <a:latin typeface="Arial"/>
                <a:ea typeface="Arial"/>
                <a:cs typeface="Arial"/>
                <a:sym typeface="Arial"/>
              </a:rPr>
              <a:t>=2), so sorting and paging finally work on statically rendered Blazor pages — and every grid state becomes a link you can share, bookmark, or go Back to. A working static-SSR sample, tested edge cases, and the RC1 caveats to know before adopting it.</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2EF97177-C906-6DC9-3884-C3416407CE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76228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1418525-6808-CD76-6244-F07C344C4C26}"/>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0445515-0AF1-23CC-4BEC-29299BC6E1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A practical, deep-dive guide for .NET developers on managing state in Blazor .NET 11 Static SSR using [</a:t>
            </a:r>
            <a:r>
              <a:rPr lang="en-US" sz="1200" b="0" i="0" u="none" strike="noStrike" cap="none" dirty="0" err="1">
                <a:solidFill>
                  <a:schemeClr val="dk1"/>
                </a:solidFill>
                <a:effectLst/>
                <a:latin typeface="Arial"/>
                <a:ea typeface="Arial"/>
                <a:cs typeface="Arial"/>
                <a:sym typeface="Arial"/>
              </a:rPr>
              <a:t>SupplyParameterFromTempData</a:t>
            </a:r>
            <a:r>
              <a:rPr lang="en-US" sz="1200" b="0" i="0" u="none" strike="noStrike" cap="none" dirty="0">
                <a:solidFill>
                  <a:schemeClr val="dk1"/>
                </a:solidFill>
                <a:effectLst/>
                <a:latin typeface="Arial"/>
                <a:ea typeface="Arial"/>
                <a:cs typeface="Arial"/>
                <a:sym typeface="Arial"/>
              </a:rPr>
              <a:t>] and [</a:t>
            </a:r>
            <a:r>
              <a:rPr lang="en-US" sz="1200" b="0" i="0" u="none" strike="noStrike" cap="none" dirty="0" err="1">
                <a:solidFill>
                  <a:schemeClr val="dk1"/>
                </a:solidFill>
                <a:effectLst/>
                <a:latin typeface="Arial"/>
                <a:ea typeface="Arial"/>
                <a:cs typeface="Arial"/>
                <a:sym typeface="Arial"/>
              </a:rPr>
              <a:t>SupplyParameterFromSession</a:t>
            </a:r>
            <a:r>
              <a:rPr lang="en-US" sz="1200" b="0" i="0" u="none" strike="noStrike" cap="none" dirty="0">
                <a:solidFill>
                  <a:schemeClr val="dk1"/>
                </a:solidFill>
                <a:effectLst/>
                <a:latin typeface="Arial"/>
                <a:ea typeface="Arial"/>
                <a:cs typeface="Arial"/>
                <a:sym typeface="Arial"/>
              </a:rPr>
              <a:t>] explaining real-world PRG patterns, multi-step wizards, security, scale-out, and browser matrix verification without </a:t>
            </a:r>
            <a:r>
              <a:rPr lang="en-US" sz="1200" b="0" i="0" u="none" strike="noStrike" cap="none" dirty="0" err="1">
                <a:solidFill>
                  <a:schemeClr val="dk1"/>
                </a:solidFill>
                <a:effectLst/>
                <a:latin typeface="Arial"/>
                <a:ea typeface="Arial"/>
                <a:cs typeface="Arial"/>
                <a:sym typeface="Arial"/>
              </a:rPr>
              <a:t>SignalR</a:t>
            </a:r>
            <a:r>
              <a:rPr lang="en-US" sz="1200" b="0" i="0" u="none" strike="noStrike" cap="none" dirty="0">
                <a:solidFill>
                  <a:schemeClr val="dk1"/>
                </a:solidFill>
                <a:effectLst/>
                <a:latin typeface="Arial"/>
                <a:ea typeface="Arial"/>
                <a:cs typeface="Arial"/>
                <a:sym typeface="Arial"/>
              </a:rPr>
              <a:t> circuits.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7A3AA2C0-2459-4B8C-3C62-3A13DC5EAE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49115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F5F6224-FE45-AF44-26C9-3DD13E3BC3E9}"/>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AC4F38B6-6B2F-7C25-DD41-532C526750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Introducing </a:t>
            </a:r>
            <a:r>
              <a:rPr lang="en-US" sz="1200" b="0" i="0" u="none" strike="noStrike" cap="none" dirty="0" err="1">
                <a:solidFill>
                  <a:schemeClr val="dk1"/>
                </a:solidFill>
                <a:effectLst/>
                <a:latin typeface="Arial"/>
                <a:ea typeface="Arial"/>
                <a:cs typeface="Arial"/>
                <a:sym typeface="Arial"/>
              </a:rPr>
              <a:t>Lsw.Abp.VueUI</a:t>
            </a:r>
            <a:r>
              <a:rPr lang="en-US" sz="1200" b="0" i="0" u="none" strike="noStrike" cap="none" dirty="0">
                <a:solidFill>
                  <a:schemeClr val="dk1"/>
                </a:solidFill>
                <a:effectLst/>
                <a:latin typeface="Arial"/>
                <a:ea typeface="Arial"/>
                <a:cs typeface="Arial"/>
                <a:sym typeface="Arial"/>
              </a:rPr>
              <a:t>, a complete Vue 3 frontend for ABP Framework, with built-in modules, extensible pages, multiple themes, and a familiar ABP development experience.</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11DFBF07-EEC9-2C10-7FB9-9FC4630A08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3607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BEE07F7-C1A7-4CDC-3E5D-A725A0E05DF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99FCDDE9-CCCF-2F8D-91C1-BFFECFA3FB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dk1"/>
                </a:solidFill>
                <a:effectLst/>
                <a:latin typeface="Arial"/>
                <a:ea typeface="Arial"/>
                <a:cs typeface="Arial"/>
                <a:sym typeface="Arial"/>
              </a:rPr>
              <a:t>Master EF Core 11 JSON capabilities, JSON indexing, and Complex Types with SQL Server 2025 to drastically boost .NET performance. Learn how </a:t>
            </a:r>
            <a:r>
              <a:rPr lang="en-US" sz="1200" b="0" i="0" u="none" strike="noStrike" cap="none" dirty="0" err="1">
                <a:solidFill>
                  <a:schemeClr val="dk1"/>
                </a:solidFill>
                <a:effectLst/>
                <a:latin typeface="Arial"/>
                <a:ea typeface="Arial"/>
                <a:cs typeface="Arial"/>
                <a:sym typeface="Arial"/>
              </a:rPr>
              <a:t>ToJson</a:t>
            </a:r>
            <a:r>
              <a:rPr lang="en-US" sz="1200" b="0" i="0" u="none" strike="noStrike" cap="none" dirty="0">
                <a:solidFill>
                  <a:schemeClr val="dk1"/>
                </a:solidFill>
                <a:effectLst/>
                <a:latin typeface="Arial"/>
                <a:ea typeface="Arial"/>
                <a:cs typeface="Arial"/>
                <a:sym typeface="Arial"/>
              </a:rPr>
              <a:t>(), JSON_CONTAINS, and LINQ querying allow high-speed document search directly inside relational tables without losing strong typing. Build efficient hybrid database architectures by combining JSON persistence with TPT/TPC inheritance in modern C# applications.</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68D887D9-4594-BCAD-5ACA-AE44286BB1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23133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BC012BF3-2F86-3573-F976-088CDA3358D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C8C57583-7498-5157-4F2B-2B58807703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900" dirty="0" err="1">
                <a:latin typeface="Poppins"/>
                <a:ea typeface="Poppins"/>
                <a:cs typeface="Poppins"/>
                <a:sym typeface="Poppins"/>
              </a:rPr>
              <a:t>ı</a:t>
            </a:r>
            <a:r>
              <a:rPr lang="en-US" sz="1200" b="0" i="0" u="none" strike="noStrike" cap="none" dirty="0" err="1">
                <a:solidFill>
                  <a:schemeClr val="dk1"/>
                </a:solidFill>
                <a:effectLst/>
                <a:latin typeface="Arial"/>
                <a:ea typeface="Arial"/>
                <a:cs typeface="Arial"/>
                <a:sym typeface="Arial"/>
              </a:rPr>
              <a:t>ntroducing</a:t>
            </a:r>
            <a:r>
              <a:rPr lang="en-US" sz="1200" b="0" i="0" u="none" strike="noStrike" cap="none" dirty="0">
                <a:solidFill>
                  <a:schemeClr val="dk1"/>
                </a:solidFill>
                <a:effectLst/>
                <a:latin typeface="Arial"/>
                <a:ea typeface="Arial"/>
                <a:cs typeface="Arial"/>
                <a:sym typeface="Arial"/>
              </a:rPr>
              <a:t> </a:t>
            </a:r>
            <a:r>
              <a:rPr lang="en-US" sz="1200" b="0" i="0" u="none" strike="noStrike" cap="none" dirty="0" err="1">
                <a:solidFill>
                  <a:schemeClr val="dk1"/>
                </a:solidFill>
                <a:effectLst/>
                <a:latin typeface="Arial"/>
                <a:ea typeface="Arial"/>
                <a:cs typeface="Arial"/>
                <a:sym typeface="Arial"/>
              </a:rPr>
              <a:t>Volobox</a:t>
            </a:r>
            <a:r>
              <a:rPr lang="en-US" sz="1200" b="0" i="0" u="none" strike="noStrike" cap="none" dirty="0">
                <a:solidFill>
                  <a:schemeClr val="dk1"/>
                </a:solidFill>
                <a:effectLst/>
                <a:latin typeface="Arial"/>
                <a:ea typeface="Arial"/>
                <a:cs typeface="Arial"/>
                <a:sym typeface="Arial"/>
              </a:rPr>
              <a:t> to the ABP Community. </a:t>
            </a:r>
            <a:r>
              <a:rPr lang="en-US" sz="1200" b="0" i="0" u="none" strike="noStrike" cap="none" dirty="0" err="1">
                <a:solidFill>
                  <a:schemeClr val="dk1"/>
                </a:solidFill>
                <a:effectLst/>
                <a:latin typeface="Arial"/>
                <a:ea typeface="Arial"/>
                <a:cs typeface="Arial"/>
                <a:sym typeface="Arial"/>
              </a:rPr>
              <a:t>Volobox</a:t>
            </a:r>
            <a:r>
              <a:rPr lang="en-US" sz="1200" b="0" i="0" u="none" strike="noStrike" cap="none" dirty="0">
                <a:solidFill>
                  <a:schemeClr val="dk1"/>
                </a:solidFill>
                <a:effectLst/>
                <a:latin typeface="Arial"/>
                <a:ea typeface="Arial"/>
                <a:cs typeface="Arial"/>
                <a:sym typeface="Arial"/>
              </a:rPr>
              <a:t> is a new workspace where people and agents work as one team</a:t>
            </a:r>
          </a:p>
          <a:p>
            <a:pPr marL="0" lvl="0" indent="0" algn="l" rtl="0">
              <a:lnSpc>
                <a:spcPct val="100000"/>
              </a:lnSpc>
              <a:spcBef>
                <a:spcPts val="0"/>
              </a:spcBef>
              <a:spcAft>
                <a:spcPts val="0"/>
              </a:spcAft>
              <a:buClr>
                <a:schemeClr val="dk1"/>
              </a:buClr>
              <a:buSzPts val="1100"/>
              <a:buFont typeface="Arial"/>
              <a:buNone/>
            </a:pPr>
            <a:r>
              <a:rPr lang="en-US" sz="1900" b="1" dirty="0">
                <a:latin typeface="Poppins"/>
                <a:ea typeface="Poppins"/>
                <a:cs typeface="Poppins"/>
                <a:sym typeface="Poppins"/>
              </a:rPr>
              <a:t>https://volobox.io/</a:t>
            </a:r>
          </a:p>
        </p:txBody>
      </p:sp>
      <p:sp>
        <p:nvSpPr>
          <p:cNvPr id="105" name="Google Shape;105;p2:notes">
            <a:extLst>
              <a:ext uri="{FF2B5EF4-FFF2-40B4-BE49-F238E27FC236}">
                <a16:creationId xmlns:a16="http://schemas.microsoft.com/office/drawing/2014/main" id="{28C81137-F573-F854-AACB-87988680E9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47901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4DC0B1D3-9D8C-7299-42E3-DC5CF86766B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F6578A6B-C021-9620-6663-14A09B00A8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200" b="0" i="0" u="none" strike="noStrike" cap="none" dirty="0" err="1">
                <a:solidFill>
                  <a:schemeClr val="dk1"/>
                </a:solidFill>
                <a:effectLst/>
                <a:latin typeface="Arial"/>
                <a:ea typeface="Arial"/>
                <a:cs typeface="Arial"/>
                <a:sym typeface="Arial"/>
              </a:rPr>
              <a:t>Volobox</a:t>
            </a:r>
            <a:r>
              <a:rPr lang="en-US" sz="1200" b="0" i="0" u="none" strike="noStrike" cap="none" dirty="0">
                <a:solidFill>
                  <a:schemeClr val="dk1"/>
                </a:solidFill>
                <a:effectLst/>
                <a:latin typeface="Arial"/>
                <a:ea typeface="Arial"/>
                <a:cs typeface="Arial"/>
                <a:sym typeface="Arial"/>
              </a:rPr>
              <a:t> is an ABP application with a React front end, and it moves fast: new features ship every few days. Between mid-August and early October, we added video meetings, calendar sync, booking pages and support desks with a customer portal. We also added a choice of coding agents and coding sessions on your own machines. And it got much faster: between two releases, the home page data took about 90% less time in a warm API replay against production, and the median replay now finishes in under half a second.</a:t>
            </a: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3605891A-C321-15BB-F7AC-3714104117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11137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19F8648-EDC4-74D2-E905-729794F631B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8373F2C-5A1B-B3E8-C57E-55A1665498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77B935AF-17F6-ACB8-001F-CF11058C66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484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6288B25-D31E-1A1B-F235-64073C7751CA}"/>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8AFBDCB0-C775-33D3-0CD8-1BFD228801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900" dirty="0">
                <a:latin typeface="Poppins"/>
                <a:ea typeface="Poppins"/>
                <a:cs typeface="Poppins"/>
                <a:sym typeface="Poppins"/>
              </a:rPr>
              <a:t>This PR lets ABP Studio open any plain .NET solution (via `.</a:t>
            </a:r>
            <a:r>
              <a:rPr lang="en-US" sz="1900" dirty="0" err="1">
                <a:latin typeface="Poppins"/>
                <a:ea typeface="Poppins"/>
                <a:cs typeface="Poppins"/>
                <a:sym typeface="Poppins"/>
              </a:rPr>
              <a:t>sln</a:t>
            </a:r>
            <a:r>
              <a:rPr lang="en-US" sz="1900" dirty="0">
                <a:latin typeface="Poppins"/>
                <a:ea typeface="Poppins"/>
                <a:cs typeface="Poppins"/>
                <a:sym typeface="Poppins"/>
              </a:rPr>
              <a:t>`/`.</a:t>
            </a:r>
            <a:r>
              <a:rPr lang="en-US" sz="1900" dirty="0" err="1">
                <a:latin typeface="Poppins"/>
                <a:ea typeface="Poppins"/>
                <a:cs typeface="Poppins"/>
                <a:sym typeface="Poppins"/>
              </a:rPr>
              <a:t>slnx</a:t>
            </a:r>
            <a:r>
              <a:rPr lang="en-US" sz="1900" dirty="0">
                <a:latin typeface="Poppins"/>
                <a:ea typeface="Poppins"/>
                <a:cs typeface="Poppins"/>
                <a:sym typeface="Poppins"/>
              </a:rPr>
              <a:t>`) by introducing a `</a:t>
            </a:r>
            <a:r>
              <a:rPr lang="en-US" sz="1900" dirty="0" err="1">
                <a:latin typeface="Poppins"/>
                <a:ea typeface="Poppins"/>
                <a:cs typeface="Poppins"/>
                <a:sym typeface="Poppins"/>
              </a:rPr>
              <a:t>SolutionKind</a:t>
            </a:r>
            <a:r>
              <a:rPr lang="en-US" sz="1900" dirty="0">
                <a:latin typeface="Poppins"/>
                <a:ea typeface="Poppins"/>
                <a:cs typeface="Poppins"/>
                <a:sym typeface="Poppins"/>
              </a:rPr>
              <a:t>` (Abp vs </a:t>
            </a:r>
            <a:r>
              <a:rPr lang="en-US" sz="1900" dirty="0" err="1">
                <a:latin typeface="Poppins"/>
                <a:ea typeface="Poppins"/>
                <a:cs typeface="Poppins"/>
                <a:sym typeface="Poppins"/>
              </a:rPr>
              <a:t>DotNet</a:t>
            </a:r>
            <a:r>
              <a:rPr lang="en-US" sz="1900" dirty="0">
                <a:latin typeface="Poppins"/>
                <a:ea typeface="Poppins"/>
                <a:cs typeface="Poppins"/>
                <a:sym typeface="Poppins"/>
              </a:rPr>
              <a:t>) that gates ABP-specific features throughout the app, and adds a new lightweight monitoring client (`</a:t>
            </a:r>
            <a:r>
              <a:rPr lang="en-US" sz="1900" dirty="0" err="1">
                <a:latin typeface="Poppins"/>
                <a:ea typeface="Poppins"/>
                <a:cs typeface="Poppins"/>
                <a:sym typeface="Poppins"/>
              </a:rPr>
              <a:t>Volo.Abp.Studio.General.Client</a:t>
            </a:r>
            <a:r>
              <a:rPr lang="en-US" sz="1900" dirty="0">
                <a:latin typeface="Poppins"/>
                <a:ea typeface="Poppins"/>
                <a:cs typeface="Poppins"/>
                <a:sym typeface="Poppins"/>
              </a:rPr>
              <a:t>.*`) so non-ABP apps can still stream logs/requests/exceptions to Studio.</a:t>
            </a:r>
          </a:p>
        </p:txBody>
      </p:sp>
      <p:sp>
        <p:nvSpPr>
          <p:cNvPr id="105" name="Google Shape;105;p2:notes">
            <a:extLst>
              <a:ext uri="{FF2B5EF4-FFF2-40B4-BE49-F238E27FC236}">
                <a16:creationId xmlns:a16="http://schemas.microsoft.com/office/drawing/2014/main" id="{5AF8315D-AE15-2D3A-5788-CB9A80793C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5429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BCE7DBB-0B10-09A8-4D2B-70E06BC302C3}"/>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E64DD599-B900-986B-25C3-A382ED65FA2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40CB5306-A594-44B7-885A-4338296682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81353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3A87E036-A213-170A-2E7B-56D733D8134B}"/>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636A61CD-11E4-1069-6C01-E426C005F6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E36876AF-132E-35EC-7A2F-7ED85BE102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164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CA251533-01B2-DA06-DAF9-8C585A5E8233}"/>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85CC9A02-6F9B-B1AF-B373-C698E89ABC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EE921BD2-E1E5-FB5F-C93D-98AE2455EB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1678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5" name="Google Shape;25;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6" name="Google Shape;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abp.io/community/raffles"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D156108-E2BA-CB23-29D2-60D2BB0E325C}"/>
            </a:ext>
          </a:extLst>
        </p:cNvPr>
        <p:cNvGrpSpPr/>
        <p:nvPr/>
      </p:nvGrpSpPr>
      <p:grpSpPr>
        <a:xfrm>
          <a:off x="0" y="0"/>
          <a:ext cx="0" cy="0"/>
          <a:chOff x="0" y="0"/>
          <a:chExt cx="0" cy="0"/>
        </a:xfrm>
      </p:grpSpPr>
      <p:sp>
        <p:nvSpPr>
          <p:cNvPr id="107" name="Google Shape;107;p2">
            <a:extLst>
              <a:ext uri="{FF2B5EF4-FFF2-40B4-BE49-F238E27FC236}">
                <a16:creationId xmlns:a16="http://schemas.microsoft.com/office/drawing/2014/main" id="{3860520D-CA2D-BA82-9AC9-07EF346D4DD9}"/>
              </a:ext>
            </a:extLst>
          </p:cNvPr>
          <p:cNvSpPr txBox="1"/>
          <p:nvPr/>
        </p:nvSpPr>
        <p:spPr>
          <a:xfrm>
            <a:off x="581493" y="2078940"/>
            <a:ext cx="9584380" cy="3170058"/>
          </a:xfrm>
          <a:prstGeom prst="rect">
            <a:avLst/>
          </a:prstGeom>
          <a:noFill/>
          <a:ln>
            <a:noFill/>
          </a:ln>
        </p:spPr>
        <p:txBody>
          <a:bodyPr spcFirstLastPara="1" wrap="square" lIns="91425" tIns="45700" rIns="91425" bIns="45700" anchor="t" anchorCtr="0">
            <a:spAutoFit/>
          </a:bodyPr>
          <a:lstStyle/>
          <a:p>
            <a:pPr>
              <a:buClr>
                <a:schemeClr val="bg1">
                  <a:lumMod val="50000"/>
                </a:schemeClr>
              </a:buClr>
              <a:buSzPts val="3200"/>
            </a:pPr>
            <a:r>
              <a:rPr lang="en-US" sz="3600" dirty="0">
                <a:solidFill>
                  <a:schemeClr val="bg1">
                    <a:lumMod val="50000"/>
                  </a:schemeClr>
                </a:solidFill>
                <a:latin typeface="Lexend" pitchFamily="2" charset="-94"/>
              </a:rPr>
              <a:t>🗣</a:t>
            </a:r>
            <a:r>
              <a:rPr lang="en-US" sz="2800" dirty="0">
                <a:solidFill>
                  <a:schemeClr val="bg1">
                    <a:lumMod val="50000"/>
                  </a:schemeClr>
                </a:solidFill>
                <a:latin typeface="Lexend" pitchFamily="2" charset="-94"/>
              </a:rPr>
              <a:t> </a:t>
            </a:r>
            <a:r>
              <a:rPr lang="en-US" sz="4000" dirty="0">
                <a:solidFill>
                  <a:schemeClr val="bg1">
                    <a:lumMod val="50000"/>
                  </a:schemeClr>
                </a:solidFill>
                <a:latin typeface="Lexend" pitchFamily="2" charset="-94"/>
                <a:ea typeface="Lexend"/>
                <a:cs typeface="Lexend"/>
                <a:sym typeface="Lexend"/>
              </a:rPr>
              <a:t>Alper Ebicoglu</a:t>
            </a:r>
          </a:p>
          <a:p>
            <a:pPr marL="571500" indent="-571500">
              <a:buClr>
                <a:schemeClr val="bg1">
                  <a:lumMod val="50000"/>
                </a:schemeClr>
              </a:buClr>
              <a:buSzPts val="3200"/>
              <a:buFont typeface="Arial" panose="020B0604020202020204" pitchFamily="34" charset="0"/>
              <a:buChar char="•"/>
            </a:pPr>
            <a:r>
              <a:rPr lang="en-US" sz="4000" dirty="0">
                <a:solidFill>
                  <a:schemeClr val="tx1"/>
                </a:solidFill>
                <a:latin typeface="Lexend" pitchFamily="2" charset="-94"/>
                <a:ea typeface="Lexend"/>
                <a:cs typeface="Lexend"/>
                <a:sym typeface="Lexend"/>
              </a:rPr>
              <a:t>ABP Community News</a:t>
            </a:r>
          </a:p>
          <a:p>
            <a:pPr marL="571500" indent="-571500">
              <a:buClr>
                <a:schemeClr val="bg1">
                  <a:lumMod val="50000"/>
                </a:schemeClr>
              </a:buClr>
              <a:buSzPts val="3200"/>
              <a:buFont typeface="Arial" panose="020B0604020202020204" pitchFamily="34" charset="0"/>
              <a:buChar char="•"/>
            </a:pPr>
            <a:endParaRPr lang="en-US" sz="4000" noProof="0" dirty="0">
              <a:solidFill>
                <a:schemeClr val="tx1"/>
              </a:solidFill>
              <a:latin typeface="Lexend" pitchFamily="2" charset="-94"/>
              <a:ea typeface="Lexend"/>
              <a:cs typeface="Lexend"/>
              <a:sym typeface="Lexend"/>
            </a:endParaRPr>
          </a:p>
          <a:p>
            <a:pPr>
              <a:buClr>
                <a:schemeClr val="bg1">
                  <a:lumMod val="50000"/>
                </a:schemeClr>
              </a:buClr>
              <a:buSzPts val="3200"/>
            </a:pPr>
            <a:r>
              <a:rPr lang="en-US" sz="3600" dirty="0">
                <a:solidFill>
                  <a:schemeClr val="bg1">
                    <a:lumMod val="50000"/>
                  </a:schemeClr>
                </a:solidFill>
                <a:latin typeface="Lexend" pitchFamily="2" charset="-94"/>
              </a:rPr>
              <a:t>🗣</a:t>
            </a:r>
            <a:r>
              <a:rPr lang="en-US" sz="2800" dirty="0">
                <a:solidFill>
                  <a:schemeClr val="bg1">
                    <a:lumMod val="50000"/>
                  </a:schemeClr>
                </a:solidFill>
                <a:latin typeface="Lexend" pitchFamily="2" charset="-94"/>
              </a:rPr>
              <a:t> </a:t>
            </a:r>
            <a:r>
              <a:rPr lang="en-US" sz="4000" dirty="0">
                <a:solidFill>
                  <a:schemeClr val="bg1">
                    <a:lumMod val="50000"/>
                  </a:schemeClr>
                </a:solidFill>
                <a:latin typeface="Lexend" pitchFamily="2" charset="-94"/>
                <a:ea typeface="Lexend"/>
                <a:cs typeface="Lexend"/>
                <a:sym typeface="Lexend"/>
              </a:rPr>
              <a:t>Yunus Emre Kalkan</a:t>
            </a:r>
          </a:p>
          <a:p>
            <a:pPr marL="571500" indent="-571500">
              <a:buClr>
                <a:schemeClr val="bg1">
                  <a:lumMod val="50000"/>
                </a:schemeClr>
              </a:buClr>
              <a:buSzPts val="3200"/>
              <a:buFont typeface="Arial" panose="020B0604020202020204" pitchFamily="34" charset="0"/>
              <a:buChar char="•"/>
            </a:pPr>
            <a:r>
              <a:rPr lang="en-US" sz="4000" noProof="0" dirty="0">
                <a:solidFill>
                  <a:schemeClr val="tx1"/>
                </a:solidFill>
                <a:latin typeface="Lexend" pitchFamily="2" charset="-94"/>
                <a:ea typeface="Lexend"/>
                <a:cs typeface="Lexend"/>
                <a:sym typeface="Lexend"/>
              </a:rPr>
              <a:t>AI Coding Agent &amp; ABP Studio</a:t>
            </a:r>
          </a:p>
        </p:txBody>
      </p:sp>
      <p:sp>
        <p:nvSpPr>
          <p:cNvPr id="4" name="Google Shape;107;p2">
            <a:extLst>
              <a:ext uri="{FF2B5EF4-FFF2-40B4-BE49-F238E27FC236}">
                <a16:creationId xmlns:a16="http://schemas.microsoft.com/office/drawing/2014/main" id="{A28924BA-2F19-4F6D-C5C0-75D66DCBFEA3}"/>
              </a:ext>
            </a:extLst>
          </p:cNvPr>
          <p:cNvSpPr txBox="1"/>
          <p:nvPr/>
        </p:nvSpPr>
        <p:spPr>
          <a:xfrm>
            <a:off x="330200" y="413562"/>
            <a:ext cx="5578987"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4400" b="1" noProof="0" dirty="0">
                <a:solidFill>
                  <a:srgbClr val="292D33"/>
                </a:solidFill>
                <a:latin typeface="Lexend"/>
                <a:ea typeface="Lexend"/>
                <a:cs typeface="Lexend"/>
                <a:sym typeface="Lexend"/>
              </a:rPr>
              <a:t>TODAY’S AGENDA</a:t>
            </a:r>
            <a:endParaRPr lang="en-US" sz="4400" noProof="0" dirty="0">
              <a:solidFill>
                <a:srgbClr val="292D33"/>
              </a:solidFill>
              <a:latin typeface="Lexend"/>
              <a:ea typeface="Lexend"/>
              <a:cs typeface="Lexend"/>
              <a:sym typeface="Lexend"/>
            </a:endParaRPr>
          </a:p>
        </p:txBody>
      </p:sp>
      <p:cxnSp>
        <p:nvCxnSpPr>
          <p:cNvPr id="3" name="Straight Connector 2">
            <a:extLst>
              <a:ext uri="{FF2B5EF4-FFF2-40B4-BE49-F238E27FC236}">
                <a16:creationId xmlns:a16="http://schemas.microsoft.com/office/drawing/2014/main" id="{42E1535B-A092-1F19-2420-31A0039F717A}"/>
              </a:ext>
            </a:extLst>
          </p:cNvPr>
          <p:cNvCxnSpPr/>
          <p:nvPr/>
        </p:nvCxnSpPr>
        <p:spPr>
          <a:xfrm>
            <a:off x="474020" y="1329813"/>
            <a:ext cx="11054712"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Google Shape;107;p2">
            <a:extLst>
              <a:ext uri="{FF2B5EF4-FFF2-40B4-BE49-F238E27FC236}">
                <a16:creationId xmlns:a16="http://schemas.microsoft.com/office/drawing/2014/main" id="{5104BF10-480A-AECC-B58E-6FBFBB45B42C}"/>
              </a:ext>
            </a:extLst>
          </p:cNvPr>
          <p:cNvSpPr txBox="1"/>
          <p:nvPr/>
        </p:nvSpPr>
        <p:spPr>
          <a:xfrm>
            <a:off x="7207047" y="547153"/>
            <a:ext cx="4459338" cy="55395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000" b="1" noProof="0" dirty="0">
                <a:solidFill>
                  <a:schemeClr val="bg1">
                    <a:lumMod val="65000"/>
                  </a:schemeClr>
                </a:solidFill>
                <a:latin typeface="Lexend"/>
                <a:ea typeface="Lexend"/>
                <a:cs typeface="Lexend"/>
                <a:sym typeface="Lexend"/>
              </a:rPr>
              <a:t>Talk#2026.06</a:t>
            </a:r>
          </a:p>
        </p:txBody>
      </p:sp>
    </p:spTree>
    <p:extLst>
      <p:ext uri="{BB962C8B-B14F-4D97-AF65-F5344CB8AC3E}">
        <p14:creationId xmlns:p14="http://schemas.microsoft.com/office/powerpoint/2010/main" val="2963035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1300125-8AA4-6F78-0BF0-5B0D3AE37965}"/>
              </a:ext>
            </a:extLst>
          </p:cNvPr>
          <p:cNvSpPr/>
          <p:nvPr/>
        </p:nvSpPr>
        <p:spPr>
          <a:xfrm>
            <a:off x="234175" y="3034770"/>
            <a:ext cx="11612300" cy="23752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11" name="Rectangle 10">
            <a:extLst>
              <a:ext uri="{FF2B5EF4-FFF2-40B4-BE49-F238E27FC236}">
                <a16:creationId xmlns:a16="http://schemas.microsoft.com/office/drawing/2014/main" id="{DE72D9C8-7827-4DD7-3A17-8D7483D380CF}"/>
              </a:ext>
            </a:extLst>
          </p:cNvPr>
          <p:cNvSpPr/>
          <p:nvPr/>
        </p:nvSpPr>
        <p:spPr>
          <a:xfrm>
            <a:off x="234175" y="468351"/>
            <a:ext cx="11612300" cy="23752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dirty="0"/>
          </a:p>
        </p:txBody>
      </p:sp>
      <p:pic>
        <p:nvPicPr>
          <p:cNvPr id="5" name="Picture 4">
            <a:extLst>
              <a:ext uri="{FF2B5EF4-FFF2-40B4-BE49-F238E27FC236}">
                <a16:creationId xmlns:a16="http://schemas.microsoft.com/office/drawing/2014/main" id="{BD754119-32EC-4259-A719-82F82F795B8B}"/>
              </a:ext>
            </a:extLst>
          </p:cNvPr>
          <p:cNvPicPr>
            <a:picLocks noChangeAspect="1"/>
          </p:cNvPicPr>
          <p:nvPr/>
        </p:nvPicPr>
        <p:blipFill rotWithShape="1">
          <a:blip r:embed="rId3"/>
          <a:srcRect b="5932"/>
          <a:stretch/>
        </p:blipFill>
        <p:spPr>
          <a:xfrm>
            <a:off x="345525" y="588328"/>
            <a:ext cx="11353800" cy="2114550"/>
          </a:xfrm>
          <a:prstGeom prst="rect">
            <a:avLst/>
          </a:prstGeom>
          <a:ln>
            <a:noFill/>
          </a:ln>
          <a:effectLst>
            <a:softEdge rad="112500"/>
          </a:effectLst>
        </p:spPr>
      </p:pic>
      <p:pic>
        <p:nvPicPr>
          <p:cNvPr id="7" name="Picture 6">
            <a:extLst>
              <a:ext uri="{FF2B5EF4-FFF2-40B4-BE49-F238E27FC236}">
                <a16:creationId xmlns:a16="http://schemas.microsoft.com/office/drawing/2014/main" id="{0185B5DA-A6BC-4A1F-A6A8-E56F8D420DCB}"/>
              </a:ext>
            </a:extLst>
          </p:cNvPr>
          <p:cNvPicPr>
            <a:picLocks noChangeAspect="1"/>
          </p:cNvPicPr>
          <p:nvPr/>
        </p:nvPicPr>
        <p:blipFill rotWithShape="1">
          <a:blip r:embed="rId4"/>
          <a:srcRect b="8642"/>
          <a:stretch/>
        </p:blipFill>
        <p:spPr>
          <a:xfrm>
            <a:off x="359325" y="3112748"/>
            <a:ext cx="11340000" cy="2099649"/>
          </a:xfrm>
          <a:prstGeom prst="rect">
            <a:avLst/>
          </a:prstGeom>
          <a:ln>
            <a:noFill/>
          </a:ln>
          <a:effectLst>
            <a:softEdge rad="112500"/>
          </a:effectLst>
        </p:spPr>
      </p:pic>
      <p:sp>
        <p:nvSpPr>
          <p:cNvPr id="9" name="TextBox 8">
            <a:extLst>
              <a:ext uri="{FF2B5EF4-FFF2-40B4-BE49-F238E27FC236}">
                <a16:creationId xmlns:a16="http://schemas.microsoft.com/office/drawing/2014/main" id="{809026EB-03CA-4B04-93E9-7EB82AD0D3CD}"/>
              </a:ext>
            </a:extLst>
          </p:cNvPr>
          <p:cNvSpPr txBox="1"/>
          <p:nvPr/>
        </p:nvSpPr>
        <p:spPr>
          <a:xfrm>
            <a:off x="234175" y="5658883"/>
            <a:ext cx="9794240" cy="830997"/>
          </a:xfrm>
          <a:prstGeom prst="rect">
            <a:avLst/>
          </a:prstGeom>
          <a:noFill/>
        </p:spPr>
        <p:txBody>
          <a:bodyPr wrap="square">
            <a:spAutoFit/>
          </a:bodyPr>
          <a:lstStyle/>
          <a:p>
            <a:r>
              <a:rPr lang="en-US" sz="2400" noProof="0" dirty="0">
                <a:latin typeface="Lexend" panose="020B0604020202020204" charset="-94"/>
              </a:rPr>
              <a:t>Visit </a:t>
            </a:r>
            <a:r>
              <a:rPr lang="en-US" sz="2400" b="1" noProof="0" dirty="0">
                <a:latin typeface="Lexend" panose="020B0604020202020204" charset="-94"/>
                <a:hlinkClick r:id="rId5"/>
              </a:rPr>
              <a:t>abp.io/community/raffles</a:t>
            </a:r>
            <a:r>
              <a:rPr lang="en-US" sz="2400" b="1" noProof="0" dirty="0">
                <a:latin typeface="Lexend" panose="020B0604020202020204" charset="-94"/>
              </a:rPr>
              <a:t> </a:t>
            </a:r>
            <a:r>
              <a:rPr lang="en-US" sz="2400" noProof="0" dirty="0">
                <a:latin typeface="Lexend" panose="020B0604020202020204" charset="-94"/>
              </a:rPr>
              <a:t>and join these raffles for free. </a:t>
            </a:r>
            <a:r>
              <a:rPr lang="en-US" sz="2400" dirty="0">
                <a:latin typeface="Lexend" panose="020B0604020202020204" charset="-94"/>
              </a:rPr>
              <a:t>We’ll give them in the end of the show</a:t>
            </a:r>
            <a:endParaRPr lang="en-US" sz="2400" noProof="0" dirty="0">
              <a:latin typeface="Lexend" panose="020B0604020202020204" charset="-94"/>
            </a:endParaRPr>
          </a:p>
        </p:txBody>
      </p:sp>
      <p:pic>
        <p:nvPicPr>
          <p:cNvPr id="4" name="Picture 3">
            <a:extLst>
              <a:ext uri="{FF2B5EF4-FFF2-40B4-BE49-F238E27FC236}">
                <a16:creationId xmlns:a16="http://schemas.microsoft.com/office/drawing/2014/main" id="{B8CB5A35-8EE2-0CD0-987A-72184872C2A0}"/>
              </a:ext>
            </a:extLst>
          </p:cNvPr>
          <p:cNvPicPr>
            <a:picLocks noChangeAspect="1"/>
          </p:cNvPicPr>
          <p:nvPr/>
        </p:nvPicPr>
        <p:blipFill>
          <a:blip r:embed="rId6"/>
          <a:stretch>
            <a:fillRect/>
          </a:stretch>
        </p:blipFill>
        <p:spPr>
          <a:xfrm>
            <a:off x="9736689" y="3286759"/>
            <a:ext cx="1744676" cy="1744676"/>
          </a:xfrm>
          <a:prstGeom prst="rect">
            <a:avLst/>
          </a:prstGeom>
        </p:spPr>
      </p:pic>
      <p:pic>
        <p:nvPicPr>
          <p:cNvPr id="15" name="Picture 14">
            <a:extLst>
              <a:ext uri="{FF2B5EF4-FFF2-40B4-BE49-F238E27FC236}">
                <a16:creationId xmlns:a16="http://schemas.microsoft.com/office/drawing/2014/main" id="{2B057D9D-3E69-F832-4BE1-85B0435113E8}"/>
              </a:ext>
            </a:extLst>
          </p:cNvPr>
          <p:cNvPicPr>
            <a:picLocks noChangeAspect="1"/>
          </p:cNvPicPr>
          <p:nvPr/>
        </p:nvPicPr>
        <p:blipFill>
          <a:blip r:embed="rId7"/>
          <a:stretch>
            <a:fillRect/>
          </a:stretch>
        </p:blipFill>
        <p:spPr>
          <a:xfrm>
            <a:off x="9736689" y="783618"/>
            <a:ext cx="1744676" cy="1744676"/>
          </a:xfrm>
          <a:prstGeom prst="rect">
            <a:avLst/>
          </a:prstGeom>
        </p:spPr>
      </p:pic>
    </p:spTree>
    <p:extLst>
      <p:ext uri="{BB962C8B-B14F-4D97-AF65-F5344CB8AC3E}">
        <p14:creationId xmlns:p14="http://schemas.microsoft.com/office/powerpoint/2010/main" val="58408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EFC4B4B-7A09-00F6-48A7-AF26BECC72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287330-79E6-55E2-9B85-37EECC294133}"/>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E0B751A1-F00B-32D6-2BF8-0BF0821F397D}"/>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7486FBF-AFD5-6072-B18F-64224C2066EF}"/>
              </a:ext>
            </a:extLst>
          </p:cNvPr>
          <p:cNvSpPr txBox="1"/>
          <p:nvPr/>
        </p:nvSpPr>
        <p:spPr>
          <a:xfrm>
            <a:off x="442453" y="1104227"/>
            <a:ext cx="10507683" cy="738664"/>
          </a:xfrm>
          <a:prstGeom prst="rect">
            <a:avLst/>
          </a:prstGeom>
          <a:noFill/>
        </p:spPr>
        <p:txBody>
          <a:bodyPr wrap="square" rtlCol="0">
            <a:spAutoFit/>
          </a:bodyPr>
          <a:lstStyle/>
          <a:p>
            <a:r>
              <a:rPr lang="en-US" b="1" dirty="0"/>
              <a:t>Latest stable ABP version: 10.7.0 on 6 October 2026.</a:t>
            </a:r>
          </a:p>
          <a:p>
            <a:r>
              <a:rPr lang="en-US" dirty="0"/>
              <a:t>The release is a </a:t>
            </a:r>
            <a:r>
              <a:rPr lang="en-US" b="1" dirty="0"/>
              <a:t>quality-focused</a:t>
            </a:r>
            <a:r>
              <a:rPr lang="en-US" dirty="0"/>
              <a:t> milestone.</a:t>
            </a:r>
            <a:endParaRPr lang="en-US" b="1" dirty="0"/>
          </a:p>
          <a:p>
            <a:r>
              <a:rPr lang="en-US" dirty="0"/>
              <a:t>This release is primarily focused on </a:t>
            </a:r>
            <a:r>
              <a:rPr lang="en-US" b="1" dirty="0"/>
              <a:t>Low-Code</a:t>
            </a:r>
            <a:r>
              <a:rPr lang="en-US" dirty="0"/>
              <a:t>, </a:t>
            </a:r>
            <a:r>
              <a:rPr lang="en-US" b="1" dirty="0"/>
              <a:t>documentation</a:t>
            </a:r>
            <a:r>
              <a:rPr lang="en-US" dirty="0"/>
              <a:t>, </a:t>
            </a:r>
            <a:r>
              <a:rPr lang="en-US" b="1" dirty="0"/>
              <a:t>stability</a:t>
            </a:r>
            <a:r>
              <a:rPr lang="en-US" dirty="0"/>
              <a:t>, </a:t>
            </a:r>
            <a:r>
              <a:rPr lang="en-US" b="1" dirty="0"/>
              <a:t>security</a:t>
            </a:r>
            <a:r>
              <a:rPr lang="en-US" dirty="0"/>
              <a:t>, and </a:t>
            </a:r>
            <a:r>
              <a:rPr lang="en-US" b="1" dirty="0"/>
              <a:t>framework polishing</a:t>
            </a:r>
            <a:r>
              <a:rPr lang="en-US" dirty="0"/>
              <a:t>,</a:t>
            </a:r>
            <a:endParaRPr lang="en-US" b="1" dirty="0"/>
          </a:p>
        </p:txBody>
      </p:sp>
      <p:sp>
        <p:nvSpPr>
          <p:cNvPr id="9" name="TextBox 8">
            <a:extLst>
              <a:ext uri="{FF2B5EF4-FFF2-40B4-BE49-F238E27FC236}">
                <a16:creationId xmlns:a16="http://schemas.microsoft.com/office/drawing/2014/main" id="{34161F0A-9740-A47A-7266-4910E93A551C}"/>
              </a:ext>
            </a:extLst>
          </p:cNvPr>
          <p:cNvSpPr txBox="1"/>
          <p:nvPr/>
        </p:nvSpPr>
        <p:spPr>
          <a:xfrm>
            <a:off x="617517" y="2051892"/>
            <a:ext cx="8526483" cy="4093428"/>
          </a:xfrm>
          <a:prstGeom prst="rect">
            <a:avLst/>
          </a:prstGeom>
          <a:noFill/>
        </p:spPr>
        <p:txBody>
          <a:bodyPr wrap="square">
            <a:spAutoFit/>
          </a:bodyPr>
          <a:lstStyle/>
          <a:p>
            <a:pPr>
              <a:buNone/>
            </a:pPr>
            <a:r>
              <a:rPr lang="en-US" sz="2000" b="1" dirty="0"/>
              <a:t>🚀 Low-Code &amp; Studio</a:t>
            </a:r>
          </a:p>
          <a:p>
            <a:pPr marL="342900" lvl="0" indent="-342900">
              <a:buFont typeface="Arial" panose="020B0604020202020204" pitchFamily="34" charset="0"/>
              <a:buChar char="•"/>
            </a:pPr>
            <a:r>
              <a:rPr lang="en-US" sz="2000" dirty="0"/>
              <a:t>Major expansion of </a:t>
            </a:r>
            <a:r>
              <a:rPr lang="en-US" sz="2000" b="1" dirty="0"/>
              <a:t>Low-Code documentation</a:t>
            </a:r>
            <a:r>
              <a:rPr lang="en-US" sz="2000" dirty="0"/>
              <a:t>:</a:t>
            </a:r>
          </a:p>
          <a:p>
            <a:pPr marL="742950" lvl="1" indent="-285750">
              <a:buFont typeface="Arial" panose="020B0604020202020204" pitchFamily="34" charset="0"/>
              <a:buChar char="•"/>
            </a:pPr>
            <a:r>
              <a:rPr lang="en-US" sz="2000" dirty="0"/>
              <a:t>Existing solution integration</a:t>
            </a:r>
          </a:p>
          <a:p>
            <a:pPr marL="742950" lvl="1" indent="-285750">
              <a:buFont typeface="Arial" panose="020B0604020202020204" pitchFamily="34" charset="0"/>
              <a:buChar char="•"/>
            </a:pPr>
            <a:r>
              <a:rPr lang="en-US" sz="2000" dirty="0"/>
              <a:t>Formula properties &amp; navigation</a:t>
            </a:r>
          </a:p>
          <a:p>
            <a:pPr marL="742950" lvl="1" indent="-285750">
              <a:buFont typeface="Arial" panose="020B0604020202020204" pitchFamily="34" charset="0"/>
              <a:buChar char="•"/>
            </a:pPr>
            <a:r>
              <a:rPr lang="en-US" sz="2000" dirty="0"/>
              <a:t>10.7 workflows</a:t>
            </a:r>
          </a:p>
          <a:p>
            <a:pPr marL="742950" lvl="1" indent="-285750">
              <a:buFont typeface="Arial" panose="020B0604020202020204" pitchFamily="34" charset="0"/>
              <a:buChar char="•"/>
            </a:pPr>
            <a:r>
              <a:rPr lang="en-US" sz="2000" dirty="0"/>
              <a:t>Minimal formula definitions</a:t>
            </a:r>
          </a:p>
          <a:p>
            <a:pPr marL="742950" lvl="1" indent="-285750">
              <a:buFont typeface="Arial" panose="020B0604020202020204" pitchFamily="34" charset="0"/>
              <a:buChar char="•"/>
            </a:pPr>
            <a:r>
              <a:rPr lang="en-US" sz="2000" dirty="0"/>
              <a:t>Vendor onboarding guide</a:t>
            </a:r>
          </a:p>
          <a:p>
            <a:pPr marL="742950" lvl="1" indent="-285750">
              <a:buFont typeface="Arial" panose="020B0604020202020204" pitchFamily="34" charset="0"/>
              <a:buChar char="•"/>
            </a:pPr>
            <a:r>
              <a:rPr lang="en-US" sz="2000" dirty="0"/>
              <a:t>Community articles</a:t>
            </a:r>
          </a:p>
          <a:p>
            <a:pPr marL="342900" lvl="0" indent="-342900">
              <a:buFont typeface="Arial" panose="020B0604020202020204" pitchFamily="34" charset="0"/>
              <a:buChar char="•"/>
            </a:pPr>
            <a:r>
              <a:rPr lang="en-US" sz="2000" dirty="0"/>
              <a:t>ABP Studio:</a:t>
            </a:r>
          </a:p>
          <a:p>
            <a:pPr marL="742950" lvl="1" indent="-285750">
              <a:buFont typeface="Arial" panose="020B0604020202020204" pitchFamily="34" charset="0"/>
              <a:buChar char="•"/>
            </a:pPr>
            <a:r>
              <a:rPr lang="en-US" sz="2000" dirty="0"/>
              <a:t>MCP integration documentation</a:t>
            </a:r>
          </a:p>
          <a:p>
            <a:pPr marL="742950" lvl="1" indent="-285750">
              <a:buFont typeface="Arial" panose="020B0604020202020204" pitchFamily="34" charset="0"/>
              <a:buChar char="•"/>
            </a:pPr>
            <a:r>
              <a:rPr lang="en-US" sz="2000" dirty="0"/>
              <a:t>MCP server docs restored</a:t>
            </a:r>
          </a:p>
          <a:p>
            <a:pPr marL="742950" lvl="1" indent="-285750">
              <a:buFont typeface="Arial" panose="020B0604020202020204" pitchFamily="34" charset="0"/>
              <a:buChar char="•"/>
            </a:pPr>
            <a:r>
              <a:rPr lang="en-US" sz="2000" dirty="0"/>
              <a:t>CLI </a:t>
            </a:r>
            <a:r>
              <a:rPr lang="en-US" sz="2000" dirty="0">
                <a:latin typeface="Arial"/>
              </a:rPr>
              <a:t>abp </a:t>
            </a:r>
            <a:r>
              <a:rPr lang="en-US" sz="2000" dirty="0" err="1">
                <a:latin typeface="Arial"/>
              </a:rPr>
              <a:t>mcp</a:t>
            </a:r>
            <a:r>
              <a:rPr lang="en-US" sz="2000" dirty="0"/>
              <a:t> command documented</a:t>
            </a:r>
          </a:p>
          <a:p>
            <a:pPr marL="742950" lvl="1" indent="-285750">
              <a:buFont typeface="Arial" panose="020B0604020202020204" pitchFamily="34" charset="0"/>
              <a:buChar char="•"/>
            </a:pPr>
            <a:r>
              <a:rPr lang="en-US" sz="2000" dirty="0"/>
              <a:t>Studio releases: </a:t>
            </a:r>
            <a:r>
              <a:rPr lang="en-US" sz="2000" b="1" dirty="0"/>
              <a:t>3.0.8 → 3.0.9 → 3.0.10 → 3.1.0</a:t>
            </a:r>
            <a:endParaRPr lang="en-US" sz="2000" dirty="0"/>
          </a:p>
        </p:txBody>
      </p:sp>
    </p:spTree>
    <p:extLst>
      <p:ext uri="{BB962C8B-B14F-4D97-AF65-F5344CB8AC3E}">
        <p14:creationId xmlns:p14="http://schemas.microsoft.com/office/powerpoint/2010/main" val="249037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7FD480A-5369-1325-D5C0-ABA8D2C180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7BD456-AF8E-4E0E-0B08-B1F2078F8C3E}"/>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65BBA2A8-F2E9-16FA-AAA4-1F6424E198BC}"/>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9D19E7D-E99F-2293-BC48-452DC4625DC8}"/>
              </a:ext>
            </a:extLst>
          </p:cNvPr>
          <p:cNvSpPr txBox="1"/>
          <p:nvPr/>
        </p:nvSpPr>
        <p:spPr>
          <a:xfrm>
            <a:off x="525580" y="1443841"/>
            <a:ext cx="10827230" cy="3970318"/>
          </a:xfrm>
          <a:prstGeom prst="rect">
            <a:avLst/>
          </a:prstGeom>
          <a:noFill/>
        </p:spPr>
        <p:txBody>
          <a:bodyPr wrap="square">
            <a:spAutoFit/>
          </a:bodyPr>
          <a:lstStyle/>
          <a:p>
            <a:pPr>
              <a:buNone/>
            </a:pPr>
            <a:r>
              <a:rPr lang="en-US" sz="2800" b="1" dirty="0"/>
              <a:t>📚 Documentation</a:t>
            </a:r>
          </a:p>
          <a:p>
            <a:pPr marL="342900" lvl="0" indent="-342900">
              <a:buFont typeface="Arial" panose="020B0604020202020204" pitchFamily="34" charset="0"/>
              <a:buChar char="•"/>
            </a:pPr>
            <a:r>
              <a:rPr lang="en-US" sz="2800" dirty="0"/>
              <a:t>Prepared documentation for </a:t>
            </a:r>
            <a:r>
              <a:rPr lang="en-US" sz="2800" b="1" dirty="0"/>
              <a:t>10.6</a:t>
            </a:r>
            <a:r>
              <a:rPr lang="en-US" sz="2800" dirty="0"/>
              <a:t> and </a:t>
            </a:r>
            <a:r>
              <a:rPr lang="en-US" sz="2800" b="1" dirty="0"/>
              <a:t>10.7 RC</a:t>
            </a:r>
            <a:r>
              <a:rPr lang="en-US" sz="2800" dirty="0"/>
              <a:t> releases.</a:t>
            </a:r>
          </a:p>
          <a:p>
            <a:pPr marL="342900" lvl="0" indent="-342900">
              <a:buFont typeface="Arial" panose="020B0604020202020204" pitchFamily="34" charset="0"/>
              <a:buChar char="•"/>
            </a:pPr>
            <a:r>
              <a:rPr lang="en-US" sz="2800" dirty="0"/>
              <a:t>Added:</a:t>
            </a:r>
          </a:p>
          <a:p>
            <a:pPr marL="742950" lvl="1" indent="-285750">
              <a:buFont typeface="Arial" panose="020B0604020202020204" pitchFamily="34" charset="0"/>
              <a:buChar char="•"/>
            </a:pPr>
            <a:r>
              <a:rPr lang="en-US" sz="2800" dirty="0"/>
              <a:t>React CRUD generation docs</a:t>
            </a:r>
          </a:p>
          <a:p>
            <a:pPr marL="742950" lvl="1" indent="-285750">
              <a:buFont typeface="Arial" panose="020B0604020202020204" pitchFamily="34" charset="0"/>
              <a:buChar char="•"/>
            </a:pPr>
            <a:r>
              <a:rPr lang="en-US" sz="2800" dirty="0"/>
              <a:t>React API synchronization guide</a:t>
            </a:r>
          </a:p>
          <a:p>
            <a:pPr marL="742950" lvl="1" indent="-285750">
              <a:buFont typeface="Arial" panose="020B0604020202020204" pitchFamily="34" charset="0"/>
              <a:buChar char="•"/>
            </a:pPr>
            <a:r>
              <a:rPr lang="en-US" sz="2800" dirty="0"/>
              <a:t>BLOB provider selection</a:t>
            </a:r>
          </a:p>
          <a:p>
            <a:pPr marL="742950" lvl="1" indent="-285750">
              <a:buFont typeface="Arial" panose="020B0604020202020204" pitchFamily="34" charset="0"/>
              <a:buChar char="•"/>
            </a:pPr>
            <a:r>
              <a:rPr lang="en-US" sz="2800" dirty="0"/>
              <a:t>ABP vs ASP.NET Zero refresh</a:t>
            </a:r>
          </a:p>
          <a:p>
            <a:pPr marL="742950" lvl="1" indent="-285750">
              <a:buFont typeface="Arial" panose="020B0604020202020204" pitchFamily="34" charset="0"/>
              <a:buChar char="•"/>
            </a:pPr>
            <a:r>
              <a:rPr lang="en-US" sz="2800" dirty="0"/>
              <a:t>ABP Suite legacy many-to-many regeneration</a:t>
            </a:r>
          </a:p>
          <a:p>
            <a:pPr marL="342900" lvl="0" indent="-342900">
              <a:buFont typeface="Arial" panose="020B0604020202020204" pitchFamily="34" charset="0"/>
              <a:buChar char="•"/>
            </a:pPr>
            <a:r>
              <a:rPr lang="en-US" sz="2800" dirty="0"/>
              <a:t>Numerous fixes to images, formatting, and release posts.</a:t>
            </a:r>
          </a:p>
        </p:txBody>
      </p:sp>
    </p:spTree>
    <p:extLst>
      <p:ext uri="{BB962C8B-B14F-4D97-AF65-F5344CB8AC3E}">
        <p14:creationId xmlns:p14="http://schemas.microsoft.com/office/powerpoint/2010/main" val="337743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56EBE0E-536F-91F3-9498-560D86F01C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049215-518E-063A-3AC0-2AB1BBDA6B92}"/>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C0E946C0-5CE9-7FE1-CEBE-32DAEAB16765}"/>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E44EEFB-9359-0179-54BC-3B77C81E351C}"/>
              </a:ext>
            </a:extLst>
          </p:cNvPr>
          <p:cNvSpPr txBox="1"/>
          <p:nvPr/>
        </p:nvSpPr>
        <p:spPr>
          <a:xfrm>
            <a:off x="629392" y="1556339"/>
            <a:ext cx="9666514" cy="3970318"/>
          </a:xfrm>
          <a:prstGeom prst="rect">
            <a:avLst/>
          </a:prstGeom>
          <a:noFill/>
        </p:spPr>
        <p:txBody>
          <a:bodyPr wrap="square">
            <a:spAutoFit/>
          </a:bodyPr>
          <a:lstStyle/>
          <a:p>
            <a:pPr>
              <a:buNone/>
            </a:pPr>
            <a:r>
              <a:rPr lang="en-US" sz="2800" b="1" dirty="0"/>
              <a:t>🛠 Framework Improvements</a:t>
            </a:r>
          </a:p>
          <a:p>
            <a:pPr marL="342900" lvl="0" indent="-342900">
              <a:buFont typeface="Arial" panose="020B0604020202020204" pitchFamily="34" charset="0"/>
              <a:buChar char="•"/>
            </a:pPr>
            <a:r>
              <a:rPr lang="en-US" sz="2800" dirty="0"/>
              <a:t>Added </a:t>
            </a:r>
            <a:r>
              <a:rPr lang="en-US" sz="2800" b="1" dirty="0"/>
              <a:t>HTTP QUERY</a:t>
            </a:r>
            <a:r>
              <a:rPr lang="en-US" sz="2800" dirty="0"/>
              <a:t> method support.</a:t>
            </a:r>
          </a:p>
          <a:p>
            <a:pPr marL="342900" lvl="0" indent="-342900">
              <a:buFont typeface="Arial" panose="020B0604020202020204" pitchFamily="34" charset="0"/>
              <a:buChar char="•"/>
            </a:pPr>
            <a:r>
              <a:rPr lang="en-US" sz="2800" dirty="0"/>
              <a:t>Added </a:t>
            </a:r>
            <a:r>
              <a:rPr lang="en-US" sz="2800" dirty="0" err="1">
                <a:latin typeface="Arial"/>
              </a:rPr>
              <a:t>HasAbpJsonConversion</a:t>
            </a:r>
            <a:r>
              <a:rPr lang="en-US" sz="2800" dirty="0"/>
              <a:t> property builder extension.</a:t>
            </a:r>
          </a:p>
          <a:p>
            <a:pPr marL="342900" lvl="0" indent="-342900">
              <a:buFont typeface="Arial" panose="020B0604020202020204" pitchFamily="34" charset="0"/>
              <a:buChar char="•"/>
            </a:pPr>
            <a:r>
              <a:rPr lang="en-US" sz="2800" dirty="0"/>
              <a:t>Better request cancellation support (</a:t>
            </a:r>
            <a:r>
              <a:rPr lang="en-US" sz="2800" dirty="0" err="1">
                <a:latin typeface="Arial"/>
              </a:rPr>
              <a:t>RequestAborted</a:t>
            </a:r>
            <a:r>
              <a:rPr lang="en-US" sz="2800" dirty="0"/>
              <a:t>).</a:t>
            </a:r>
          </a:p>
          <a:p>
            <a:pPr marL="342900" lvl="0" indent="-342900">
              <a:buFont typeface="Arial" panose="020B0604020202020204" pitchFamily="34" charset="0"/>
              <a:buChar char="•"/>
            </a:pPr>
            <a:r>
              <a:rPr lang="en-US" sz="2800" dirty="0"/>
              <a:t>Unit of Work improvements (complete before response starts).</a:t>
            </a:r>
          </a:p>
          <a:p>
            <a:pPr marL="342900" lvl="0" indent="-342900">
              <a:buFont typeface="Arial" panose="020B0604020202020204" pitchFamily="34" charset="0"/>
              <a:buChar char="•"/>
            </a:pPr>
            <a:r>
              <a:rPr lang="en-US" sz="2800" dirty="0"/>
              <a:t>Better handling of dynamic background jobs/events.</a:t>
            </a:r>
          </a:p>
          <a:p>
            <a:pPr marL="342900" lvl="0" indent="-342900">
              <a:buFont typeface="Arial" panose="020B0604020202020204" pitchFamily="34" charset="0"/>
              <a:buChar char="•"/>
            </a:pPr>
            <a:r>
              <a:rPr lang="en-US" sz="2800" dirty="0" err="1"/>
              <a:t>ConfigureAwait</a:t>
            </a:r>
            <a:r>
              <a:rPr lang="en-US" sz="2800" dirty="0"/>
              <a:t> shared </a:t>
            </a:r>
            <a:r>
              <a:rPr lang="en-US" sz="2800" dirty="0" err="1"/>
              <a:t>MSBuild</a:t>
            </a:r>
            <a:r>
              <a:rPr lang="en-US" sz="2800" dirty="0"/>
              <a:t> property.</a:t>
            </a:r>
          </a:p>
        </p:txBody>
      </p:sp>
    </p:spTree>
    <p:extLst>
      <p:ext uri="{BB962C8B-B14F-4D97-AF65-F5344CB8AC3E}">
        <p14:creationId xmlns:p14="http://schemas.microsoft.com/office/powerpoint/2010/main" val="99671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FCA20973-C5D5-1EE2-D24B-EE8F7E88DF2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CF7492-5972-227A-0014-BCC8859C3711}"/>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6E2BB2C4-7DD5-74BD-FDB1-76206329C657}"/>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6053471-56C1-A7CC-55BB-B41AD916CB96}"/>
              </a:ext>
            </a:extLst>
          </p:cNvPr>
          <p:cNvSpPr txBox="1"/>
          <p:nvPr/>
        </p:nvSpPr>
        <p:spPr>
          <a:xfrm>
            <a:off x="442453" y="1489673"/>
            <a:ext cx="9182595" cy="3539430"/>
          </a:xfrm>
          <a:prstGeom prst="rect">
            <a:avLst/>
          </a:prstGeom>
          <a:noFill/>
        </p:spPr>
        <p:txBody>
          <a:bodyPr wrap="square">
            <a:spAutoFit/>
          </a:bodyPr>
          <a:lstStyle/>
          <a:p>
            <a:pPr>
              <a:buNone/>
            </a:pPr>
            <a:r>
              <a:rPr lang="en-US" sz="2800" b="1" dirty="0"/>
              <a:t>🔒 Security &amp; Reliability</a:t>
            </a:r>
          </a:p>
          <a:p>
            <a:pPr marL="342900" lvl="0" indent="-342900">
              <a:buFont typeface="Arial" panose="020B0604020202020204" pitchFamily="34" charset="0"/>
              <a:buChar char="•"/>
            </a:pPr>
            <a:r>
              <a:rPr lang="en-US" sz="2800" dirty="0"/>
              <a:t>Fixed </a:t>
            </a:r>
            <a:r>
              <a:rPr lang="en-US" sz="2800" dirty="0" err="1"/>
              <a:t>antiforgery</a:t>
            </a:r>
            <a:r>
              <a:rPr lang="en-US" sz="2800" dirty="0"/>
              <a:t> authentication ordering.</a:t>
            </a:r>
          </a:p>
          <a:p>
            <a:pPr marL="342900" lvl="0" indent="-342900">
              <a:buFont typeface="Arial" panose="020B0604020202020204" pitchFamily="34" charset="0"/>
              <a:buChar char="•"/>
            </a:pPr>
            <a:r>
              <a:rPr lang="en-US" sz="2800" dirty="0"/>
              <a:t>Improved identity session validation.</a:t>
            </a:r>
          </a:p>
          <a:p>
            <a:pPr marL="342900" lvl="0" indent="-342900">
              <a:buFont typeface="Arial" panose="020B0604020202020204" pitchFamily="34" charset="0"/>
              <a:buChar char="•"/>
            </a:pPr>
            <a:r>
              <a:rPr lang="en-US" sz="2800" dirty="0"/>
              <a:t>Prevented last sign-in concurrency issues.</a:t>
            </a:r>
          </a:p>
          <a:p>
            <a:pPr marL="342900" lvl="0" indent="-342900">
              <a:buFont typeface="Arial" panose="020B0604020202020204" pitchFamily="34" charset="0"/>
              <a:buChar char="•"/>
            </a:pPr>
            <a:r>
              <a:rPr lang="en-US" sz="2800" dirty="0"/>
              <a:t>Tenant connection strings:</a:t>
            </a:r>
          </a:p>
          <a:p>
            <a:pPr marL="742950" lvl="1" indent="-285750">
              <a:buFont typeface="Arial" panose="020B0604020202020204" pitchFamily="34" charset="0"/>
              <a:buChar char="•"/>
            </a:pPr>
            <a:r>
              <a:rPr lang="en-US" sz="2800" dirty="0"/>
              <a:t>removed from audit logs</a:t>
            </a:r>
          </a:p>
          <a:p>
            <a:pPr marL="742950" lvl="1" indent="-285750">
              <a:buFont typeface="Arial" panose="020B0604020202020204" pitchFamily="34" charset="0"/>
              <a:buChar char="•"/>
            </a:pPr>
            <a:r>
              <a:rPr lang="en-US" sz="2800" dirty="0"/>
              <a:t>hashed for API keys</a:t>
            </a:r>
          </a:p>
          <a:p>
            <a:pPr marL="742950" lvl="1" indent="-285750">
              <a:buFont typeface="Arial" panose="020B0604020202020204" pitchFamily="34" charset="0"/>
              <a:buChar char="•"/>
            </a:pPr>
            <a:r>
              <a:rPr lang="en-US" sz="2800" dirty="0"/>
              <a:t>sent in request body instead of URL.</a:t>
            </a:r>
          </a:p>
        </p:txBody>
      </p:sp>
    </p:spTree>
    <p:extLst>
      <p:ext uri="{BB962C8B-B14F-4D97-AF65-F5344CB8AC3E}">
        <p14:creationId xmlns:p14="http://schemas.microsoft.com/office/powerpoint/2010/main" val="2518707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837F291D-2084-F99A-05F9-838AAB9F30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D8F48C-1D7A-F3CA-AE40-05C421D346A0}"/>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CC5B6AE8-CF50-E46D-50AC-7E57C7E37D19}"/>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754A99F-C2EE-C636-D7D9-E83C6A526156}"/>
              </a:ext>
            </a:extLst>
          </p:cNvPr>
          <p:cNvSpPr txBox="1"/>
          <p:nvPr/>
        </p:nvSpPr>
        <p:spPr>
          <a:xfrm>
            <a:off x="442453" y="1366755"/>
            <a:ext cx="11749547" cy="4401205"/>
          </a:xfrm>
          <a:prstGeom prst="rect">
            <a:avLst/>
          </a:prstGeom>
          <a:noFill/>
        </p:spPr>
        <p:txBody>
          <a:bodyPr wrap="square">
            <a:spAutoFit/>
          </a:bodyPr>
          <a:lstStyle/>
          <a:p>
            <a:pPr>
              <a:buNone/>
            </a:pPr>
            <a:r>
              <a:rPr lang="en-US" sz="2800" b="1" dirty="0"/>
              <a:t>🎨 UI / UX</a:t>
            </a:r>
          </a:p>
          <a:p>
            <a:pPr marL="342900" lvl="0" indent="-342900">
              <a:buFont typeface="Arial" panose="020B0604020202020204" pitchFamily="34" charset="0"/>
              <a:buChar char="•"/>
            </a:pPr>
            <a:r>
              <a:rPr lang="en-US" sz="2800" dirty="0" err="1"/>
              <a:t>MudBlazor</a:t>
            </a:r>
            <a:r>
              <a:rPr lang="en-US" sz="2800" dirty="0"/>
              <a:t> improvements:</a:t>
            </a:r>
          </a:p>
          <a:p>
            <a:pPr marL="742950" lvl="1" indent="-285750">
              <a:buFont typeface="Arial" panose="020B0604020202020204" pitchFamily="34" charset="0"/>
              <a:buChar char="•"/>
            </a:pPr>
            <a:r>
              <a:rPr lang="en-US" sz="2800" dirty="0"/>
              <a:t>toolbar refresh</a:t>
            </a:r>
          </a:p>
          <a:p>
            <a:pPr marL="742950" lvl="1" indent="-285750">
              <a:buFont typeface="Arial" panose="020B0604020202020204" pitchFamily="34" charset="0"/>
              <a:buChar char="•"/>
            </a:pPr>
            <a:r>
              <a:rPr lang="en-US" sz="2800" dirty="0"/>
              <a:t>active-tab rendering</a:t>
            </a:r>
          </a:p>
          <a:p>
            <a:pPr marL="742950" lvl="1" indent="-285750">
              <a:buFont typeface="Arial" panose="020B0604020202020204" pitchFamily="34" charset="0"/>
              <a:buChar char="•"/>
            </a:pPr>
            <a:r>
              <a:rPr lang="en-US" sz="2800" dirty="0"/>
              <a:t>dialog focus</a:t>
            </a:r>
          </a:p>
          <a:p>
            <a:pPr marL="742950" lvl="1" indent="-285750">
              <a:buFont typeface="Arial" panose="020B0604020202020204" pitchFamily="34" charset="0"/>
              <a:buChar char="•"/>
            </a:pPr>
            <a:r>
              <a:rPr lang="en-US" sz="2800" dirty="0"/>
              <a:t>dispatcher updates</a:t>
            </a:r>
          </a:p>
          <a:p>
            <a:pPr marL="742950" lvl="1" indent="-285750">
              <a:buFont typeface="Arial" panose="020B0604020202020204" pitchFamily="34" charset="0"/>
              <a:buChar char="•"/>
            </a:pPr>
            <a:r>
              <a:rPr lang="en-US" sz="2800" dirty="0"/>
              <a:t>action menu fixes</a:t>
            </a:r>
          </a:p>
          <a:p>
            <a:pPr marL="342900" lvl="0" indent="-342900">
              <a:buFont typeface="Arial" panose="020B0604020202020204" pitchFamily="34" charset="0"/>
              <a:buChar char="•"/>
            </a:pPr>
            <a:r>
              <a:rPr lang="en-US" sz="2800" dirty="0"/>
              <a:t>Accessible password visibility toggles.</a:t>
            </a:r>
          </a:p>
          <a:p>
            <a:pPr marL="342900" lvl="0" indent="-342900">
              <a:buFont typeface="Arial" panose="020B0604020202020204" pitchFamily="34" charset="0"/>
              <a:buChar char="•"/>
            </a:pPr>
            <a:r>
              <a:rPr lang="en-US" sz="2800" dirty="0"/>
              <a:t>Removed indeterminate "Grant All" permission state.</a:t>
            </a:r>
          </a:p>
          <a:p>
            <a:pPr marL="342900" lvl="0" indent="-342900">
              <a:buFont typeface="Arial" panose="020B0604020202020204" pitchFamily="34" charset="0"/>
              <a:buChar char="•"/>
            </a:pPr>
            <a:r>
              <a:rPr lang="en-US" sz="2800" dirty="0"/>
              <a:t>Branding/logo URL fixes.</a:t>
            </a:r>
          </a:p>
        </p:txBody>
      </p:sp>
    </p:spTree>
    <p:extLst>
      <p:ext uri="{BB962C8B-B14F-4D97-AF65-F5344CB8AC3E}">
        <p14:creationId xmlns:p14="http://schemas.microsoft.com/office/powerpoint/2010/main" val="4284376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173E511-C8FF-FAF3-C1F0-E10D3DC9A9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72079A-E8DF-14CC-04D4-4AC93948D6CC}"/>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B831BBA6-970B-4C3B-1FFA-00CC74CC9C7F}"/>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7807D5-2BAB-B74E-71DE-831A529EF269}"/>
              </a:ext>
            </a:extLst>
          </p:cNvPr>
          <p:cNvSpPr txBox="1"/>
          <p:nvPr/>
        </p:nvSpPr>
        <p:spPr>
          <a:xfrm>
            <a:off x="442453" y="1901364"/>
            <a:ext cx="10055334" cy="2677656"/>
          </a:xfrm>
          <a:prstGeom prst="rect">
            <a:avLst/>
          </a:prstGeom>
          <a:noFill/>
        </p:spPr>
        <p:txBody>
          <a:bodyPr wrap="square">
            <a:spAutoFit/>
          </a:bodyPr>
          <a:lstStyle/>
          <a:p>
            <a:pPr>
              <a:buNone/>
            </a:pPr>
            <a:r>
              <a:rPr lang="en-US" sz="2800" b="1" dirty="0"/>
              <a:t>⚡ Performance &amp; Data</a:t>
            </a:r>
          </a:p>
          <a:p>
            <a:pPr marL="342900" lvl="0" indent="-342900">
              <a:buFont typeface="Arial" panose="020B0604020202020204" pitchFamily="34" charset="0"/>
              <a:buChar char="•"/>
            </a:pPr>
            <a:r>
              <a:rPr lang="en-US" sz="2800" dirty="0"/>
              <a:t>Fixed </a:t>
            </a:r>
            <a:r>
              <a:rPr lang="en-US" sz="2800" dirty="0" err="1"/>
              <a:t>Mapperly</a:t>
            </a:r>
            <a:r>
              <a:rPr lang="en-US" sz="2800" dirty="0"/>
              <a:t> </a:t>
            </a:r>
            <a:r>
              <a:rPr lang="en-US" sz="2800" dirty="0" err="1">
                <a:latin typeface="Arial"/>
              </a:rPr>
              <a:t>ExtraProperties</a:t>
            </a:r>
            <a:r>
              <a:rPr lang="en-US" sz="2800" dirty="0"/>
              <a:t>.</a:t>
            </a:r>
          </a:p>
          <a:p>
            <a:pPr marL="342900" lvl="0" indent="-342900">
              <a:buFont typeface="Arial" panose="020B0604020202020204" pitchFamily="34" charset="0"/>
              <a:buChar char="•"/>
            </a:pPr>
            <a:r>
              <a:rPr lang="en-US" sz="2800" dirty="0"/>
              <a:t>Fixed MySQL EF Core 10 issues.</a:t>
            </a:r>
          </a:p>
          <a:p>
            <a:pPr marL="342900" lvl="0" indent="-342900">
              <a:buFont typeface="Arial" panose="020B0604020202020204" pitchFamily="34" charset="0"/>
              <a:buChar char="•"/>
            </a:pPr>
            <a:r>
              <a:rPr lang="en-US" sz="2800" dirty="0"/>
              <a:t>Query ordering before paging.</a:t>
            </a:r>
          </a:p>
          <a:p>
            <a:pPr marL="342900" lvl="0" indent="-342900">
              <a:buFont typeface="Arial" panose="020B0604020202020204" pitchFamily="34" charset="0"/>
              <a:buChar char="•"/>
            </a:pPr>
            <a:r>
              <a:rPr lang="en-US" sz="2800" dirty="0"/>
              <a:t>Aggregate root update optimization.</a:t>
            </a:r>
          </a:p>
          <a:p>
            <a:pPr marL="342900" lvl="0" indent="-342900">
              <a:buFont typeface="Arial" panose="020B0604020202020204" pitchFamily="34" charset="0"/>
              <a:buChar char="•"/>
            </a:pPr>
            <a:r>
              <a:rPr lang="en-US" sz="2800" dirty="0"/>
              <a:t>User deletion cleanup improvements.</a:t>
            </a:r>
          </a:p>
        </p:txBody>
      </p:sp>
    </p:spTree>
    <p:extLst>
      <p:ext uri="{BB962C8B-B14F-4D97-AF65-F5344CB8AC3E}">
        <p14:creationId xmlns:p14="http://schemas.microsoft.com/office/powerpoint/2010/main" val="3778853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D2014901-87EB-19A0-DA19-7E7364E2EF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5D62D3-C790-7D8A-05BB-22A278C1A159}"/>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10.7.0</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C8775CA1-287E-1BCF-C5C0-27BCE7BD93B1}"/>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9AE4CE1-3ABF-1F63-7644-F21F7EE63D48}"/>
              </a:ext>
            </a:extLst>
          </p:cNvPr>
          <p:cNvSpPr txBox="1"/>
          <p:nvPr/>
        </p:nvSpPr>
        <p:spPr>
          <a:xfrm>
            <a:off x="442453" y="1530176"/>
            <a:ext cx="10977648" cy="4401205"/>
          </a:xfrm>
          <a:prstGeom prst="rect">
            <a:avLst/>
          </a:prstGeom>
          <a:noFill/>
        </p:spPr>
        <p:txBody>
          <a:bodyPr wrap="square">
            <a:spAutoFit/>
          </a:bodyPr>
          <a:lstStyle/>
          <a:p>
            <a:pPr>
              <a:buNone/>
            </a:pPr>
            <a:r>
              <a:rPr lang="en-US" sz="2800" b="1" dirty="0"/>
              <a:t>🌐 Frontend &amp; Dependencies</a:t>
            </a:r>
          </a:p>
          <a:p>
            <a:pPr>
              <a:buNone/>
            </a:pPr>
            <a:r>
              <a:rPr lang="en-US" sz="2800" dirty="0"/>
              <a:t>Upgraded many packages including:</a:t>
            </a:r>
          </a:p>
          <a:p>
            <a:pPr marL="342900" lvl="0" indent="-342900">
              <a:buFont typeface="Arial" panose="020B0604020202020204" pitchFamily="34" charset="0"/>
              <a:buChar char="•"/>
            </a:pPr>
            <a:r>
              <a:rPr lang="en-US" sz="2800" dirty="0" err="1"/>
              <a:t>MudBlazor</a:t>
            </a:r>
            <a:r>
              <a:rPr lang="en-US" sz="2800" dirty="0"/>
              <a:t> 9.7</a:t>
            </a:r>
          </a:p>
          <a:p>
            <a:pPr marL="342900" lvl="0" indent="-342900">
              <a:buFont typeface="Arial" panose="020B0604020202020204" pitchFamily="34" charset="0"/>
              <a:buChar char="•"/>
            </a:pPr>
            <a:r>
              <a:rPr lang="en-US" sz="2800" dirty="0" err="1"/>
              <a:t>Blazorise</a:t>
            </a:r>
            <a:r>
              <a:rPr lang="en-US" sz="2800" dirty="0"/>
              <a:t> 2.3</a:t>
            </a:r>
          </a:p>
          <a:p>
            <a:pPr marL="342900" lvl="0" indent="-342900">
              <a:buFont typeface="Arial" panose="020B0604020202020204" pitchFamily="34" charset="0"/>
              <a:buChar char="•"/>
            </a:pPr>
            <a:r>
              <a:rPr lang="en-US" sz="2800" dirty="0"/>
              <a:t>jQuery 4</a:t>
            </a:r>
          </a:p>
          <a:p>
            <a:pPr marL="342900" lvl="0" indent="-342900">
              <a:buFont typeface="Arial" panose="020B0604020202020204" pitchFamily="34" charset="0"/>
              <a:buChar char="•"/>
            </a:pPr>
            <a:r>
              <a:rPr lang="en-US" sz="2800" dirty="0" err="1"/>
              <a:t>MongoDB.Driver</a:t>
            </a:r>
            <a:r>
              <a:rPr lang="en-US" sz="2800" dirty="0"/>
              <a:t> 3.12</a:t>
            </a:r>
          </a:p>
          <a:p>
            <a:pPr marL="342900" lvl="0" indent="-342900">
              <a:buFont typeface="Arial" panose="020B0604020202020204" pitchFamily="34" charset="0"/>
              <a:buChar char="•"/>
            </a:pPr>
            <a:r>
              <a:rPr lang="en-US" sz="2800" dirty="0" err="1"/>
              <a:t>Npgsql</a:t>
            </a:r>
            <a:r>
              <a:rPr lang="en-US" sz="2800" dirty="0"/>
              <a:t> 10.0.3</a:t>
            </a:r>
          </a:p>
          <a:p>
            <a:pPr marL="342900" lvl="0" indent="-342900">
              <a:buFont typeface="Arial" panose="020B0604020202020204" pitchFamily="34" charset="0"/>
              <a:buChar char="•"/>
            </a:pPr>
            <a:r>
              <a:rPr lang="en-US" sz="2800" dirty="0"/>
              <a:t>AWS SDK</a:t>
            </a:r>
          </a:p>
          <a:p>
            <a:pPr marL="342900" lvl="0" indent="-342900">
              <a:buFont typeface="Arial" panose="020B0604020202020204" pitchFamily="34" charset="0"/>
              <a:buChar char="•"/>
            </a:pPr>
            <a:r>
              <a:rPr lang="en-US" sz="2800" dirty="0"/>
              <a:t>Angular 22.1</a:t>
            </a:r>
          </a:p>
          <a:p>
            <a:pPr marL="342900" lvl="0" indent="-342900">
              <a:buFont typeface="Arial" panose="020B0604020202020204" pitchFamily="34" charset="0"/>
              <a:buChar char="•"/>
            </a:pPr>
            <a:r>
              <a:rPr lang="en-US" sz="2800" dirty="0"/>
              <a:t>React dependency updates</a:t>
            </a:r>
          </a:p>
        </p:txBody>
      </p:sp>
    </p:spTree>
    <p:extLst>
      <p:ext uri="{BB962C8B-B14F-4D97-AF65-F5344CB8AC3E}">
        <p14:creationId xmlns:p14="http://schemas.microsoft.com/office/powerpoint/2010/main" val="2589069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A6FC73FA-C672-B3DD-45EE-3CCEFE5C16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49E0AB-8A4A-5661-6197-F77C78A071E2}"/>
              </a:ext>
            </a:extLst>
          </p:cNvPr>
          <p:cNvPicPr>
            <a:picLocks noChangeAspect="1"/>
          </p:cNvPicPr>
          <p:nvPr/>
        </p:nvPicPr>
        <p:blipFill>
          <a:blip r:embed="rId4"/>
          <a:stretch>
            <a:fillRect/>
          </a:stretch>
        </p:blipFill>
        <p:spPr>
          <a:xfrm>
            <a:off x="466354" y="209684"/>
            <a:ext cx="11259292" cy="6438631"/>
          </a:xfrm>
          <a:prstGeom prst="rect">
            <a:avLst/>
          </a:prstGeom>
        </p:spPr>
      </p:pic>
      <p:grpSp>
        <p:nvGrpSpPr>
          <p:cNvPr id="4" name="Group 3">
            <a:extLst>
              <a:ext uri="{FF2B5EF4-FFF2-40B4-BE49-F238E27FC236}">
                <a16:creationId xmlns:a16="http://schemas.microsoft.com/office/drawing/2014/main" id="{280A4D0D-3FA4-AAAC-DC56-9E3AA207ADA7}"/>
              </a:ext>
            </a:extLst>
          </p:cNvPr>
          <p:cNvGrpSpPr/>
          <p:nvPr/>
        </p:nvGrpSpPr>
        <p:grpSpPr>
          <a:xfrm>
            <a:off x="1457242" y="3764828"/>
            <a:ext cx="1507953" cy="881986"/>
            <a:chOff x="9812050" y="1040711"/>
            <a:chExt cx="1819511" cy="1582450"/>
          </a:xfrm>
        </p:grpSpPr>
        <p:sp>
          <p:nvSpPr>
            <p:cNvPr id="5" name="Speech Bubble: Oval 4">
              <a:extLst>
                <a:ext uri="{FF2B5EF4-FFF2-40B4-BE49-F238E27FC236}">
                  <a16:creationId xmlns:a16="http://schemas.microsoft.com/office/drawing/2014/main" id="{7774A3EB-115A-02FD-C4EA-5B6A1D05FBC5}"/>
                </a:ext>
              </a:extLst>
            </p:cNvPr>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7" name="Connector: Curved 6">
              <a:extLst>
                <a:ext uri="{FF2B5EF4-FFF2-40B4-BE49-F238E27FC236}">
                  <a16:creationId xmlns:a16="http://schemas.microsoft.com/office/drawing/2014/main" id="{9A8D1F81-2EB0-DF1F-8207-527483A4D856}"/>
                </a:ext>
              </a:extLst>
            </p:cNvPr>
            <p:cNvCxnSpPr>
              <a:cxnSpLocks/>
              <a:endCxn id="5"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6F4AD1BA-15F4-EF14-7439-8D03AA156DF6}"/>
              </a:ext>
            </a:extLst>
          </p:cNvPr>
          <p:cNvPicPr>
            <a:picLocks noChangeAspect="1"/>
          </p:cNvPicPr>
          <p:nvPr/>
        </p:nvPicPr>
        <p:blipFill>
          <a:blip r:embed="rId5"/>
          <a:stretch>
            <a:fillRect/>
          </a:stretch>
        </p:blipFill>
        <p:spPr>
          <a:xfrm>
            <a:off x="709164" y="4646814"/>
            <a:ext cx="1939301" cy="1945142"/>
          </a:xfrm>
          <a:prstGeom prst="rect">
            <a:avLst/>
          </a:prstGeom>
        </p:spPr>
      </p:pic>
    </p:spTree>
    <p:extLst>
      <p:ext uri="{BB962C8B-B14F-4D97-AF65-F5344CB8AC3E}">
        <p14:creationId xmlns:p14="http://schemas.microsoft.com/office/powerpoint/2010/main" val="40082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82855A75-5BF4-DF93-599F-05A8FEFE10A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C702B45-0EFC-91C8-090C-858321F3060C}"/>
              </a:ext>
            </a:extLst>
          </p:cNvPr>
          <p:cNvPicPr>
            <a:picLocks noChangeAspect="1"/>
          </p:cNvPicPr>
          <p:nvPr/>
        </p:nvPicPr>
        <p:blipFill>
          <a:blip r:embed="rId4"/>
          <a:stretch>
            <a:fillRect/>
          </a:stretch>
        </p:blipFill>
        <p:spPr>
          <a:xfrm>
            <a:off x="953175" y="215900"/>
            <a:ext cx="10285650" cy="6438900"/>
          </a:xfrm>
          <a:prstGeom prst="rect">
            <a:avLst/>
          </a:prstGeom>
        </p:spPr>
      </p:pic>
      <p:pic>
        <p:nvPicPr>
          <p:cNvPr id="11" name="Picture 10">
            <a:extLst>
              <a:ext uri="{FF2B5EF4-FFF2-40B4-BE49-F238E27FC236}">
                <a16:creationId xmlns:a16="http://schemas.microsoft.com/office/drawing/2014/main" id="{4F99CC1D-2429-67EB-F81F-72776A7911A4}"/>
              </a:ext>
            </a:extLst>
          </p:cNvPr>
          <p:cNvPicPr>
            <a:picLocks noChangeAspect="1"/>
          </p:cNvPicPr>
          <p:nvPr/>
        </p:nvPicPr>
        <p:blipFill>
          <a:blip r:embed="rId5"/>
          <a:stretch>
            <a:fillRect/>
          </a:stretch>
        </p:blipFill>
        <p:spPr>
          <a:xfrm>
            <a:off x="1114961" y="4721252"/>
            <a:ext cx="1943100" cy="1859104"/>
          </a:xfrm>
          <a:prstGeom prst="rect">
            <a:avLst/>
          </a:prstGeom>
        </p:spPr>
      </p:pic>
      <p:grpSp>
        <p:nvGrpSpPr>
          <p:cNvPr id="12" name="Scan Callout Group"/>
          <p:cNvGrpSpPr/>
          <p:nvPr/>
        </p:nvGrpSpPr>
        <p:grpSpPr>
          <a:xfrm>
            <a:off x="1457242" y="3764828"/>
            <a:ext cx="1507953" cy="881986"/>
            <a:chOff x="9812050" y="1040711"/>
            <a:chExt cx="1819511" cy="1582450"/>
          </a:xfrm>
        </p:grpSpPr>
        <p:sp>
          <p:nvSpPr>
            <p:cNvPr id="13"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4" name="Connector: Curved"/>
            <p:cNvCxnSpPr>
              <a:cxnSpLocks/>
              <a:endCxn id="13"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803317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3A44D2BA-BDD2-5F63-BF7B-5FB6BBF7EF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B31BB6-C1BD-1675-0956-E3759B69CE9E}"/>
              </a:ext>
            </a:extLst>
          </p:cNvPr>
          <p:cNvPicPr>
            <a:picLocks noChangeAspect="1"/>
          </p:cNvPicPr>
          <p:nvPr/>
        </p:nvPicPr>
        <p:blipFill>
          <a:blip r:embed="rId4"/>
          <a:stretch>
            <a:fillRect/>
          </a:stretch>
        </p:blipFill>
        <p:spPr>
          <a:xfrm>
            <a:off x="744679" y="215900"/>
            <a:ext cx="10702642" cy="6438900"/>
          </a:xfrm>
          <a:prstGeom prst="rect">
            <a:avLst/>
          </a:prstGeom>
        </p:spPr>
      </p:pic>
      <p:pic>
        <p:nvPicPr>
          <p:cNvPr id="7" name="Picture 6">
            <a:extLst>
              <a:ext uri="{FF2B5EF4-FFF2-40B4-BE49-F238E27FC236}">
                <a16:creationId xmlns:a16="http://schemas.microsoft.com/office/drawing/2014/main" id="{844E206A-DAB6-621A-2D8C-7D55231BEDDD}"/>
              </a:ext>
            </a:extLst>
          </p:cNvPr>
          <p:cNvPicPr>
            <a:picLocks noChangeAspect="1"/>
          </p:cNvPicPr>
          <p:nvPr/>
        </p:nvPicPr>
        <p:blipFill>
          <a:blip r:embed="rId5"/>
          <a:stretch>
            <a:fillRect/>
          </a:stretch>
        </p:blipFill>
        <p:spPr>
          <a:xfrm>
            <a:off x="829823" y="4729000"/>
            <a:ext cx="1943100" cy="1925802"/>
          </a:xfrm>
          <a:prstGeom prst="rect">
            <a:avLst/>
          </a:prstGeom>
        </p:spPr>
      </p:pic>
      <p:grpSp>
        <p:nvGrpSpPr>
          <p:cNvPr id="8" name="Scan Callout Group"/>
          <p:cNvGrpSpPr/>
          <p:nvPr/>
        </p:nvGrpSpPr>
        <p:grpSpPr>
          <a:xfrm>
            <a:off x="1457242" y="3764828"/>
            <a:ext cx="1507953" cy="881986"/>
            <a:chOff x="9812050" y="1040711"/>
            <a:chExt cx="1819511" cy="1582450"/>
          </a:xfrm>
        </p:grpSpPr>
        <p:sp>
          <p:nvSpPr>
            <p:cNvPr id="9"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0" name="Connector: Curved"/>
            <p:cNvCxnSpPr>
              <a:cxnSpLocks/>
              <a:endCxn id="9"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97282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5C5182E6-24C4-9332-E040-397ECCD52F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36E13B-675F-7792-FFA9-BD73FE684E33}"/>
              </a:ext>
            </a:extLst>
          </p:cNvPr>
          <p:cNvPicPr>
            <a:picLocks noChangeAspect="1"/>
          </p:cNvPicPr>
          <p:nvPr/>
        </p:nvPicPr>
        <p:blipFill>
          <a:blip r:embed="rId4"/>
          <a:stretch>
            <a:fillRect/>
          </a:stretch>
        </p:blipFill>
        <p:spPr>
          <a:xfrm>
            <a:off x="779030" y="215900"/>
            <a:ext cx="10633941" cy="6438900"/>
          </a:xfrm>
          <a:prstGeom prst="rect">
            <a:avLst/>
          </a:prstGeom>
        </p:spPr>
      </p:pic>
      <p:pic>
        <p:nvPicPr>
          <p:cNvPr id="5" name="Picture 4">
            <a:extLst>
              <a:ext uri="{FF2B5EF4-FFF2-40B4-BE49-F238E27FC236}">
                <a16:creationId xmlns:a16="http://schemas.microsoft.com/office/drawing/2014/main" id="{13E7FC65-7FF6-4A70-E4B9-88B9720D1D3A}"/>
              </a:ext>
            </a:extLst>
          </p:cNvPr>
          <p:cNvPicPr>
            <a:picLocks noChangeAspect="1"/>
          </p:cNvPicPr>
          <p:nvPr/>
        </p:nvPicPr>
        <p:blipFill>
          <a:blip r:embed="rId5"/>
          <a:stretch>
            <a:fillRect/>
          </a:stretch>
        </p:blipFill>
        <p:spPr>
          <a:xfrm>
            <a:off x="711200" y="4677029"/>
            <a:ext cx="1943100" cy="1914271"/>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703637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D4B1290-C4A7-7709-3855-536FBB46C3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1A0759-74FB-1BDF-3314-56458AB57A67}"/>
              </a:ext>
            </a:extLst>
          </p:cNvPr>
          <p:cNvPicPr>
            <a:picLocks noChangeAspect="1"/>
          </p:cNvPicPr>
          <p:nvPr/>
        </p:nvPicPr>
        <p:blipFill>
          <a:blip r:embed="rId4"/>
          <a:stretch>
            <a:fillRect/>
          </a:stretch>
        </p:blipFill>
        <p:spPr>
          <a:xfrm>
            <a:off x="323397" y="215900"/>
            <a:ext cx="11545207" cy="6438900"/>
          </a:xfrm>
          <a:prstGeom prst="rect">
            <a:avLst/>
          </a:prstGeom>
        </p:spPr>
      </p:pic>
      <p:pic>
        <p:nvPicPr>
          <p:cNvPr id="5" name="Picture 4">
            <a:extLst>
              <a:ext uri="{FF2B5EF4-FFF2-40B4-BE49-F238E27FC236}">
                <a16:creationId xmlns:a16="http://schemas.microsoft.com/office/drawing/2014/main" id="{028B4155-F15A-0836-1A05-B0FE85ABB15C}"/>
              </a:ext>
            </a:extLst>
          </p:cNvPr>
          <p:cNvPicPr>
            <a:picLocks noChangeAspect="1"/>
          </p:cNvPicPr>
          <p:nvPr/>
        </p:nvPicPr>
        <p:blipFill>
          <a:blip r:embed="rId5"/>
          <a:stretch>
            <a:fillRect/>
          </a:stretch>
        </p:blipFill>
        <p:spPr>
          <a:xfrm>
            <a:off x="711200" y="4682693"/>
            <a:ext cx="1943100" cy="1908607"/>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787401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CD175141-067A-1648-361E-EDE774BA2D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DB78330-8FBE-0662-2DF0-D68382A87D75}"/>
              </a:ext>
            </a:extLst>
          </p:cNvPr>
          <p:cNvPicPr>
            <a:picLocks noChangeAspect="1"/>
          </p:cNvPicPr>
          <p:nvPr/>
        </p:nvPicPr>
        <p:blipFill>
          <a:blip r:embed="rId4"/>
          <a:stretch>
            <a:fillRect/>
          </a:stretch>
        </p:blipFill>
        <p:spPr>
          <a:xfrm>
            <a:off x="362813" y="215900"/>
            <a:ext cx="11466374" cy="6438900"/>
          </a:xfrm>
          <a:prstGeom prst="rect">
            <a:avLst/>
          </a:prstGeom>
        </p:spPr>
      </p:pic>
      <p:pic>
        <p:nvPicPr>
          <p:cNvPr id="5" name="Picture 4">
            <a:extLst>
              <a:ext uri="{FF2B5EF4-FFF2-40B4-BE49-F238E27FC236}">
                <a16:creationId xmlns:a16="http://schemas.microsoft.com/office/drawing/2014/main" id="{596F5F7F-6505-E5A7-AA5B-8F65E96AB1F8}"/>
              </a:ext>
            </a:extLst>
          </p:cNvPr>
          <p:cNvPicPr>
            <a:picLocks noChangeAspect="1"/>
          </p:cNvPicPr>
          <p:nvPr/>
        </p:nvPicPr>
        <p:blipFill>
          <a:blip r:embed="rId5"/>
          <a:stretch>
            <a:fillRect/>
          </a:stretch>
        </p:blipFill>
        <p:spPr>
          <a:xfrm>
            <a:off x="711200" y="4665396"/>
            <a:ext cx="1943100" cy="1925904"/>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663328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A206E02F-0E59-2C55-ECE4-BC6AEE1C3E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7AC5C9-F549-4F70-78DF-906E9759E9EA}"/>
              </a:ext>
            </a:extLst>
          </p:cNvPr>
          <p:cNvPicPr>
            <a:picLocks noChangeAspect="1"/>
          </p:cNvPicPr>
          <p:nvPr/>
        </p:nvPicPr>
        <p:blipFill>
          <a:blip r:embed="rId4"/>
          <a:stretch>
            <a:fillRect/>
          </a:stretch>
        </p:blipFill>
        <p:spPr>
          <a:xfrm>
            <a:off x="329555" y="215900"/>
            <a:ext cx="11532891" cy="6438900"/>
          </a:xfrm>
          <a:prstGeom prst="rect">
            <a:avLst/>
          </a:prstGeom>
        </p:spPr>
      </p:pic>
      <p:pic>
        <p:nvPicPr>
          <p:cNvPr id="5" name="Picture 4">
            <a:extLst>
              <a:ext uri="{FF2B5EF4-FFF2-40B4-BE49-F238E27FC236}">
                <a16:creationId xmlns:a16="http://schemas.microsoft.com/office/drawing/2014/main" id="{EFB52D97-7645-44D0-F8A0-2FE4E74D16A9}"/>
              </a:ext>
            </a:extLst>
          </p:cNvPr>
          <p:cNvPicPr>
            <a:picLocks noChangeAspect="1"/>
          </p:cNvPicPr>
          <p:nvPr/>
        </p:nvPicPr>
        <p:blipFill>
          <a:blip r:embed="rId5"/>
          <a:stretch>
            <a:fillRect/>
          </a:stretch>
        </p:blipFill>
        <p:spPr>
          <a:xfrm>
            <a:off x="711200" y="4682591"/>
            <a:ext cx="1943100" cy="1908709"/>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762232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407D1915-4864-5F4D-2D1E-19C1193E16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A888E3-6DAB-43DF-5657-40326402549A}"/>
              </a:ext>
            </a:extLst>
          </p:cNvPr>
          <p:cNvPicPr>
            <a:picLocks noChangeAspect="1"/>
          </p:cNvPicPr>
          <p:nvPr/>
        </p:nvPicPr>
        <p:blipFill>
          <a:blip r:embed="rId4"/>
          <a:stretch>
            <a:fillRect/>
          </a:stretch>
        </p:blipFill>
        <p:spPr>
          <a:xfrm>
            <a:off x="838991" y="215900"/>
            <a:ext cx="10514018" cy="6438900"/>
          </a:xfrm>
          <a:prstGeom prst="rect">
            <a:avLst/>
          </a:prstGeom>
        </p:spPr>
      </p:pic>
      <p:pic>
        <p:nvPicPr>
          <p:cNvPr id="5" name="Picture 4">
            <a:extLst>
              <a:ext uri="{FF2B5EF4-FFF2-40B4-BE49-F238E27FC236}">
                <a16:creationId xmlns:a16="http://schemas.microsoft.com/office/drawing/2014/main" id="{76DE5825-1C80-55F3-594E-2B85273B9208}"/>
              </a:ext>
            </a:extLst>
          </p:cNvPr>
          <p:cNvPicPr>
            <a:picLocks noChangeAspect="1"/>
          </p:cNvPicPr>
          <p:nvPr/>
        </p:nvPicPr>
        <p:blipFill>
          <a:blip r:embed="rId5"/>
          <a:stretch>
            <a:fillRect/>
          </a:stretch>
        </p:blipFill>
        <p:spPr>
          <a:xfrm>
            <a:off x="711200" y="4653832"/>
            <a:ext cx="1943100" cy="1937468"/>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388944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919E5710-7CF1-2FD4-01D3-2BCD893ADDA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0454E5-3295-4AE7-E800-FBDA7133E167}"/>
              </a:ext>
            </a:extLst>
          </p:cNvPr>
          <p:cNvPicPr>
            <a:picLocks noChangeAspect="1"/>
          </p:cNvPicPr>
          <p:nvPr/>
        </p:nvPicPr>
        <p:blipFill>
          <a:blip r:embed="rId4"/>
          <a:stretch>
            <a:fillRect/>
          </a:stretch>
        </p:blipFill>
        <p:spPr>
          <a:xfrm>
            <a:off x="590684" y="215900"/>
            <a:ext cx="11010632" cy="6438900"/>
          </a:xfrm>
          <a:prstGeom prst="rect">
            <a:avLst/>
          </a:prstGeom>
        </p:spPr>
      </p:pic>
      <p:pic>
        <p:nvPicPr>
          <p:cNvPr id="5" name="Picture 4">
            <a:extLst>
              <a:ext uri="{FF2B5EF4-FFF2-40B4-BE49-F238E27FC236}">
                <a16:creationId xmlns:a16="http://schemas.microsoft.com/office/drawing/2014/main" id="{2BB9F794-671C-3C7B-B7F6-CCD1213C19E9}"/>
              </a:ext>
            </a:extLst>
          </p:cNvPr>
          <p:cNvPicPr>
            <a:picLocks noChangeAspect="1"/>
          </p:cNvPicPr>
          <p:nvPr/>
        </p:nvPicPr>
        <p:blipFill>
          <a:blip r:embed="rId5"/>
          <a:stretch>
            <a:fillRect/>
          </a:stretch>
        </p:blipFill>
        <p:spPr>
          <a:xfrm>
            <a:off x="711200" y="4648200"/>
            <a:ext cx="1943100" cy="1943100"/>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87411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1B295243-82F2-D24B-FE99-582FBDE9BE6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BD08C9-B2EF-EB22-B9BD-FBCF2603E019}"/>
              </a:ext>
            </a:extLst>
          </p:cNvPr>
          <p:cNvPicPr>
            <a:picLocks noChangeAspect="1"/>
          </p:cNvPicPr>
          <p:nvPr/>
        </p:nvPicPr>
        <p:blipFill>
          <a:blip r:embed="rId4"/>
          <a:stretch>
            <a:fillRect/>
          </a:stretch>
        </p:blipFill>
        <p:spPr>
          <a:xfrm>
            <a:off x="818037" y="215900"/>
            <a:ext cx="10555926" cy="6438900"/>
          </a:xfrm>
          <a:prstGeom prst="rect">
            <a:avLst/>
          </a:prstGeom>
        </p:spPr>
      </p:pic>
      <p:pic>
        <p:nvPicPr>
          <p:cNvPr id="7" name="Picture 6">
            <a:extLst>
              <a:ext uri="{FF2B5EF4-FFF2-40B4-BE49-F238E27FC236}">
                <a16:creationId xmlns:a16="http://schemas.microsoft.com/office/drawing/2014/main" id="{CFBBF870-BA0C-EB7C-B247-4A8B78163F7F}"/>
              </a:ext>
            </a:extLst>
          </p:cNvPr>
          <p:cNvPicPr>
            <a:picLocks noChangeAspect="1"/>
          </p:cNvPicPr>
          <p:nvPr/>
        </p:nvPicPr>
        <p:blipFill>
          <a:blip r:embed="rId5"/>
          <a:stretch>
            <a:fillRect/>
          </a:stretch>
        </p:blipFill>
        <p:spPr>
          <a:xfrm>
            <a:off x="711200" y="4538972"/>
            <a:ext cx="1943100" cy="2052328"/>
          </a:xfrm>
          <a:prstGeom prst="rect">
            <a:avLst/>
          </a:prstGeom>
        </p:spPr>
      </p:pic>
      <p:grpSp>
        <p:nvGrpSpPr>
          <p:cNvPr id="8" name="Scan Callout Group"/>
          <p:cNvGrpSpPr/>
          <p:nvPr/>
        </p:nvGrpSpPr>
        <p:grpSpPr>
          <a:xfrm>
            <a:off x="1457242" y="3764828"/>
            <a:ext cx="1507953" cy="881986"/>
            <a:chOff x="9812050" y="1040711"/>
            <a:chExt cx="1819511" cy="1582450"/>
          </a:xfrm>
        </p:grpSpPr>
        <p:sp>
          <p:nvSpPr>
            <p:cNvPr id="9"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0" name="Connector: Curved"/>
            <p:cNvCxnSpPr>
              <a:cxnSpLocks/>
              <a:endCxn id="9"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758345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DF7EAA5B-1D66-AA18-C2BF-F38AA2357A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850F02-2AC9-9246-98AC-4E6E5ED17BDD}"/>
              </a:ext>
            </a:extLst>
          </p:cNvPr>
          <p:cNvPicPr>
            <a:picLocks noChangeAspect="1"/>
          </p:cNvPicPr>
          <p:nvPr/>
        </p:nvPicPr>
        <p:blipFill>
          <a:blip r:embed="rId4"/>
          <a:stretch>
            <a:fillRect/>
          </a:stretch>
        </p:blipFill>
        <p:spPr>
          <a:xfrm>
            <a:off x="868432" y="215900"/>
            <a:ext cx="10455137" cy="6438900"/>
          </a:xfrm>
          <a:prstGeom prst="rect">
            <a:avLst/>
          </a:prstGeom>
        </p:spPr>
      </p:pic>
      <p:pic>
        <p:nvPicPr>
          <p:cNvPr id="5" name="Picture 4">
            <a:extLst>
              <a:ext uri="{FF2B5EF4-FFF2-40B4-BE49-F238E27FC236}">
                <a16:creationId xmlns:a16="http://schemas.microsoft.com/office/drawing/2014/main" id="{760ED4A2-01CB-BDB8-6697-7B075D7B9639}"/>
              </a:ext>
            </a:extLst>
          </p:cNvPr>
          <p:cNvPicPr>
            <a:picLocks noChangeAspect="1"/>
          </p:cNvPicPr>
          <p:nvPr/>
        </p:nvPicPr>
        <p:blipFill>
          <a:blip r:embed="rId5"/>
          <a:stretch>
            <a:fillRect/>
          </a:stretch>
        </p:blipFill>
        <p:spPr>
          <a:xfrm>
            <a:off x="711200" y="4636668"/>
            <a:ext cx="1943100" cy="1954632"/>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4049131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F0E4FBCE-B86A-74F6-372C-071D2227ED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983683-C64B-6BDF-148D-75685940660F}"/>
              </a:ext>
            </a:extLst>
          </p:cNvPr>
          <p:cNvPicPr>
            <a:picLocks noChangeAspect="1"/>
          </p:cNvPicPr>
          <p:nvPr/>
        </p:nvPicPr>
        <p:blipFill>
          <a:blip r:embed="rId4"/>
          <a:stretch>
            <a:fillRect/>
          </a:stretch>
        </p:blipFill>
        <p:spPr>
          <a:xfrm>
            <a:off x="409472" y="215900"/>
            <a:ext cx="11373057" cy="6438900"/>
          </a:xfrm>
          <a:prstGeom prst="rect">
            <a:avLst/>
          </a:prstGeom>
        </p:spPr>
      </p:pic>
      <p:pic>
        <p:nvPicPr>
          <p:cNvPr id="5" name="Picture 4">
            <a:extLst>
              <a:ext uri="{FF2B5EF4-FFF2-40B4-BE49-F238E27FC236}">
                <a16:creationId xmlns:a16="http://schemas.microsoft.com/office/drawing/2014/main" id="{07DE485D-9620-F227-238C-5C4B7E95FF70}"/>
              </a:ext>
            </a:extLst>
          </p:cNvPr>
          <p:cNvPicPr>
            <a:picLocks noChangeAspect="1"/>
          </p:cNvPicPr>
          <p:nvPr/>
        </p:nvPicPr>
        <p:blipFill>
          <a:blip r:embed="rId5"/>
          <a:stretch>
            <a:fillRect/>
          </a:stretch>
        </p:blipFill>
        <p:spPr>
          <a:xfrm>
            <a:off x="711200" y="4619371"/>
            <a:ext cx="1943100" cy="1971929"/>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176662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0B2ECBD9-5318-5FB7-EBCA-FD3241C4E82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3C5CC0-375A-995A-0302-3428CEF3B8CF}"/>
              </a:ext>
            </a:extLst>
          </p:cNvPr>
          <p:cNvPicPr>
            <a:picLocks noChangeAspect="1"/>
          </p:cNvPicPr>
          <p:nvPr/>
        </p:nvPicPr>
        <p:blipFill>
          <a:blip r:embed="rId3"/>
          <a:stretch>
            <a:fillRect/>
          </a:stretch>
        </p:blipFill>
        <p:spPr>
          <a:xfrm>
            <a:off x="323397" y="215900"/>
            <a:ext cx="11545207" cy="6438900"/>
          </a:xfrm>
          <a:prstGeom prst="rect">
            <a:avLst/>
          </a:prstGeom>
        </p:spPr>
      </p:pic>
      <p:pic>
        <p:nvPicPr>
          <p:cNvPr id="5" name="Picture 4">
            <a:extLst>
              <a:ext uri="{FF2B5EF4-FFF2-40B4-BE49-F238E27FC236}">
                <a16:creationId xmlns:a16="http://schemas.microsoft.com/office/drawing/2014/main" id="{312D2ED8-5518-E9AE-A63A-C40CFD15BBE6}"/>
              </a:ext>
            </a:extLst>
          </p:cNvPr>
          <p:cNvPicPr>
            <a:picLocks noChangeAspect="1"/>
          </p:cNvPicPr>
          <p:nvPr/>
        </p:nvPicPr>
        <p:blipFill>
          <a:blip r:embed="rId4"/>
          <a:stretch>
            <a:fillRect/>
          </a:stretch>
        </p:blipFill>
        <p:spPr>
          <a:xfrm>
            <a:off x="711200" y="4687855"/>
            <a:ext cx="1943100" cy="1903445"/>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527087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37A9428-60D2-D930-1B23-48FB1AB2A1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6F1058-FC15-E7E6-BA85-D516A64DD18E}"/>
              </a:ext>
            </a:extLst>
          </p:cNvPr>
          <p:cNvPicPr>
            <a:picLocks noChangeAspect="1"/>
          </p:cNvPicPr>
          <p:nvPr/>
        </p:nvPicPr>
        <p:blipFill>
          <a:blip r:embed="rId4"/>
          <a:stretch>
            <a:fillRect/>
          </a:stretch>
        </p:blipFill>
        <p:spPr>
          <a:xfrm>
            <a:off x="860329" y="215900"/>
            <a:ext cx="10471342" cy="6438900"/>
          </a:xfrm>
          <a:prstGeom prst="rect">
            <a:avLst/>
          </a:prstGeom>
        </p:spPr>
      </p:pic>
      <p:pic>
        <p:nvPicPr>
          <p:cNvPr id="5" name="Picture 4">
            <a:extLst>
              <a:ext uri="{FF2B5EF4-FFF2-40B4-BE49-F238E27FC236}">
                <a16:creationId xmlns:a16="http://schemas.microsoft.com/office/drawing/2014/main" id="{FF4A77D4-F67A-F718-4B82-DEBB30FFF013}"/>
              </a:ext>
            </a:extLst>
          </p:cNvPr>
          <p:cNvPicPr>
            <a:picLocks noChangeAspect="1"/>
          </p:cNvPicPr>
          <p:nvPr/>
        </p:nvPicPr>
        <p:blipFill>
          <a:blip r:embed="rId5"/>
          <a:stretch>
            <a:fillRect/>
          </a:stretch>
        </p:blipFill>
        <p:spPr>
          <a:xfrm>
            <a:off x="711200" y="4642434"/>
            <a:ext cx="1943100" cy="1948866"/>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432112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F9F45EE1-174C-74BC-CFE3-709B3BDC1B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EC5438-96A0-0E19-9EDB-05882FABE4D7}"/>
              </a:ext>
            </a:extLst>
          </p:cNvPr>
          <p:cNvPicPr>
            <a:picLocks noChangeAspect="1"/>
          </p:cNvPicPr>
          <p:nvPr/>
        </p:nvPicPr>
        <p:blipFill>
          <a:blip r:embed="rId3"/>
          <a:stretch>
            <a:fillRect/>
          </a:stretch>
        </p:blipFill>
        <p:spPr>
          <a:xfrm>
            <a:off x="906439" y="215900"/>
            <a:ext cx="10379122" cy="6438900"/>
          </a:xfrm>
          <a:prstGeom prst="rect">
            <a:avLst/>
          </a:prstGeom>
        </p:spPr>
      </p:pic>
      <p:pic>
        <p:nvPicPr>
          <p:cNvPr id="5" name="Picture 4">
            <a:extLst>
              <a:ext uri="{FF2B5EF4-FFF2-40B4-BE49-F238E27FC236}">
                <a16:creationId xmlns:a16="http://schemas.microsoft.com/office/drawing/2014/main" id="{1E3B33C8-0B72-913F-240D-CBA6E7BAAC86}"/>
              </a:ext>
            </a:extLst>
          </p:cNvPr>
          <p:cNvPicPr>
            <a:picLocks noChangeAspect="1"/>
          </p:cNvPicPr>
          <p:nvPr/>
        </p:nvPicPr>
        <p:blipFill>
          <a:blip r:embed="rId4"/>
          <a:stretch>
            <a:fillRect/>
          </a:stretch>
        </p:blipFill>
        <p:spPr>
          <a:xfrm>
            <a:off x="711200" y="4648200"/>
            <a:ext cx="1943100" cy="1943100"/>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545180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5E91548E-FC37-7F60-0479-C18EE5BA636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2813E8-4680-11A7-C107-05001B884B58}"/>
              </a:ext>
            </a:extLst>
          </p:cNvPr>
          <p:cNvPicPr>
            <a:picLocks noChangeAspect="1"/>
          </p:cNvPicPr>
          <p:nvPr/>
        </p:nvPicPr>
        <p:blipFill>
          <a:blip r:embed="rId3"/>
          <a:stretch>
            <a:fillRect/>
          </a:stretch>
        </p:blipFill>
        <p:spPr>
          <a:xfrm>
            <a:off x="407719" y="215900"/>
            <a:ext cx="11376563" cy="6438900"/>
          </a:xfrm>
          <a:prstGeom prst="rect">
            <a:avLst/>
          </a:prstGeom>
        </p:spPr>
      </p:pic>
      <p:pic>
        <p:nvPicPr>
          <p:cNvPr id="5" name="Picture 4">
            <a:extLst>
              <a:ext uri="{FF2B5EF4-FFF2-40B4-BE49-F238E27FC236}">
                <a16:creationId xmlns:a16="http://schemas.microsoft.com/office/drawing/2014/main" id="{F8058B53-0697-29BE-20FC-A8EF859FBD35}"/>
              </a:ext>
            </a:extLst>
          </p:cNvPr>
          <p:cNvPicPr>
            <a:picLocks noChangeAspect="1"/>
          </p:cNvPicPr>
          <p:nvPr/>
        </p:nvPicPr>
        <p:blipFill>
          <a:blip r:embed="rId4"/>
          <a:stretch>
            <a:fillRect/>
          </a:stretch>
        </p:blipFill>
        <p:spPr>
          <a:xfrm>
            <a:off x="711200" y="4648200"/>
            <a:ext cx="1943100" cy="1943100"/>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650007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983CA503-AC03-0E4E-1279-4021B7764F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4950D8-C80B-A531-0527-B375A7EB737B}"/>
              </a:ext>
            </a:extLst>
          </p:cNvPr>
          <p:cNvPicPr>
            <a:picLocks noChangeAspect="1"/>
          </p:cNvPicPr>
          <p:nvPr/>
        </p:nvPicPr>
        <p:blipFill>
          <a:blip r:embed="rId3"/>
          <a:stretch>
            <a:fillRect/>
          </a:stretch>
        </p:blipFill>
        <p:spPr>
          <a:xfrm>
            <a:off x="529393" y="215900"/>
            <a:ext cx="11133214" cy="6438900"/>
          </a:xfrm>
          <a:prstGeom prst="rect">
            <a:avLst/>
          </a:prstGeom>
        </p:spPr>
      </p:pic>
      <p:pic>
        <p:nvPicPr>
          <p:cNvPr id="5" name="Picture 4">
            <a:extLst>
              <a:ext uri="{FF2B5EF4-FFF2-40B4-BE49-F238E27FC236}">
                <a16:creationId xmlns:a16="http://schemas.microsoft.com/office/drawing/2014/main" id="{C2662ECC-4ABF-250F-F332-DD1BF9D13C4F}"/>
              </a:ext>
            </a:extLst>
          </p:cNvPr>
          <p:cNvPicPr>
            <a:picLocks noChangeAspect="1"/>
          </p:cNvPicPr>
          <p:nvPr/>
        </p:nvPicPr>
        <p:blipFill>
          <a:blip r:embed="rId4"/>
          <a:stretch>
            <a:fillRect/>
          </a:stretch>
        </p:blipFill>
        <p:spPr>
          <a:xfrm>
            <a:off x="711200" y="4642434"/>
            <a:ext cx="1943100" cy="1948866"/>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094000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DA529439-52A8-0E87-8A9E-759CF8334E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7DC670-DE4F-6B9C-3549-A88251F4A4D7}"/>
              </a:ext>
            </a:extLst>
          </p:cNvPr>
          <p:cNvPicPr>
            <a:picLocks noChangeAspect="1"/>
          </p:cNvPicPr>
          <p:nvPr/>
        </p:nvPicPr>
        <p:blipFill>
          <a:blip r:embed="rId3"/>
          <a:stretch>
            <a:fillRect/>
          </a:stretch>
        </p:blipFill>
        <p:spPr>
          <a:xfrm>
            <a:off x="279400" y="218549"/>
            <a:ext cx="11633200" cy="6433603"/>
          </a:xfrm>
          <a:prstGeom prst="rect">
            <a:avLst/>
          </a:prstGeom>
        </p:spPr>
      </p:pic>
      <p:pic>
        <p:nvPicPr>
          <p:cNvPr id="5" name="Picture 4">
            <a:extLst>
              <a:ext uri="{FF2B5EF4-FFF2-40B4-BE49-F238E27FC236}">
                <a16:creationId xmlns:a16="http://schemas.microsoft.com/office/drawing/2014/main" id="{DDF3B5CD-090A-6B81-DDAB-60DB695158A6}"/>
              </a:ext>
            </a:extLst>
          </p:cNvPr>
          <p:cNvPicPr>
            <a:picLocks noChangeAspect="1"/>
          </p:cNvPicPr>
          <p:nvPr/>
        </p:nvPicPr>
        <p:blipFill>
          <a:blip r:embed="rId4"/>
          <a:stretch>
            <a:fillRect/>
          </a:stretch>
        </p:blipFill>
        <p:spPr>
          <a:xfrm>
            <a:off x="413010" y="4742206"/>
            <a:ext cx="1943100" cy="1897245"/>
          </a:xfrm>
          <a:prstGeom prst="rect">
            <a:avLst/>
          </a:prstGeom>
        </p:spPr>
      </p:pic>
      <p:grpSp>
        <p:nvGrpSpPr>
          <p:cNvPr id="6" name="Scan Callout Group"/>
          <p:cNvGrpSpPr/>
          <p:nvPr/>
        </p:nvGrpSpPr>
        <p:grpSpPr>
          <a:xfrm>
            <a:off x="1207860" y="3847519"/>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39885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F9D9C044-4E26-ED6D-0373-363B407583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54281A-B93F-4B9A-3CED-495CD686BC31}"/>
              </a:ext>
            </a:extLst>
          </p:cNvPr>
          <p:cNvPicPr>
            <a:picLocks noChangeAspect="1"/>
          </p:cNvPicPr>
          <p:nvPr/>
        </p:nvPicPr>
        <p:blipFill>
          <a:blip r:embed="rId3"/>
          <a:stretch>
            <a:fillRect/>
          </a:stretch>
        </p:blipFill>
        <p:spPr>
          <a:xfrm>
            <a:off x="381623" y="215900"/>
            <a:ext cx="11428755" cy="6438900"/>
          </a:xfrm>
          <a:prstGeom prst="rect">
            <a:avLst/>
          </a:prstGeom>
        </p:spPr>
      </p:pic>
      <p:pic>
        <p:nvPicPr>
          <p:cNvPr id="5" name="Picture 4">
            <a:extLst>
              <a:ext uri="{FF2B5EF4-FFF2-40B4-BE49-F238E27FC236}">
                <a16:creationId xmlns:a16="http://schemas.microsoft.com/office/drawing/2014/main" id="{F9458DE1-F8CB-8A7D-A7FB-F36CE9FD0658}"/>
              </a:ext>
            </a:extLst>
          </p:cNvPr>
          <p:cNvPicPr>
            <a:picLocks noChangeAspect="1"/>
          </p:cNvPicPr>
          <p:nvPr/>
        </p:nvPicPr>
        <p:blipFill>
          <a:blip r:embed="rId4"/>
          <a:stretch>
            <a:fillRect/>
          </a:stretch>
        </p:blipFill>
        <p:spPr>
          <a:xfrm>
            <a:off x="711200" y="4607958"/>
            <a:ext cx="1943100" cy="1983342"/>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848538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D26B8C38-CCCB-CD68-213E-E46F0D1C7F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B09DF69-6368-B57F-0723-05FCECA066FF}"/>
              </a:ext>
            </a:extLst>
          </p:cNvPr>
          <p:cNvPicPr>
            <a:picLocks noChangeAspect="1"/>
          </p:cNvPicPr>
          <p:nvPr/>
        </p:nvPicPr>
        <p:blipFill>
          <a:blip r:embed="rId4"/>
          <a:stretch>
            <a:fillRect/>
          </a:stretch>
        </p:blipFill>
        <p:spPr>
          <a:xfrm>
            <a:off x="351148" y="215900"/>
            <a:ext cx="11489704" cy="6438900"/>
          </a:xfrm>
          <a:prstGeom prst="rect">
            <a:avLst/>
          </a:prstGeom>
        </p:spPr>
      </p:pic>
      <p:pic>
        <p:nvPicPr>
          <p:cNvPr id="5" name="Picture 4">
            <a:extLst>
              <a:ext uri="{FF2B5EF4-FFF2-40B4-BE49-F238E27FC236}">
                <a16:creationId xmlns:a16="http://schemas.microsoft.com/office/drawing/2014/main" id="{EA85DBA6-FAE6-0A52-E51C-BB59120D8BDF}"/>
              </a:ext>
            </a:extLst>
          </p:cNvPr>
          <p:cNvPicPr>
            <a:picLocks noChangeAspect="1"/>
          </p:cNvPicPr>
          <p:nvPr/>
        </p:nvPicPr>
        <p:blipFill>
          <a:blip r:embed="rId5"/>
          <a:stretch>
            <a:fillRect/>
          </a:stretch>
        </p:blipFill>
        <p:spPr>
          <a:xfrm>
            <a:off x="711200" y="4665195"/>
            <a:ext cx="1943100" cy="1926105"/>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3037643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72A20ED-87D3-620C-A7C8-7453271403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F91AED4-27FD-D8D7-8644-0B33ACA04CC5}"/>
              </a:ext>
            </a:extLst>
          </p:cNvPr>
          <p:cNvPicPr>
            <a:picLocks noChangeAspect="1"/>
          </p:cNvPicPr>
          <p:nvPr/>
        </p:nvPicPr>
        <p:blipFill>
          <a:blip r:embed="rId4"/>
          <a:stretch>
            <a:fillRect/>
          </a:stretch>
        </p:blipFill>
        <p:spPr>
          <a:xfrm>
            <a:off x="279400" y="400340"/>
            <a:ext cx="11633200" cy="6070020"/>
          </a:xfrm>
          <a:prstGeom prst="rect">
            <a:avLst/>
          </a:prstGeom>
        </p:spPr>
      </p:pic>
      <p:pic>
        <p:nvPicPr>
          <p:cNvPr id="5" name="Picture 4">
            <a:extLst>
              <a:ext uri="{FF2B5EF4-FFF2-40B4-BE49-F238E27FC236}">
                <a16:creationId xmlns:a16="http://schemas.microsoft.com/office/drawing/2014/main" id="{BB27083D-AC8D-A420-5BF5-60827F8F235D}"/>
              </a:ext>
            </a:extLst>
          </p:cNvPr>
          <p:cNvPicPr>
            <a:picLocks noChangeAspect="1"/>
          </p:cNvPicPr>
          <p:nvPr/>
        </p:nvPicPr>
        <p:blipFill>
          <a:blip r:embed="rId5"/>
          <a:stretch>
            <a:fillRect/>
          </a:stretch>
        </p:blipFill>
        <p:spPr>
          <a:xfrm>
            <a:off x="440184" y="4646811"/>
            <a:ext cx="1943100" cy="1983946"/>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034542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9E8DD648-F33B-204F-8DA5-67BCEBAF53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F392AE-6070-735C-7143-7AD165387E53}"/>
              </a:ext>
            </a:extLst>
          </p:cNvPr>
          <p:cNvPicPr>
            <a:picLocks noChangeAspect="1"/>
          </p:cNvPicPr>
          <p:nvPr/>
        </p:nvPicPr>
        <p:blipFill>
          <a:blip r:embed="rId4"/>
          <a:stretch>
            <a:fillRect/>
          </a:stretch>
        </p:blipFill>
        <p:spPr>
          <a:xfrm>
            <a:off x="438633" y="215900"/>
            <a:ext cx="11314734" cy="6438900"/>
          </a:xfrm>
          <a:prstGeom prst="rect">
            <a:avLst/>
          </a:prstGeom>
        </p:spPr>
      </p:pic>
      <p:pic>
        <p:nvPicPr>
          <p:cNvPr id="5" name="Picture 4">
            <a:extLst>
              <a:ext uri="{FF2B5EF4-FFF2-40B4-BE49-F238E27FC236}">
                <a16:creationId xmlns:a16="http://schemas.microsoft.com/office/drawing/2014/main" id="{7069FD92-C99B-9318-7579-2333622E786A}"/>
              </a:ext>
            </a:extLst>
          </p:cNvPr>
          <p:cNvPicPr>
            <a:picLocks noChangeAspect="1"/>
          </p:cNvPicPr>
          <p:nvPr/>
        </p:nvPicPr>
        <p:blipFill>
          <a:blip r:embed="rId5"/>
          <a:stretch>
            <a:fillRect/>
          </a:stretch>
        </p:blipFill>
        <p:spPr>
          <a:xfrm>
            <a:off x="657757" y="4646811"/>
            <a:ext cx="1943100" cy="1948849"/>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551191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7F8624CB-F358-6D01-4A1F-D1227E237E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C15956-6D96-A590-40F3-1D06D18D6CD3}"/>
              </a:ext>
            </a:extLst>
          </p:cNvPr>
          <p:cNvPicPr>
            <a:picLocks noChangeAspect="1"/>
          </p:cNvPicPr>
          <p:nvPr/>
        </p:nvPicPr>
        <p:blipFill>
          <a:blip r:embed="rId4"/>
          <a:stretch>
            <a:fillRect/>
          </a:stretch>
        </p:blipFill>
        <p:spPr>
          <a:xfrm>
            <a:off x="337348" y="215900"/>
            <a:ext cx="11517304" cy="6438900"/>
          </a:xfrm>
          <a:prstGeom prst="rect">
            <a:avLst/>
          </a:prstGeom>
        </p:spPr>
      </p:pic>
      <p:pic>
        <p:nvPicPr>
          <p:cNvPr id="5" name="Picture 4">
            <a:extLst>
              <a:ext uri="{FF2B5EF4-FFF2-40B4-BE49-F238E27FC236}">
                <a16:creationId xmlns:a16="http://schemas.microsoft.com/office/drawing/2014/main" id="{D4453032-C766-7C44-6634-E91B01B5B0DE}"/>
              </a:ext>
            </a:extLst>
          </p:cNvPr>
          <p:cNvPicPr>
            <a:picLocks noChangeAspect="1"/>
          </p:cNvPicPr>
          <p:nvPr/>
        </p:nvPicPr>
        <p:blipFill>
          <a:blip r:embed="rId5"/>
          <a:stretch>
            <a:fillRect/>
          </a:stretch>
        </p:blipFill>
        <p:spPr>
          <a:xfrm>
            <a:off x="711200" y="4642518"/>
            <a:ext cx="1943100" cy="1948782"/>
          </a:xfrm>
          <a:prstGeom prst="rect">
            <a:avLst/>
          </a:prstGeom>
        </p:spPr>
      </p:pic>
      <p:grpSp>
        <p:nvGrpSpPr>
          <p:cNvPr id="6" name="Scan Callout Group"/>
          <p:cNvGrpSpPr/>
          <p:nvPr/>
        </p:nvGrpSpPr>
        <p:grpSpPr>
          <a:xfrm>
            <a:off x="1457242" y="3764828"/>
            <a:ext cx="1507953" cy="881986"/>
            <a:chOff x="9812050" y="1040711"/>
            <a:chExt cx="1819511" cy="1582450"/>
          </a:xfrm>
        </p:grpSpPr>
        <p:sp>
          <p:nvSpPr>
            <p:cNvPr id="7"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8" name="Connector: Curved"/>
            <p:cNvCxnSpPr>
              <a:cxnSpLocks/>
              <a:endCxn id="7"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096536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39F35FEC-384D-AA80-B8EE-C1ABFAB17E8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14405C1-A987-4FA6-B7D0-0F58D01AC575}"/>
              </a:ext>
            </a:extLst>
          </p:cNvPr>
          <p:cNvPicPr>
            <a:picLocks noChangeAspect="1"/>
          </p:cNvPicPr>
          <p:nvPr/>
        </p:nvPicPr>
        <p:blipFill>
          <a:blip r:embed="rId4"/>
          <a:stretch>
            <a:fillRect/>
          </a:stretch>
        </p:blipFill>
        <p:spPr>
          <a:xfrm>
            <a:off x="891223" y="215900"/>
            <a:ext cx="10409555" cy="6438900"/>
          </a:xfrm>
          <a:prstGeom prst="rect">
            <a:avLst/>
          </a:prstGeom>
        </p:spPr>
      </p:pic>
      <p:pic>
        <p:nvPicPr>
          <p:cNvPr id="7" name="Picture 6">
            <a:extLst>
              <a:ext uri="{FF2B5EF4-FFF2-40B4-BE49-F238E27FC236}">
                <a16:creationId xmlns:a16="http://schemas.microsoft.com/office/drawing/2014/main" id="{3392C8FC-A3D6-7F86-3FB5-83C1C96D8CD6}"/>
              </a:ext>
            </a:extLst>
          </p:cNvPr>
          <p:cNvPicPr>
            <a:picLocks noChangeAspect="1"/>
          </p:cNvPicPr>
          <p:nvPr/>
        </p:nvPicPr>
        <p:blipFill>
          <a:blip r:embed="rId5"/>
          <a:stretch>
            <a:fillRect/>
          </a:stretch>
        </p:blipFill>
        <p:spPr>
          <a:xfrm>
            <a:off x="711200" y="4659630"/>
            <a:ext cx="1943100" cy="1931670"/>
          </a:xfrm>
          <a:prstGeom prst="rect">
            <a:avLst/>
          </a:prstGeom>
        </p:spPr>
      </p:pic>
      <p:grpSp>
        <p:nvGrpSpPr>
          <p:cNvPr id="8" name="Scan Callout Group"/>
          <p:cNvGrpSpPr/>
          <p:nvPr/>
        </p:nvGrpSpPr>
        <p:grpSpPr>
          <a:xfrm>
            <a:off x="1457242" y="3764828"/>
            <a:ext cx="1507953" cy="881986"/>
            <a:chOff x="9812050" y="1040711"/>
            <a:chExt cx="1819511" cy="1582450"/>
          </a:xfrm>
        </p:grpSpPr>
        <p:sp>
          <p:nvSpPr>
            <p:cNvPr id="9" name="Speech Bubble: Oval"/>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0" name="Connector: Curved"/>
            <p:cNvCxnSpPr>
              <a:cxnSpLocks/>
              <a:endCxn id="9"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005390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EDCC9E81-CB58-2025-E561-4C0517CED2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8DBE11-852B-9C00-7403-0E0B5811A580}"/>
              </a:ext>
            </a:extLst>
          </p:cNvPr>
          <p:cNvPicPr>
            <a:picLocks noChangeAspect="1"/>
          </p:cNvPicPr>
          <p:nvPr/>
        </p:nvPicPr>
        <p:blipFill>
          <a:blip r:embed="rId4"/>
          <a:stretch>
            <a:fillRect/>
          </a:stretch>
        </p:blipFill>
        <p:spPr>
          <a:xfrm>
            <a:off x="190004" y="145616"/>
            <a:ext cx="10458697" cy="4597615"/>
          </a:xfrm>
          <a:prstGeom prst="rect">
            <a:avLst/>
          </a:prstGeom>
        </p:spPr>
      </p:pic>
      <p:pic>
        <p:nvPicPr>
          <p:cNvPr id="5" name="Picture 4">
            <a:extLst>
              <a:ext uri="{FF2B5EF4-FFF2-40B4-BE49-F238E27FC236}">
                <a16:creationId xmlns:a16="http://schemas.microsoft.com/office/drawing/2014/main" id="{E05CE17C-F189-E1D5-4F6C-329D3C1CD09F}"/>
              </a:ext>
            </a:extLst>
          </p:cNvPr>
          <p:cNvPicPr>
            <a:picLocks noChangeAspect="1"/>
          </p:cNvPicPr>
          <p:nvPr/>
        </p:nvPicPr>
        <p:blipFill>
          <a:blip r:embed="rId5"/>
          <a:stretch>
            <a:fillRect/>
          </a:stretch>
        </p:blipFill>
        <p:spPr>
          <a:xfrm>
            <a:off x="4781797" y="2682074"/>
            <a:ext cx="7243949" cy="3982810"/>
          </a:xfrm>
          <a:prstGeom prst="rect">
            <a:avLst/>
          </a:prstGeom>
          <a:ln>
            <a:noFill/>
          </a:ln>
          <a:effectLst>
            <a:outerShdw blurRad="292100" dist="139700" dir="2700000" algn="tl" rotWithShape="0">
              <a:srgbClr val="333333">
                <a:alpha val="65000"/>
              </a:srgbClr>
            </a:outerShdw>
          </a:effectLst>
        </p:spPr>
      </p:pic>
      <p:cxnSp>
        <p:nvCxnSpPr>
          <p:cNvPr id="7" name="Connector: Elbow 6">
            <a:extLst>
              <a:ext uri="{FF2B5EF4-FFF2-40B4-BE49-F238E27FC236}">
                <a16:creationId xmlns:a16="http://schemas.microsoft.com/office/drawing/2014/main" id="{A4A6B7B3-A54A-2990-6AB3-D919739B02CC}"/>
              </a:ext>
            </a:extLst>
          </p:cNvPr>
          <p:cNvCxnSpPr>
            <a:cxnSpLocks/>
          </p:cNvCxnSpPr>
          <p:nvPr/>
        </p:nvCxnSpPr>
        <p:spPr>
          <a:xfrm>
            <a:off x="1080655" y="3823855"/>
            <a:ext cx="3701142" cy="1436914"/>
          </a:xfrm>
          <a:prstGeom prst="bentConnector3">
            <a:avLst>
              <a:gd name="adj1" fmla="val 267"/>
            </a:avLst>
          </a:prstGeom>
          <a:ln w="762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6028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648BD01-FB66-3AF6-D5EC-A412CF9724B9}"/>
              </a:ext>
            </a:extLst>
          </p:cNvPr>
          <p:cNvPicPr>
            <a:picLocks noChangeAspect="1"/>
          </p:cNvPicPr>
          <p:nvPr/>
        </p:nvPicPr>
        <p:blipFill>
          <a:blip r:embed="rId2"/>
          <a:stretch>
            <a:fillRect/>
          </a:stretch>
        </p:blipFill>
        <p:spPr>
          <a:xfrm>
            <a:off x="0" y="1423307"/>
            <a:ext cx="12179817" cy="4775612"/>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1EF1BAE3-EB9C-A793-F255-CE726A88B374}"/>
              </a:ext>
            </a:extLst>
          </p:cNvPr>
          <p:cNvSpPr txBox="1"/>
          <p:nvPr/>
        </p:nvSpPr>
        <p:spPr>
          <a:xfrm>
            <a:off x="442452" y="313144"/>
            <a:ext cx="11551625" cy="553998"/>
          </a:xfrm>
          <a:prstGeom prst="rect">
            <a:avLst/>
          </a:prstGeom>
          <a:noFill/>
        </p:spPr>
        <p:txBody>
          <a:bodyPr wrap="square">
            <a:spAutoFit/>
          </a:bodyPr>
          <a:lstStyle/>
          <a:p>
            <a:r>
              <a:rPr lang="en-US" sz="3000" b="1" i="0" dirty="0">
                <a:solidFill>
                  <a:schemeClr val="tx1"/>
                </a:solidFill>
                <a:effectLst/>
                <a:latin typeface="Lexend" panose="020B0604020202020204" charset="-94"/>
              </a:rPr>
              <a:t>ENABLE/DISABLE AI AGENT AT YOUR ORGANIZATION</a:t>
            </a:r>
            <a:endParaRPr lang="en-US" sz="3000" b="1" i="0" noProof="0" dirty="0">
              <a:solidFill>
                <a:schemeClr val="tx1"/>
              </a:solidFill>
              <a:effectLst/>
              <a:latin typeface="Lexend" panose="020B0604020202020204" charset="-94"/>
            </a:endParaRPr>
          </a:p>
        </p:txBody>
      </p:sp>
    </p:spTree>
    <p:extLst>
      <p:ext uri="{BB962C8B-B14F-4D97-AF65-F5344CB8AC3E}">
        <p14:creationId xmlns:p14="http://schemas.microsoft.com/office/powerpoint/2010/main" val="4159175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89FB49C-1F8A-7935-9740-316C2F36D0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89EC20-42A6-626F-04F4-F290C12FF408}"/>
              </a:ext>
            </a:extLst>
          </p:cNvPr>
          <p:cNvPicPr>
            <a:picLocks noChangeAspect="1"/>
          </p:cNvPicPr>
          <p:nvPr/>
        </p:nvPicPr>
        <p:blipFill>
          <a:blip r:embed="rId4"/>
          <a:stretch>
            <a:fillRect/>
          </a:stretch>
        </p:blipFill>
        <p:spPr>
          <a:xfrm>
            <a:off x="565989" y="1327937"/>
            <a:ext cx="11060021" cy="5107998"/>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B36B373D-D337-FAED-0C8D-7DDB40AFF7B0}"/>
              </a:ext>
            </a:extLst>
          </p:cNvPr>
          <p:cNvSpPr txBox="1"/>
          <p:nvPr/>
        </p:nvSpPr>
        <p:spPr>
          <a:xfrm>
            <a:off x="442452" y="313144"/>
            <a:ext cx="11551625" cy="553998"/>
          </a:xfrm>
          <a:prstGeom prst="rect">
            <a:avLst/>
          </a:prstGeom>
          <a:noFill/>
        </p:spPr>
        <p:txBody>
          <a:bodyPr wrap="square">
            <a:spAutoFit/>
          </a:bodyPr>
          <a:lstStyle/>
          <a:p>
            <a:r>
              <a:rPr lang="en-US" sz="3000" b="1" i="0" dirty="0">
                <a:solidFill>
                  <a:schemeClr val="tx1"/>
                </a:solidFill>
                <a:effectLst/>
                <a:latin typeface="Lexend" panose="020B0604020202020204" charset="-94"/>
              </a:rPr>
              <a:t>ABP STUDI</a:t>
            </a:r>
            <a:r>
              <a:rPr lang="en-US" sz="3000" b="1" dirty="0">
                <a:solidFill>
                  <a:schemeClr val="tx1"/>
                </a:solidFill>
                <a:latin typeface="Lexend" panose="020B0604020202020204" charset="-94"/>
              </a:rPr>
              <a:t>O NOW WORKS WITH </a:t>
            </a:r>
            <a:r>
              <a:rPr lang="en-US" sz="3000" b="1" u="sng" dirty="0">
                <a:solidFill>
                  <a:schemeClr val="tx1"/>
                </a:solidFill>
                <a:latin typeface="Lexend" panose="020B0604020202020204" charset="-94"/>
              </a:rPr>
              <a:t>ALL .NET SOLUTIONS</a:t>
            </a:r>
            <a:endParaRPr lang="en-US" sz="3000" b="1" i="0" u="sng" noProof="0" dirty="0">
              <a:solidFill>
                <a:schemeClr val="tx1"/>
              </a:solidFill>
              <a:effectLst/>
              <a:latin typeface="Lexend" panose="020B0604020202020204" charset="-94"/>
            </a:endParaRPr>
          </a:p>
        </p:txBody>
      </p:sp>
      <p:sp>
        <p:nvSpPr>
          <p:cNvPr id="8" name="TextBox 7">
            <a:extLst>
              <a:ext uri="{FF2B5EF4-FFF2-40B4-BE49-F238E27FC236}">
                <a16:creationId xmlns:a16="http://schemas.microsoft.com/office/drawing/2014/main" id="{C3EBD1B2-7B47-D1FD-57CC-7B081A5D26E5}"/>
              </a:ext>
            </a:extLst>
          </p:cNvPr>
          <p:cNvSpPr txBox="1"/>
          <p:nvPr/>
        </p:nvSpPr>
        <p:spPr>
          <a:xfrm>
            <a:off x="442452" y="773939"/>
            <a:ext cx="11551625" cy="400110"/>
          </a:xfrm>
          <a:prstGeom prst="rect">
            <a:avLst/>
          </a:prstGeom>
          <a:noFill/>
        </p:spPr>
        <p:txBody>
          <a:bodyPr wrap="square">
            <a:spAutoFit/>
          </a:bodyPr>
          <a:lstStyle/>
          <a:p>
            <a:r>
              <a:rPr lang="en-US" sz="2000" i="0" dirty="0">
                <a:solidFill>
                  <a:schemeClr val="tx1"/>
                </a:solidFill>
                <a:effectLst/>
                <a:latin typeface="Lexend" panose="020B0604020202020204" charset="-94"/>
              </a:rPr>
              <a:t>YES</a:t>
            </a:r>
            <a:r>
              <a:rPr lang="en-US" sz="2000" dirty="0">
                <a:solidFill>
                  <a:schemeClr val="tx1"/>
                </a:solidFill>
                <a:latin typeface="Lexend" panose="020B0604020202020204" charset="-94"/>
              </a:rPr>
              <a:t>, </a:t>
            </a:r>
            <a:r>
              <a:rPr lang="en-US" sz="2000" i="0" dirty="0">
                <a:solidFill>
                  <a:schemeClr val="tx1"/>
                </a:solidFill>
                <a:effectLst/>
                <a:latin typeface="Lexend" panose="020B0604020202020204" charset="-94"/>
              </a:rPr>
              <a:t>EVEN IF IT’S NOT AN ABP PROJECT</a:t>
            </a:r>
            <a:endParaRPr lang="en-US" sz="2000" i="0" noProof="0" dirty="0">
              <a:solidFill>
                <a:schemeClr val="tx1"/>
              </a:solidFill>
              <a:effectLst/>
              <a:latin typeface="Lexend" panose="020B0604020202020204" charset="-94"/>
            </a:endParaRPr>
          </a:p>
        </p:txBody>
      </p:sp>
    </p:spTree>
    <p:extLst>
      <p:ext uri="{BB962C8B-B14F-4D97-AF65-F5344CB8AC3E}">
        <p14:creationId xmlns:p14="http://schemas.microsoft.com/office/powerpoint/2010/main" val="509928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7842D128-93F6-67F2-64D7-2B15B9F3A71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7F3332-BCCE-C7D8-BB74-B7223912A355}"/>
              </a:ext>
            </a:extLst>
          </p:cNvPr>
          <p:cNvSpPr txBox="1"/>
          <p:nvPr/>
        </p:nvSpPr>
        <p:spPr>
          <a:xfrm>
            <a:off x="442452" y="313144"/>
            <a:ext cx="11551625" cy="461665"/>
          </a:xfrm>
          <a:prstGeom prst="rect">
            <a:avLst/>
          </a:prstGeom>
          <a:noFill/>
        </p:spPr>
        <p:txBody>
          <a:bodyPr wrap="square">
            <a:spAutoFit/>
          </a:bodyPr>
          <a:lstStyle/>
          <a:p>
            <a:r>
              <a:rPr lang="en-US" sz="2400" b="1" i="0" dirty="0">
                <a:solidFill>
                  <a:schemeClr val="tx1"/>
                </a:solidFill>
                <a:effectLst/>
                <a:latin typeface="Lexend" panose="020B0604020202020204" charset="-94"/>
              </a:rPr>
              <a:t>WHAT YOU CAN DO WITH ABP STUDI</a:t>
            </a:r>
            <a:r>
              <a:rPr lang="en-US" sz="2400" b="1" dirty="0">
                <a:solidFill>
                  <a:schemeClr val="tx1"/>
                </a:solidFill>
                <a:latin typeface="Lexend" panose="020B0604020202020204" charset="-94"/>
              </a:rPr>
              <a:t>O ON NON-ABP PROJECTS</a:t>
            </a:r>
            <a:endParaRPr lang="en-US" sz="2400" b="1" i="0" u="sng" noProof="0" dirty="0">
              <a:solidFill>
                <a:schemeClr val="tx1"/>
              </a:solidFill>
              <a:effectLst/>
              <a:latin typeface="Lexend" panose="020B0604020202020204" charset="-94"/>
            </a:endParaRPr>
          </a:p>
        </p:txBody>
      </p:sp>
      <p:graphicFrame>
        <p:nvGraphicFramePr>
          <p:cNvPr id="5" name="Table 4">
            <a:extLst>
              <a:ext uri="{FF2B5EF4-FFF2-40B4-BE49-F238E27FC236}">
                <a16:creationId xmlns:a16="http://schemas.microsoft.com/office/drawing/2014/main" id="{6E3A26EB-CB65-781D-7CD0-BCDC95205136}"/>
              </a:ext>
            </a:extLst>
          </p:cNvPr>
          <p:cNvGraphicFramePr>
            <a:graphicFrameLocks noGrp="1"/>
          </p:cNvGraphicFramePr>
          <p:nvPr>
            <p:extLst>
              <p:ext uri="{D42A27DB-BD31-4B8C-83A1-F6EECF244321}">
                <p14:modId xmlns:p14="http://schemas.microsoft.com/office/powerpoint/2010/main" val="3528410732"/>
              </p:ext>
            </p:extLst>
          </p:nvPr>
        </p:nvGraphicFramePr>
        <p:xfrm>
          <a:off x="558140" y="774809"/>
          <a:ext cx="11067803" cy="5879996"/>
        </p:xfrm>
        <a:graphic>
          <a:graphicData uri="http://schemas.openxmlformats.org/drawingml/2006/table">
            <a:tbl>
              <a:tblPr>
                <a:tableStyleId>{616DA210-FB5B-4158-B5E0-FEB733F419BA}</a:tableStyleId>
              </a:tblPr>
              <a:tblGrid>
                <a:gridCol w="2363190">
                  <a:extLst>
                    <a:ext uri="{9D8B030D-6E8A-4147-A177-3AD203B41FA5}">
                      <a16:colId xmlns:a16="http://schemas.microsoft.com/office/drawing/2014/main" val="1669207637"/>
                    </a:ext>
                  </a:extLst>
                </a:gridCol>
                <a:gridCol w="8704613">
                  <a:extLst>
                    <a:ext uri="{9D8B030D-6E8A-4147-A177-3AD203B41FA5}">
                      <a16:colId xmlns:a16="http://schemas.microsoft.com/office/drawing/2014/main" val="4237150491"/>
                    </a:ext>
                  </a:extLst>
                </a:gridCol>
              </a:tblGrid>
              <a:tr h="407705">
                <a:tc>
                  <a:txBody>
                    <a:bodyPr/>
                    <a:lstStyle/>
                    <a:p>
                      <a:pPr marL="0" marR="0" algn="l" fontAlgn="ctr">
                        <a:buNone/>
                      </a:pPr>
                      <a:r>
                        <a:rPr lang="en-US" sz="2400" b="1" dirty="0">
                          <a:effectLst/>
                          <a:latin typeface="+mn-lt"/>
                        </a:rPr>
                        <a:t>Area</a:t>
                      </a:r>
                      <a:endParaRPr lang="en-US" sz="2400" b="1" dirty="0">
                        <a:solidFill>
                          <a:srgbClr val="F0F6FC"/>
                        </a:solidFill>
                        <a:effectLst/>
                        <a:latin typeface="+mn-lt"/>
                      </a:endParaRPr>
                    </a:p>
                  </a:txBody>
                  <a:tcPr marL="42660" marR="42660" marT="31995" marB="31995" anchor="ctr"/>
                </a:tc>
                <a:tc>
                  <a:txBody>
                    <a:bodyPr/>
                    <a:lstStyle/>
                    <a:p>
                      <a:pPr marL="0" marR="0" algn="l" fontAlgn="ctr">
                        <a:buNone/>
                      </a:pPr>
                      <a:r>
                        <a:rPr lang="en-US" sz="2400" b="1" dirty="0">
                          <a:effectLst/>
                          <a:latin typeface="+mn-lt"/>
                        </a:rPr>
                        <a:t>What works</a:t>
                      </a:r>
                      <a:endParaRPr lang="en-US" sz="2400" b="1" dirty="0">
                        <a:solidFill>
                          <a:srgbClr val="F0F6FC"/>
                        </a:solidFill>
                        <a:effectLst/>
                        <a:latin typeface="+mn-lt"/>
                      </a:endParaRPr>
                    </a:p>
                  </a:txBody>
                  <a:tcPr marL="42660" marR="42660" marT="31995" marB="31995" anchor="ctr"/>
                </a:tc>
                <a:extLst>
                  <a:ext uri="{0D108BD9-81ED-4DB2-BD59-A6C34878D82A}">
                    <a16:rowId xmlns:a16="http://schemas.microsoft.com/office/drawing/2014/main" val="3363261504"/>
                  </a:ext>
                </a:extLst>
              </a:tr>
              <a:tr h="530403">
                <a:tc>
                  <a:txBody>
                    <a:bodyPr/>
                    <a:lstStyle/>
                    <a:p>
                      <a:pPr marL="0" marR="0" fontAlgn="ctr">
                        <a:buNone/>
                      </a:pPr>
                      <a:r>
                        <a:rPr lang="en-US" sz="1200" b="1" dirty="0">
                          <a:effectLst/>
                          <a:latin typeface="+mn-lt"/>
                        </a:rPr>
                        <a:t>Opening solutions</a:t>
                      </a:r>
                    </a:p>
                  </a:txBody>
                  <a:tcPr marL="42660" marR="42660" marT="31995" marB="31995" anchor="ctr"/>
                </a:tc>
                <a:tc>
                  <a:txBody>
                    <a:bodyPr/>
                    <a:lstStyle/>
                    <a:p>
                      <a:pPr marL="0" marR="0" fontAlgn="ctr">
                        <a:buNone/>
                      </a:pPr>
                      <a:r>
                        <a:rPr lang="en-US" sz="1200" dirty="0">
                          <a:effectLst/>
                          <a:latin typeface="+mn-lt"/>
                        </a:rPr>
                        <a:t>Pick a .</a:t>
                      </a:r>
                      <a:r>
                        <a:rPr lang="en-US" sz="1200" dirty="0" err="1">
                          <a:effectLst/>
                          <a:latin typeface="+mn-lt"/>
                        </a:rPr>
                        <a:t>sln</a:t>
                      </a:r>
                      <a:r>
                        <a:rPr lang="en-US" sz="1200" dirty="0">
                          <a:effectLst/>
                          <a:latin typeface="+mn-lt"/>
                        </a:rPr>
                        <a:t>/.</a:t>
                      </a:r>
                      <a:r>
                        <a:rPr lang="en-US" sz="1200" dirty="0" err="1">
                          <a:effectLst/>
                          <a:latin typeface="+mn-lt"/>
                        </a:rPr>
                        <a:t>slnx</a:t>
                      </a:r>
                      <a:r>
                        <a:rPr lang="en-US" sz="1200" dirty="0">
                          <a:effectLst/>
                          <a:latin typeface="+mn-lt"/>
                        </a:rPr>
                        <a:t> file directly — Studio detects it's a plain .NET solution (</a:t>
                      </a:r>
                      <a:r>
                        <a:rPr lang="en-US" sz="1200" dirty="0" err="1">
                          <a:effectLst/>
                          <a:latin typeface="+mn-lt"/>
                        </a:rPr>
                        <a:t>SolutionKindDetector</a:t>
                      </a:r>
                      <a:r>
                        <a:rPr lang="en-US" sz="1200" dirty="0">
                          <a:effectLst/>
                          <a:latin typeface="+mn-lt"/>
                        </a:rPr>
                        <a:t> looks for ABP package refs / </a:t>
                      </a:r>
                      <a:r>
                        <a:rPr lang="en-US" sz="1200" dirty="0" err="1">
                          <a:effectLst/>
                          <a:latin typeface="+mn-lt"/>
                        </a:rPr>
                        <a:t>AbpModule</a:t>
                      </a:r>
                      <a:r>
                        <a:rPr lang="en-US" sz="1200" dirty="0">
                          <a:effectLst/>
                          <a:latin typeface="+mn-lt"/>
                        </a:rPr>
                        <a:t> usage; defaults to </a:t>
                      </a:r>
                      <a:r>
                        <a:rPr lang="en-US" sz="1200" dirty="0" err="1">
                          <a:effectLst/>
                          <a:latin typeface="+mn-lt"/>
                        </a:rPr>
                        <a:t>DotNet</a:t>
                      </a:r>
                      <a:r>
                        <a:rPr lang="en-US" sz="1200" dirty="0">
                          <a:effectLst/>
                          <a:latin typeface="+mn-lt"/>
                        </a:rPr>
                        <a:t> if none found)</a:t>
                      </a:r>
                    </a:p>
                  </a:txBody>
                  <a:tcPr marL="42660" marR="42660" marT="31995" marB="31995" anchor="ctr"/>
                </a:tc>
                <a:extLst>
                  <a:ext uri="{0D108BD9-81ED-4DB2-BD59-A6C34878D82A}">
                    <a16:rowId xmlns:a16="http://schemas.microsoft.com/office/drawing/2014/main" val="3587917406"/>
                  </a:ext>
                </a:extLst>
              </a:tr>
              <a:tr h="530403">
                <a:tc>
                  <a:txBody>
                    <a:bodyPr/>
                    <a:lstStyle/>
                    <a:p>
                      <a:pPr marL="0" marR="0" fontAlgn="ctr">
                        <a:buNone/>
                      </a:pPr>
                      <a:r>
                        <a:rPr lang="en-US" sz="1200" b="1" dirty="0">
                          <a:effectLst/>
                          <a:latin typeface="+mn-lt"/>
                        </a:rPr>
                        <a:t>Run profiles</a:t>
                      </a:r>
                    </a:p>
                  </a:txBody>
                  <a:tcPr marL="42660" marR="42660" marT="31995" marB="31995" anchor="ctr"/>
                </a:tc>
                <a:tc>
                  <a:txBody>
                    <a:bodyPr/>
                    <a:lstStyle/>
                    <a:p>
                      <a:pPr marL="0" marR="0" fontAlgn="ctr">
                        <a:buNone/>
                      </a:pPr>
                      <a:r>
                        <a:rPr lang="en-US" sz="1200" dirty="0">
                          <a:effectLst/>
                          <a:latin typeface="+mn-lt"/>
                        </a:rPr>
                        <a:t>Auto-generates run profiles for any runnable project (</a:t>
                      </a:r>
                      <a:r>
                        <a:rPr lang="en-US" sz="1200" dirty="0" err="1">
                          <a:effectLst/>
                          <a:latin typeface="+mn-lt"/>
                        </a:rPr>
                        <a:t>RunnableProjectInspector</a:t>
                      </a:r>
                      <a:r>
                        <a:rPr lang="en-US" sz="1200" dirty="0">
                          <a:effectLst/>
                          <a:latin typeface="+mn-lt"/>
                        </a:rPr>
                        <a:t> classifies Web/Worker/Console projects by SDK + </a:t>
                      </a:r>
                      <a:r>
                        <a:rPr lang="en-US" sz="1200" dirty="0" err="1">
                          <a:effectLst/>
                          <a:latin typeface="+mn-lt"/>
                        </a:rPr>
                        <a:t>OutputType</a:t>
                      </a:r>
                      <a:r>
                        <a:rPr lang="en-US" sz="1200" dirty="0">
                          <a:effectLst/>
                          <a:latin typeface="+mn-lt"/>
                        </a:rPr>
                        <a:t>), not just ABP "host" packages</a:t>
                      </a:r>
                    </a:p>
                  </a:txBody>
                  <a:tcPr marL="42660" marR="42660" marT="31995" marB="31995" anchor="ctr"/>
                </a:tc>
                <a:extLst>
                  <a:ext uri="{0D108BD9-81ED-4DB2-BD59-A6C34878D82A}">
                    <a16:rowId xmlns:a16="http://schemas.microsoft.com/office/drawing/2014/main" val="70545071"/>
                  </a:ext>
                </a:extLst>
              </a:tr>
              <a:tr h="530403">
                <a:tc>
                  <a:txBody>
                    <a:bodyPr/>
                    <a:lstStyle/>
                    <a:p>
                      <a:pPr marL="0" marR="0" fontAlgn="ctr">
                        <a:buNone/>
                      </a:pPr>
                      <a:r>
                        <a:rPr lang="en-US" sz="1200" b="1" dirty="0">
                          <a:effectLst/>
                          <a:latin typeface="+mn-lt"/>
                        </a:rPr>
                        <a:t>AI Agent</a:t>
                      </a:r>
                    </a:p>
                  </a:txBody>
                  <a:tcPr marL="42660" marR="42660" marT="31995" marB="31995" anchor="ctr"/>
                </a:tc>
                <a:tc>
                  <a:txBody>
                    <a:bodyPr/>
                    <a:lstStyle/>
                    <a:p>
                      <a:pPr marL="0" marR="0" fontAlgn="ctr">
                        <a:buNone/>
                      </a:pPr>
                      <a:r>
                        <a:rPr lang="en-US" sz="1200" dirty="0">
                          <a:effectLst/>
                          <a:latin typeface="+mn-lt"/>
                        </a:rPr>
                        <a:t>Fully usable with a parallel generic .NET prompt set (</a:t>
                      </a:r>
                      <a:r>
                        <a:rPr lang="en-US" sz="1200" dirty="0" err="1">
                          <a:effectLst/>
                          <a:latin typeface="+mn-lt"/>
                        </a:rPr>
                        <a:t>DotNetAgentModeBasePrompt</a:t>
                      </a:r>
                      <a:r>
                        <a:rPr lang="en-US" sz="1200" dirty="0">
                          <a:effectLst/>
                          <a:latin typeface="+mn-lt"/>
                        </a:rPr>
                        <a:t>, </a:t>
                      </a:r>
                      <a:r>
                        <a:rPr lang="en-US" sz="1200" dirty="0" err="1">
                          <a:effectLst/>
                          <a:latin typeface="+mn-lt"/>
                        </a:rPr>
                        <a:t>DotNetPlanModeBasePrompt</a:t>
                      </a:r>
                      <a:r>
                        <a:rPr lang="en-US" sz="1200" dirty="0">
                          <a:effectLst/>
                          <a:latin typeface="+mn-lt"/>
                        </a:rPr>
                        <a:t>, </a:t>
                      </a:r>
                      <a:r>
                        <a:rPr lang="en-US" sz="1200" dirty="0" err="1">
                          <a:effectLst/>
                          <a:latin typeface="+mn-lt"/>
                        </a:rPr>
                        <a:t>DotNetAskModeBasePrompt</a:t>
                      </a:r>
                      <a:r>
                        <a:rPr lang="en-US" sz="1200" dirty="0">
                          <a:effectLst/>
                          <a:latin typeface="+mn-lt"/>
                        </a:rPr>
                        <a:t>) — no ABP framing, generic SOLID/.NET guidance instead</a:t>
                      </a:r>
                    </a:p>
                  </a:txBody>
                  <a:tcPr marL="42660" marR="42660" marT="31995" marB="31995" anchor="ctr"/>
                </a:tc>
                <a:extLst>
                  <a:ext uri="{0D108BD9-81ED-4DB2-BD59-A6C34878D82A}">
                    <a16:rowId xmlns:a16="http://schemas.microsoft.com/office/drawing/2014/main" val="4136259206"/>
                  </a:ext>
                </a:extLst>
              </a:tr>
              <a:tr h="530403">
                <a:tc>
                  <a:txBody>
                    <a:bodyPr/>
                    <a:lstStyle/>
                    <a:p>
                      <a:pPr marL="0" marR="0" fontAlgn="ctr">
                        <a:buNone/>
                      </a:pPr>
                      <a:r>
                        <a:rPr lang="en-US" sz="1200" b="1" dirty="0">
                          <a:effectLst/>
                          <a:latin typeface="+mn-lt"/>
                        </a:rPr>
                        <a:t>Code discovery tools</a:t>
                      </a:r>
                    </a:p>
                  </a:txBody>
                  <a:tcPr marL="42660" marR="42660" marT="31995" marB="31995" anchor="ctr"/>
                </a:tc>
                <a:tc>
                  <a:txBody>
                    <a:bodyPr/>
                    <a:lstStyle/>
                    <a:p>
                      <a:pPr marL="0" marR="0" fontAlgn="ctr">
                        <a:buNone/>
                      </a:pPr>
                      <a:r>
                        <a:rPr lang="en-US" sz="1200" dirty="0" err="1">
                          <a:effectLst/>
                          <a:latin typeface="+mn-lt"/>
                        </a:rPr>
                        <a:t>read_files</a:t>
                      </a:r>
                      <a:r>
                        <a:rPr lang="en-US" sz="1200" dirty="0">
                          <a:effectLst/>
                          <a:latin typeface="+mn-lt"/>
                        </a:rPr>
                        <a:t>, </a:t>
                      </a:r>
                      <a:r>
                        <a:rPr lang="en-US" sz="1200" dirty="0" err="1">
                          <a:effectLst/>
                          <a:latin typeface="+mn-lt"/>
                        </a:rPr>
                        <a:t>search_code</a:t>
                      </a:r>
                      <a:r>
                        <a:rPr lang="en-US" sz="1200" dirty="0">
                          <a:effectLst/>
                          <a:latin typeface="+mn-lt"/>
                        </a:rPr>
                        <a:t>, </a:t>
                      </a:r>
                      <a:r>
                        <a:rPr lang="en-US" sz="1200" dirty="0" err="1">
                          <a:effectLst/>
                          <a:latin typeface="+mn-lt"/>
                        </a:rPr>
                        <a:t>semantic_code_search</a:t>
                      </a:r>
                      <a:r>
                        <a:rPr lang="en-US" sz="1200" dirty="0">
                          <a:effectLst/>
                          <a:latin typeface="+mn-lt"/>
                        </a:rPr>
                        <a:t>, </a:t>
                      </a:r>
                      <a:r>
                        <a:rPr lang="en-US" sz="1200" dirty="0" err="1">
                          <a:effectLst/>
                          <a:latin typeface="+mn-lt"/>
                        </a:rPr>
                        <a:t>find_files</a:t>
                      </a:r>
                      <a:r>
                        <a:rPr lang="en-US" sz="1200" dirty="0">
                          <a:effectLst/>
                          <a:latin typeface="+mn-lt"/>
                        </a:rPr>
                        <a:t> all work; </a:t>
                      </a:r>
                      <a:r>
                        <a:rPr lang="en-US" sz="1200" dirty="0" err="1">
                          <a:effectLst/>
                          <a:latin typeface="+mn-lt"/>
                        </a:rPr>
                        <a:t>get_outlines</a:t>
                      </a:r>
                      <a:r>
                        <a:rPr lang="en-US" sz="1200" dirty="0">
                          <a:effectLst/>
                          <a:latin typeface="+mn-lt"/>
                        </a:rPr>
                        <a:t> (ABP package analysis) is hidden/skipped since it needs ABP metadata</a:t>
                      </a:r>
                    </a:p>
                  </a:txBody>
                  <a:tcPr marL="42660" marR="42660" marT="31995" marB="31995" anchor="ctr"/>
                </a:tc>
                <a:extLst>
                  <a:ext uri="{0D108BD9-81ED-4DB2-BD59-A6C34878D82A}">
                    <a16:rowId xmlns:a16="http://schemas.microsoft.com/office/drawing/2014/main" val="731599611"/>
                  </a:ext>
                </a:extLst>
              </a:tr>
              <a:tr h="234206">
                <a:tc>
                  <a:txBody>
                    <a:bodyPr/>
                    <a:lstStyle/>
                    <a:p>
                      <a:pPr marL="0" marR="0" fontAlgn="ctr">
                        <a:buNone/>
                      </a:pPr>
                      <a:r>
                        <a:rPr lang="en-US" sz="1200" b="1" dirty="0">
                          <a:effectLst/>
                          <a:latin typeface="+mn-lt"/>
                        </a:rPr>
                        <a:t>Build / Run /</a:t>
                      </a:r>
                      <a:br>
                        <a:rPr lang="en-US" sz="1200" b="1" dirty="0">
                          <a:effectLst/>
                          <a:latin typeface="+mn-lt"/>
                        </a:rPr>
                      </a:br>
                      <a:r>
                        <a:rPr lang="en-US" sz="1200" b="1" dirty="0">
                          <a:effectLst/>
                          <a:latin typeface="+mn-lt"/>
                        </a:rPr>
                        <a:t>Start-Stop apps</a:t>
                      </a:r>
                    </a:p>
                  </a:txBody>
                  <a:tcPr marL="42660" marR="42660" marT="31995" marB="31995" anchor="ctr"/>
                </a:tc>
                <a:tc>
                  <a:txBody>
                    <a:bodyPr/>
                    <a:lstStyle/>
                    <a:p>
                      <a:pPr marL="0" marR="0" fontAlgn="ctr">
                        <a:buNone/>
                      </a:pPr>
                      <a:r>
                        <a:rPr lang="en-US" sz="1200" dirty="0">
                          <a:effectLst/>
                          <a:latin typeface="+mn-lt"/>
                        </a:rPr>
                        <a:t>Still available (via dotnet build, </a:t>
                      </a:r>
                      <a:r>
                        <a:rPr lang="en-US" sz="1200" dirty="0" err="1">
                          <a:effectLst/>
                          <a:latin typeface="+mn-lt"/>
                        </a:rPr>
                        <a:t>run_tests</a:t>
                      </a:r>
                      <a:r>
                        <a:rPr lang="en-US" sz="1200" dirty="0">
                          <a:effectLst/>
                          <a:latin typeface="+mn-lt"/>
                        </a:rPr>
                        <a:t>, </a:t>
                      </a:r>
                      <a:r>
                        <a:rPr lang="en-US" sz="1200" dirty="0" err="1">
                          <a:effectLst/>
                          <a:latin typeface="+mn-lt"/>
                        </a:rPr>
                        <a:t>start_applications</a:t>
                      </a:r>
                      <a:r>
                        <a:rPr lang="en-US" sz="1200" dirty="0">
                          <a:effectLst/>
                          <a:latin typeface="+mn-lt"/>
                        </a:rPr>
                        <a:t>, etc.)</a:t>
                      </a:r>
                    </a:p>
                  </a:txBody>
                  <a:tcPr marL="42660" marR="42660" marT="31995" marB="31995" anchor="ctr"/>
                </a:tc>
                <a:extLst>
                  <a:ext uri="{0D108BD9-81ED-4DB2-BD59-A6C34878D82A}">
                    <a16:rowId xmlns:a16="http://schemas.microsoft.com/office/drawing/2014/main" val="3262955380"/>
                  </a:ext>
                </a:extLst>
              </a:tr>
              <a:tr h="380390">
                <a:tc>
                  <a:txBody>
                    <a:bodyPr/>
                    <a:lstStyle/>
                    <a:p>
                      <a:pPr marL="0" marR="0" fontAlgn="ctr">
                        <a:buNone/>
                      </a:pPr>
                      <a:r>
                        <a:rPr lang="en-US" sz="1200" b="1" dirty="0">
                          <a:effectLst/>
                          <a:latin typeface="+mn-lt"/>
                        </a:rPr>
                        <a:t>Shell commands</a:t>
                      </a:r>
                    </a:p>
                  </a:txBody>
                  <a:tcPr marL="42660" marR="42660" marT="31995" marB="31995" anchor="ctr"/>
                </a:tc>
                <a:tc>
                  <a:txBody>
                    <a:bodyPr/>
                    <a:lstStyle/>
                    <a:p>
                      <a:pPr marL="0" marR="0" fontAlgn="ctr">
                        <a:buNone/>
                      </a:pPr>
                      <a:r>
                        <a:rPr lang="en-US" sz="1200">
                          <a:effectLst/>
                          <a:latin typeface="+mn-lt"/>
                        </a:rPr>
                        <a:t>Available with a .NET-flavored tool description (no ABP module jargon)</a:t>
                      </a:r>
                    </a:p>
                  </a:txBody>
                  <a:tcPr marL="42660" marR="42660" marT="31995" marB="31995" anchor="ctr"/>
                </a:tc>
                <a:extLst>
                  <a:ext uri="{0D108BD9-81ED-4DB2-BD59-A6C34878D82A}">
                    <a16:rowId xmlns:a16="http://schemas.microsoft.com/office/drawing/2014/main" val="913147776"/>
                  </a:ext>
                </a:extLst>
              </a:tr>
              <a:tr h="530403">
                <a:tc>
                  <a:txBody>
                    <a:bodyPr/>
                    <a:lstStyle/>
                    <a:p>
                      <a:pPr marL="0" marR="0" fontAlgn="ctr">
                        <a:buNone/>
                      </a:pPr>
                      <a:r>
                        <a:rPr lang="en-US" sz="1200" b="1" dirty="0">
                          <a:effectLst/>
                          <a:latin typeface="+mn-lt"/>
                        </a:rPr>
                        <a:t>Git code review</a:t>
                      </a:r>
                    </a:p>
                  </a:txBody>
                  <a:tcPr marL="42660" marR="42660" marT="31995" marB="31995" anchor="ctr"/>
                </a:tc>
                <a:tc>
                  <a:txBody>
                    <a:bodyPr/>
                    <a:lstStyle/>
                    <a:p>
                      <a:pPr marL="0" marR="0" fontAlgn="ctr">
                        <a:buNone/>
                      </a:pPr>
                      <a:r>
                        <a:rPr lang="en-US" sz="1200" dirty="0">
                          <a:effectLst/>
                          <a:latin typeface="+mn-lt"/>
                        </a:rPr>
                        <a:t>Works, using a non-ABP review system prompt (</a:t>
                      </a:r>
                      <a:r>
                        <a:rPr lang="en-US" sz="1200" dirty="0" err="1">
                          <a:effectLst/>
                          <a:latin typeface="+mn-lt"/>
                        </a:rPr>
                        <a:t>BuildDotNetBaseSystemPrompt</a:t>
                      </a:r>
                      <a:r>
                        <a:rPr lang="en-US" sz="1200" dirty="0">
                          <a:effectLst/>
                          <a:latin typeface="+mn-lt"/>
                        </a:rPr>
                        <a:t>) — no "</a:t>
                      </a:r>
                      <a:r>
                        <a:rPr lang="en-US" sz="1200" dirty="0" err="1">
                          <a:effectLst/>
                          <a:latin typeface="+mn-lt"/>
                        </a:rPr>
                        <a:t>research_abp_docs</a:t>
                      </a:r>
                      <a:r>
                        <a:rPr lang="en-US" sz="1200" dirty="0">
                          <a:effectLst/>
                          <a:latin typeface="+mn-lt"/>
                        </a:rPr>
                        <a:t>" tool, reviews focus on general .NET/C# quality, security, performance</a:t>
                      </a:r>
                    </a:p>
                  </a:txBody>
                  <a:tcPr marL="42660" marR="42660" marT="31995" marB="31995" anchor="ctr"/>
                </a:tc>
                <a:extLst>
                  <a:ext uri="{0D108BD9-81ED-4DB2-BD59-A6C34878D82A}">
                    <a16:rowId xmlns:a16="http://schemas.microsoft.com/office/drawing/2014/main" val="2065731443"/>
                  </a:ext>
                </a:extLst>
              </a:tr>
              <a:tr h="530403">
                <a:tc>
                  <a:txBody>
                    <a:bodyPr/>
                    <a:lstStyle/>
                    <a:p>
                      <a:pPr marL="0" marR="0" fontAlgn="ctr">
                        <a:buNone/>
                      </a:pPr>
                      <a:r>
                        <a:rPr lang="en-US" sz="1200" b="1" dirty="0">
                          <a:effectLst/>
                          <a:latin typeface="+mn-lt"/>
                        </a:rPr>
                        <a:t>Subagents</a:t>
                      </a:r>
                    </a:p>
                  </a:txBody>
                  <a:tcPr marL="42660" marR="42660" marT="31995" marB="31995" anchor="ctr"/>
                </a:tc>
                <a:tc>
                  <a:txBody>
                    <a:bodyPr/>
                    <a:lstStyle/>
                    <a:p>
                      <a:pPr marL="0" marR="0" fontAlgn="ctr">
                        <a:buNone/>
                      </a:pPr>
                      <a:r>
                        <a:rPr lang="en-US" sz="1200">
                          <a:effectLst/>
                          <a:latin typeface="+mn-lt"/>
                        </a:rPr>
                        <a:t>research, websearch, browser subagents work, with .NET-specific tool sets/prompts (DotNetResearchTools); abpdocsearcher is explicitly blocked with a message to use websearch/research instead</a:t>
                      </a:r>
                    </a:p>
                  </a:txBody>
                  <a:tcPr marL="42660" marR="42660" marT="31995" marB="31995" anchor="ctr"/>
                </a:tc>
                <a:extLst>
                  <a:ext uri="{0D108BD9-81ED-4DB2-BD59-A6C34878D82A}">
                    <a16:rowId xmlns:a16="http://schemas.microsoft.com/office/drawing/2014/main" val="1667012652"/>
                  </a:ext>
                </a:extLst>
              </a:tr>
              <a:tr h="680415">
                <a:tc>
                  <a:txBody>
                    <a:bodyPr/>
                    <a:lstStyle/>
                    <a:p>
                      <a:pPr marL="0" marR="0" fontAlgn="ctr">
                        <a:buNone/>
                      </a:pPr>
                      <a:r>
                        <a:rPr lang="en-US" sz="1200" b="1" dirty="0">
                          <a:effectLst/>
                          <a:latin typeface="+mn-lt"/>
                        </a:rPr>
                        <a:t>Slash command: </a:t>
                      </a:r>
                      <a:br>
                        <a:rPr lang="en-US" sz="1200" b="1" dirty="0">
                          <a:effectLst/>
                          <a:latin typeface="+mn-lt"/>
                        </a:rPr>
                      </a:br>
                      <a:r>
                        <a:rPr lang="en-US" sz="1200" b="1" dirty="0">
                          <a:effectLst/>
                          <a:latin typeface="+mn-lt"/>
                        </a:rPr>
                        <a:t>/setup-monitoring (new)</a:t>
                      </a:r>
                    </a:p>
                  </a:txBody>
                  <a:tcPr marL="42660" marR="42660" marT="31995" marB="31995" anchor="ctr"/>
                </a:tc>
                <a:tc>
                  <a:txBody>
                    <a:bodyPr/>
                    <a:lstStyle/>
                    <a:p>
                      <a:pPr marL="0" marR="0" fontAlgn="ctr">
                        <a:buNone/>
                      </a:pPr>
                      <a:r>
                        <a:rPr lang="en-US" sz="1200" dirty="0">
                          <a:effectLst/>
                          <a:latin typeface="+mn-lt"/>
                        </a:rPr>
                        <a:t>Scans the solution for ASP.NET Core web projects and has the agent install/wire the new </a:t>
                      </a:r>
                      <a:r>
                        <a:rPr lang="en-US" sz="1200" dirty="0" err="1">
                          <a:effectLst/>
                          <a:latin typeface="+mn-lt"/>
                        </a:rPr>
                        <a:t>Volo.Abp.Studio.General.Client.AspNetCore</a:t>
                      </a:r>
                      <a:r>
                        <a:rPr lang="en-US" sz="1200" dirty="0">
                          <a:effectLst/>
                          <a:latin typeface="+mn-lt"/>
                        </a:rPr>
                        <a:t> package into </a:t>
                      </a:r>
                      <a:r>
                        <a:rPr lang="en-US" sz="1200" dirty="0" err="1">
                          <a:effectLst/>
                          <a:latin typeface="+mn-lt"/>
                        </a:rPr>
                        <a:t>Program.cs</a:t>
                      </a:r>
                      <a:r>
                        <a:rPr lang="en-US" sz="1200" dirty="0">
                          <a:effectLst/>
                          <a:latin typeface="+mn-lt"/>
                        </a:rPr>
                        <a:t>/</a:t>
                      </a:r>
                      <a:r>
                        <a:rPr lang="en-US" sz="1200" dirty="0" err="1">
                          <a:effectLst/>
                          <a:latin typeface="+mn-lt"/>
                        </a:rPr>
                        <a:t>Startup.cs</a:t>
                      </a:r>
                      <a:r>
                        <a:rPr lang="en-US" sz="1200" dirty="0">
                          <a:effectLst/>
                          <a:latin typeface="+mn-lt"/>
                        </a:rPr>
                        <a:t> (handles minimal hosting, </a:t>
                      </a:r>
                      <a:r>
                        <a:rPr lang="en-US" sz="1200" dirty="0" err="1">
                          <a:effectLst/>
                          <a:latin typeface="+mn-lt"/>
                        </a:rPr>
                        <a:t>Serilog</a:t>
                      </a:r>
                      <a:r>
                        <a:rPr lang="en-US" sz="1200" dirty="0">
                          <a:effectLst/>
                          <a:latin typeface="+mn-lt"/>
                        </a:rPr>
                        <a:t>, Startup-based, and generic host patterns)</a:t>
                      </a:r>
                    </a:p>
                  </a:txBody>
                  <a:tcPr marL="42660" marR="42660" marT="31995" marB="31995" anchor="ctr"/>
                </a:tc>
                <a:extLst>
                  <a:ext uri="{0D108BD9-81ED-4DB2-BD59-A6C34878D82A}">
                    <a16:rowId xmlns:a16="http://schemas.microsoft.com/office/drawing/2014/main" val="2031628151"/>
                  </a:ext>
                </a:extLst>
              </a:tr>
              <a:tr h="530403">
                <a:tc>
                  <a:txBody>
                    <a:bodyPr/>
                    <a:lstStyle/>
                    <a:p>
                      <a:pPr marL="0" marR="0" fontAlgn="ctr">
                        <a:buNone/>
                      </a:pPr>
                      <a:r>
                        <a:rPr lang="en-US" sz="1200" b="1" dirty="0">
                          <a:effectLst/>
                          <a:latin typeface="+mn-lt"/>
                        </a:rPr>
                        <a:t>Runtime monitoring (Logs/Requests/Exceptions)</a:t>
                      </a:r>
                    </a:p>
                  </a:txBody>
                  <a:tcPr marL="42660" marR="42660" marT="31995" marB="31995" anchor="ctr"/>
                </a:tc>
                <a:tc>
                  <a:txBody>
                    <a:bodyPr/>
                    <a:lstStyle/>
                    <a:p>
                      <a:pPr marL="0" marR="0" fontAlgn="ctr">
                        <a:buNone/>
                      </a:pPr>
                      <a:r>
                        <a:rPr lang="en-US" sz="1200" dirty="0">
                          <a:effectLst/>
                          <a:latin typeface="+mn-lt"/>
                        </a:rPr>
                        <a:t>Once the General Client package is installed, Studio's monitoring tabs work for plain .NET apps too, via a new </a:t>
                      </a:r>
                      <a:r>
                        <a:rPr lang="en-US" sz="1200" dirty="0" err="1">
                          <a:effectLst/>
                          <a:latin typeface="+mn-lt"/>
                        </a:rPr>
                        <a:t>gRPC</a:t>
                      </a:r>
                      <a:r>
                        <a:rPr lang="en-US" sz="1200" dirty="0">
                          <a:effectLst/>
                          <a:latin typeface="+mn-lt"/>
                        </a:rPr>
                        <a:t>-based </a:t>
                      </a:r>
                      <a:r>
                        <a:rPr lang="en-US" sz="1200" dirty="0" err="1">
                          <a:effectLst/>
                          <a:latin typeface="+mn-lt"/>
                        </a:rPr>
                        <a:t>IStudioHub</a:t>
                      </a:r>
                      <a:r>
                        <a:rPr lang="en-US" sz="1200" dirty="0">
                          <a:effectLst/>
                          <a:latin typeface="+mn-lt"/>
                        </a:rPr>
                        <a:t> link — independent of ABP Framework/distributed event bus</a:t>
                      </a:r>
                    </a:p>
                  </a:txBody>
                  <a:tcPr marL="42660" marR="42660" marT="31995" marB="31995" anchor="ctr"/>
                </a:tc>
                <a:extLst>
                  <a:ext uri="{0D108BD9-81ED-4DB2-BD59-A6C34878D82A}">
                    <a16:rowId xmlns:a16="http://schemas.microsoft.com/office/drawing/2014/main" val="2164296823"/>
                  </a:ext>
                </a:extLst>
              </a:tr>
              <a:tr h="234206">
                <a:tc>
                  <a:txBody>
                    <a:bodyPr/>
                    <a:lstStyle/>
                    <a:p>
                      <a:pPr marL="0" marR="0" fontAlgn="ctr">
                        <a:buNone/>
                      </a:pPr>
                      <a:r>
                        <a:rPr lang="en-US" sz="1200" b="1" dirty="0">
                          <a:effectLst/>
                          <a:latin typeface="+mn-lt"/>
                        </a:rPr>
                        <a:t>Lesson saving</a:t>
                      </a:r>
                    </a:p>
                  </a:txBody>
                  <a:tcPr marL="42660" marR="42660" marT="31995" marB="31995" anchor="ctr"/>
                </a:tc>
                <a:tc>
                  <a:txBody>
                    <a:bodyPr/>
                    <a:lstStyle/>
                    <a:p>
                      <a:pPr marL="0" marR="0" fontAlgn="ctr">
                        <a:buNone/>
                      </a:pPr>
                      <a:r>
                        <a:rPr lang="en-US" sz="1200" dirty="0">
                          <a:effectLst/>
                          <a:latin typeface="+mn-lt"/>
                        </a:rPr>
                        <a:t>Available, with .NET-flavored wording (no ABP doc references)</a:t>
                      </a:r>
                    </a:p>
                  </a:txBody>
                  <a:tcPr marL="42660" marR="42660" marT="31995" marB="31995" anchor="ctr"/>
                </a:tc>
                <a:extLst>
                  <a:ext uri="{0D108BD9-81ED-4DB2-BD59-A6C34878D82A}">
                    <a16:rowId xmlns:a16="http://schemas.microsoft.com/office/drawing/2014/main" val="2044498079"/>
                  </a:ext>
                </a:extLst>
              </a:tr>
            </a:tbl>
          </a:graphicData>
        </a:graphic>
      </p:graphicFrame>
    </p:spTree>
    <p:extLst>
      <p:ext uri="{BB962C8B-B14F-4D97-AF65-F5344CB8AC3E}">
        <p14:creationId xmlns:p14="http://schemas.microsoft.com/office/powerpoint/2010/main" val="3597371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8457176E-F797-D7F5-F96A-6B93F6995C79}"/>
            </a:ext>
          </a:extLst>
        </p:cNvPr>
        <p:cNvGrpSpPr/>
        <p:nvPr/>
      </p:nvGrpSpPr>
      <p:grpSpPr>
        <a:xfrm>
          <a:off x="0" y="0"/>
          <a:ext cx="0" cy="0"/>
          <a:chOff x="0" y="0"/>
          <a:chExt cx="0" cy="0"/>
        </a:xfrm>
      </p:grpSpPr>
      <p:pic>
        <p:nvPicPr>
          <p:cNvPr id="2" name="Picture 1" descr="cover.png">
            <a:extLst>
              <a:ext uri="{FF2B5EF4-FFF2-40B4-BE49-F238E27FC236}">
                <a16:creationId xmlns:a16="http://schemas.microsoft.com/office/drawing/2014/main" id="{C235176C-E33B-8FDC-A975-05E264D3EEAA}"/>
              </a:ext>
            </a:extLst>
          </p:cNvPr>
          <p:cNvPicPr>
            <a:picLocks noChangeAspect="1"/>
          </p:cNvPicPr>
          <p:nvPr/>
        </p:nvPicPr>
        <p:blipFill>
          <a:blip r:embed="rId4"/>
          <a:stretch>
            <a:fillRect/>
          </a:stretch>
        </p:blipFill>
        <p:spPr>
          <a:xfrm>
            <a:off x="0" y="0"/>
            <a:ext cx="12192000" cy="6858000"/>
          </a:xfrm>
          <a:prstGeom prst="rect">
            <a:avLst/>
          </a:prstGeom>
        </p:spPr>
      </p:pic>
      <p:sp>
        <p:nvSpPr>
          <p:cNvPr id="7" name="Speech Bubble: Oval">
            <a:extLst>
              <a:ext uri="{FF2B5EF4-FFF2-40B4-BE49-F238E27FC236}">
                <a16:creationId xmlns:a16="http://schemas.microsoft.com/office/drawing/2014/main" id="{EBC041B9-6915-7A8D-E63C-F1BC0A3EE805}"/>
              </a:ext>
            </a:extLst>
          </p:cNvPr>
          <p:cNvSpPr/>
          <p:nvPr/>
        </p:nvSpPr>
        <p:spPr>
          <a:xfrm>
            <a:off x="8431225" y="1418653"/>
            <a:ext cx="1365917" cy="1075165"/>
          </a:xfrm>
          <a:prstGeom prst="wedgeEllipseCallout">
            <a:avLst>
              <a:gd name="adj1" fmla="val 102151"/>
              <a:gd name="adj2" fmla="val -27507"/>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read this article</a:t>
            </a:r>
          </a:p>
        </p:txBody>
      </p:sp>
      <p:pic>
        <p:nvPicPr>
          <p:cNvPr id="5" name="Picture 4">
            <a:extLst>
              <a:ext uri="{FF2B5EF4-FFF2-40B4-BE49-F238E27FC236}">
                <a16:creationId xmlns:a16="http://schemas.microsoft.com/office/drawing/2014/main" id="{191B368F-7554-C9E3-FEDA-0E13E4794744}"/>
              </a:ext>
            </a:extLst>
          </p:cNvPr>
          <p:cNvPicPr>
            <a:picLocks noChangeAspect="1"/>
          </p:cNvPicPr>
          <p:nvPr/>
        </p:nvPicPr>
        <p:blipFill>
          <a:blip r:embed="rId5"/>
          <a:stretch>
            <a:fillRect/>
          </a:stretch>
        </p:blipFill>
        <p:spPr>
          <a:xfrm>
            <a:off x="10084253" y="128216"/>
            <a:ext cx="1969201" cy="1951927"/>
          </a:xfrm>
          <a:prstGeom prst="rect">
            <a:avLst/>
          </a:prstGeom>
        </p:spPr>
      </p:pic>
      <p:sp>
        <p:nvSpPr>
          <p:cNvPr id="11" name="Rectangle: Rounded Corners 10">
            <a:extLst>
              <a:ext uri="{FF2B5EF4-FFF2-40B4-BE49-F238E27FC236}">
                <a16:creationId xmlns:a16="http://schemas.microsoft.com/office/drawing/2014/main" id="{6967041B-6A7E-B7DC-7131-FE17DEE1B0A4}"/>
              </a:ext>
            </a:extLst>
          </p:cNvPr>
          <p:cNvSpPr/>
          <p:nvPr/>
        </p:nvSpPr>
        <p:spPr>
          <a:xfrm>
            <a:off x="3705103" y="4052455"/>
            <a:ext cx="3289465" cy="92333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F97F98-926B-5B0B-607D-38003290E643}"/>
              </a:ext>
            </a:extLst>
          </p:cNvPr>
          <p:cNvSpPr/>
          <p:nvPr/>
        </p:nvSpPr>
        <p:spPr>
          <a:xfrm>
            <a:off x="3170459" y="4052455"/>
            <a:ext cx="4476997" cy="923330"/>
          </a:xfrm>
          <a:prstGeom prst="rect">
            <a:avLst/>
          </a:prstGeom>
          <a:noFill/>
        </p:spPr>
        <p:txBody>
          <a:bodyPr wrap="squar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San Jose</a:t>
            </a:r>
          </a:p>
        </p:txBody>
      </p:sp>
    </p:spTree>
    <p:extLst>
      <p:ext uri="{BB962C8B-B14F-4D97-AF65-F5344CB8AC3E}">
        <p14:creationId xmlns:p14="http://schemas.microsoft.com/office/powerpoint/2010/main" val="1785286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CCF99DAD-A271-A5CA-2176-AD2C5AFE27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9782F0-6D83-3F13-A48D-00568A43DA27}"/>
              </a:ext>
            </a:extLst>
          </p:cNvPr>
          <p:cNvSpPr txBox="1"/>
          <p:nvPr/>
        </p:nvSpPr>
        <p:spPr>
          <a:xfrm>
            <a:off x="320187" y="3020718"/>
            <a:ext cx="11551625" cy="707886"/>
          </a:xfrm>
          <a:prstGeom prst="rect">
            <a:avLst/>
          </a:prstGeom>
          <a:noFill/>
        </p:spPr>
        <p:txBody>
          <a:bodyPr wrap="square">
            <a:spAutoFit/>
          </a:bodyPr>
          <a:lstStyle/>
          <a:p>
            <a:pPr algn="ctr"/>
            <a:r>
              <a:rPr lang="en-US" sz="4000" b="1" i="0" dirty="0">
                <a:solidFill>
                  <a:schemeClr val="tx1"/>
                </a:solidFill>
                <a:effectLst/>
                <a:latin typeface="Lexend" panose="020B0604020202020204" charset="-94"/>
              </a:rPr>
              <a:t>THAT’S ALL FROM ME </a:t>
            </a:r>
            <a:r>
              <a:rPr lang="en-US" sz="4000" b="1" i="0" dirty="0">
                <a:solidFill>
                  <a:schemeClr val="tx1"/>
                </a:solidFill>
                <a:effectLst/>
                <a:latin typeface="Lexend" panose="020B0604020202020204" charset="-94"/>
                <a:sym typeface="Wingdings" panose="05000000000000000000" pitchFamily="2" charset="2"/>
              </a:rPr>
              <a:t></a:t>
            </a:r>
            <a:endParaRPr lang="en-US" sz="4000" b="1" i="0" u="sng" noProof="0" dirty="0">
              <a:solidFill>
                <a:schemeClr val="tx1"/>
              </a:solidFill>
              <a:effectLst/>
              <a:latin typeface="Lexend" panose="020B0604020202020204" charset="-94"/>
            </a:endParaRPr>
          </a:p>
        </p:txBody>
      </p:sp>
    </p:spTree>
    <p:extLst>
      <p:ext uri="{BB962C8B-B14F-4D97-AF65-F5344CB8AC3E}">
        <p14:creationId xmlns:p14="http://schemas.microsoft.com/office/powerpoint/2010/main" val="1379149542"/>
      </p:ext>
    </p:extLst>
  </p:cSld>
  <p:clrMapOvr>
    <a:masterClrMapping/>
  </p:clrMapOvr>
</p:sld>
</file>

<file path=ppt/theme/theme1.xml><?xml version="1.0" encoding="utf-8"?>
<a:theme xmlns:a="http://schemas.openxmlformats.org/drawingml/2006/main"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DE1707B-4DAE-4EC0-B618-30300C0716A8}">
  <we:reference id="wa200010001" version="1.0.0.1" store="en-US" storeType="OMEX"/>
  <we:alternateReferences>
    <we:reference id="WA200010001" version="1.0.0.1" store="" storeType="OMEX"/>
  </we:alternateReferences>
  <we:properties>
    <we:property name="claude.fileId" value="&quot;ab05c745-c149-4de7-9a14-6c2e359b84d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1554</TotalTime>
  <Words>2365</Words>
  <Application>Microsoft Office PowerPoint</Application>
  <PresentationFormat>Widescreen</PresentationFormat>
  <Paragraphs>163</Paragraphs>
  <Slides>39</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Play</vt:lpstr>
      <vt:lpstr>Arial</vt:lpstr>
      <vt:lpstr>Lexend</vt:lpstr>
      <vt:lpstr>Poppins</vt:lpstr>
      <vt:lpstr>Office Teması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Volosoft Bilisim</dc:creator>
  <cp:lastModifiedBy>Alper Ebiçoğlu</cp:lastModifiedBy>
  <cp:revision>294</cp:revision>
  <dcterms:created xsi:type="dcterms:W3CDTF">2024-10-07T11:11:00Z</dcterms:created>
  <dcterms:modified xsi:type="dcterms:W3CDTF">2026-10-15T06:34:33Z</dcterms:modified>
</cp:coreProperties>
</file>